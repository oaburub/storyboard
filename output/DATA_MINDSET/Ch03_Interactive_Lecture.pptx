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3"/>
    <p:sldId id="257" r:id="rId12"/>
    <p:sldId id="258" r:id="rId11"/>
    <p:sldId id="259" r:id="rId10"/>
    <p:sldId id="260" r:id="rId9"/>
    <p:sldId id="261" r:id="rId8"/>
    <p:sldId id="262" r:id="rId7"/>
    <p:sldId id="263" r:id="rId6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</p:sldIdLst>
  <p:sldSz cy="6858000" cx="12192000"/>
  <p:notesSz cx="6858000" cy="9144000"/>
  <p:embeddedFontLst>
    <p:embeddedFont>
      <p:font typeface="Play"/>
      <p:regular r:id="rId14"/>
      <p:bold r:id="rId15"/>
    </p:embeddedFont>
    <p:embeddedFont>
      <p:font typeface="Tajawal ExtraBold"/>
      <p:bold r:id="rId16"/>
    </p:embeddedFont>
    <p:embeddedFont>
      <p:font typeface="Tajawal Medium"/>
      <p:regular r:id="rId17"/>
      <p:bold r:id="rId18"/>
    </p:embeddedFont>
    <p:embeddedFont>
      <p:font typeface="Tajawal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936">
          <p15:clr>
            <a:srgbClr val="A4A3A4"/>
          </p15:clr>
        </p15:guide>
        <p15:guide id="4" pos="4896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1224">
          <p15:clr>
            <a:srgbClr val="A4A3A4"/>
          </p15:clr>
        </p15:guide>
        <p15:guide id="7" orient="horz" pos="326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dE2pY+TZRQAyXDRzz/zrrGoHQ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3840"/>
        <p:guide pos="936" orient="horz"/>
        <p:guide pos="4896"/>
        <p:guide pos="6912"/>
        <p:guide pos="1224" orient="horz"/>
        <p:guide pos="326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font" Target="fonts/Play-regular.fntdata"/><Relationship Id="rId15" Type="http://schemas.openxmlformats.org/officeDocument/2006/relationships/font" Target="fonts/Play-bold.fntdata"/><Relationship Id="rId16" Type="http://schemas.openxmlformats.org/officeDocument/2006/relationships/font" Target="fonts/TajawalExtraBold-bold.fntdata"/><Relationship Id="rId17" Type="http://schemas.openxmlformats.org/officeDocument/2006/relationships/font" Target="fonts/TajawalMedium-regular.fntdata"/><Relationship Id="rId18" Type="http://schemas.openxmlformats.org/officeDocument/2006/relationships/font" Target="fonts/TajawalMedium-bold.fntdata"/><Relationship Id="rId19" Type="http://schemas.openxmlformats.org/officeDocument/2006/relationships/font" Target="fonts/Tajawal-regular.fntdata"/><Relationship Id="rId20" Type="http://schemas.openxmlformats.org/officeDocument/2006/relationships/font" Target="fonts/Tajawal-bold.fntdata"/><Relationship Id="rId21" Type="http://customschemas.google.com/relationships/presentationmetadata" Target="metadata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ar-J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360 IMPORT INSTRUCTIONS ===</a:t>
            </a:r>
          </a:p>
          <a:p/>
          <a:p>
            <a:r>
              <a:t>Project: DATA_MINDSET</a:t>
            </a:r>
          </a:p>
          <a:p>
            <a:r>
              <a:t>Unit: 3</a:t>
            </a:r>
          </a:p>
          <a:p>
            <a:r>
              <a:t>Lecture: عقلية البيانات</a:t>
            </a:r>
          </a:p>
          <a:p>
            <a:r>
              <a:t>Generated: 2026-02-12</a:t>
            </a:r>
          </a:p>
          <a:p>
            <a:r>
              <a:t>Designer: </a:t>
            </a:r>
          </a:p>
          <a:p/>
          <a:p>
            <a:r>
              <a:t>--- REQUIRED FONTS ---</a:t>
            </a:r>
          </a:p>
          <a:p>
            <a:r>
              <a:t>Install BEFORE importing:</a:t>
            </a:r>
          </a:p>
          <a:p>
            <a:r>
              <a:t>  1. Tajawal ExtraBold</a:t>
            </a:r>
          </a:p>
          <a:p>
            <a:r>
              <a:t>  2. Tajawal Medium</a:t>
            </a:r>
          </a:p>
          <a:p>
            <a:r>
              <a:t>  3. Tajawal (Regular)</a:t>
            </a:r>
          </a:p>
          <a:p>
            <a:r>
              <a:t>Download: https://fonts.google.com/specimen/Tajawal</a:t>
            </a:r>
          </a:p>
          <a:p/>
          <a:p>
            <a:r>
              <a:t>--- IMPORT STEPS ---</a:t>
            </a:r>
          </a:p>
          <a:p>
            <a:r>
              <a:t>1. File &gt; Import &gt; PowerPoint</a:t>
            </a:r>
          </a:p>
          <a:p>
            <a:r>
              <a:t>2. Select THIS .pptx file</a:t>
            </a:r>
          </a:p>
          <a:p>
            <a:r>
              <a:t>3. Import ALL slides</a:t>
            </a:r>
          </a:p>
          <a:p>
            <a:r>
              <a:t>4. Story Size: 1280 x 720 pixels (must match)</a:t>
            </a:r>
          </a:p>
          <a:p/>
          <a:p>
            <a:r>
              <a:t>--- POST-IMPORT QA ---</a:t>
            </a:r>
          </a:p>
          <a:p>
            <a:r>
              <a:t>[ ] Verify TOC shows Arabic slide titles (not 'Untitled')</a:t>
            </a:r>
          </a:p>
          <a:p>
            <a:r>
              <a:t>[ ] Verify fonts render correctly (Tajawal family)</a:t>
            </a:r>
          </a:p>
          <a:p>
            <a:r>
              <a:t>[ ] Check RTL text direction on all slides</a:t>
            </a:r>
          </a:p>
          <a:p>
            <a:r>
              <a:t>[ ] Test all interactive elements (buttons, quiz, drag-drop)</a:t>
            </a:r>
          </a:p>
          <a:p>
            <a:r>
              <a:t>[ ] Verify speaker notes contain Storyline instructions per slide</a:t>
            </a:r>
          </a:p>
          <a:p/>
          <a:p>
            <a:r>
              <a:t>--- SHAPE NAMING CONVENTION ---</a:t>
            </a:r>
          </a:p>
          <a:p>
            <a:r>
              <a:t>txt_*  = Text elements</a:t>
            </a:r>
          </a:p>
          <a:p>
            <a:r>
              <a:t>btn_*  = Clickable buttons (add triggers)</a:t>
            </a:r>
          </a:p>
          <a:p>
            <a:r>
              <a:t>icon_* = Decorative icons</a:t>
            </a:r>
          </a:p>
          <a:p>
            <a:r>
              <a:t>bg_*   = Background shapes</a:t>
            </a:r>
          </a:p>
          <a:p>
            <a:r>
              <a:t>opt_*  = Quiz option shapes (add triggers)</a:t>
            </a:r>
          </a:p>
          <a:p>
            <a:r>
              <a:t>num_*  = Numbered elements</a:t>
            </a:r>
          </a:p>
          <a:p>
            <a:r>
              <a:t>title  = Hidden TOC title (do not move)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INSTRUCTIONS ===</a:t>
            </a:r>
          </a:p>
          <a:p>
            <a:r>
              <a:t>Slide Type: Quiz - Multiple Choice</a:t>
            </a:r>
          </a:p>
          <a:p>
            <a:r>
              <a:t>Correct Answer: ج (opt_c)</a:t>
            </a:r>
          </a:p>
          <a:p>
            <a:r>
              <a:t>Feedback (Correct): احسنت! الاجابة صحيحة</a:t>
            </a:r>
          </a:p>
          <a:p>
            <a:r>
              <a:t>Feedback (Incorrect): الاجابة غير صحيحة، حاول مرة اخرى</a:t>
            </a:r>
          </a:p>
          <a:p>
            <a:r>
              <a:t>Points: 10</a:t>
            </a:r>
          </a:p>
          <a:p>
            <a:r>
              <a:t>Attempts: 2</a:t>
            </a:r>
          </a:p>
          <a:p/>
          <a:p>
            <a:r>
              <a:t>=== FREEFORM SETUP ===</a:t>
            </a:r>
          </a:p>
          <a:p>
            <a:r>
              <a:t>1. Insert &gt; Convert to Freeform &gt; Pick One</a:t>
            </a:r>
          </a:p>
          <a:p>
            <a:r>
              <a:t>2. Assign opt_a, opt_b, opt_c, opt_d as choices</a:t>
            </a:r>
          </a:p>
          <a:p>
            <a:r>
              <a:t>3. Set opt_c as correct answer</a:t>
            </a:r>
          </a:p>
          <a:p>
            <a:r>
              <a:t>4. btn_check triggers submit</a:t>
            </a:r>
          </a:p>
          <a:p/>
          <a:p>
            <a:r>
              <a:t>=== NARRATOR SCRIPT ===</a:t>
            </a:r>
          </a:p>
          <a:p>
            <a:r>
              <a:t>أي من التالي ليس من خصائص البيانات الضخمة (3V)؟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INSTRUCTIONS ===</a:t>
            </a:r>
          </a:p>
          <a:p>
            <a:r>
              <a:t>Slide Type: Quiz - Multiple Choice</a:t>
            </a:r>
          </a:p>
          <a:p>
            <a:r>
              <a:t>Correct Answer: ب (opt_b)</a:t>
            </a:r>
          </a:p>
          <a:p>
            <a:r>
              <a:t>Feedback (Correct): احسنت! الاجابة صحيحة</a:t>
            </a:r>
          </a:p>
          <a:p>
            <a:r>
              <a:t>Feedback (Incorrect): الاجابة غير صحيحة، حاول مرة اخرى</a:t>
            </a:r>
          </a:p>
          <a:p>
            <a:r>
              <a:t>Points: 10</a:t>
            </a:r>
          </a:p>
          <a:p>
            <a:r>
              <a:t>Attempts: 2</a:t>
            </a:r>
          </a:p>
          <a:p/>
          <a:p>
            <a:r>
              <a:t>=== FREEFORM SETUP ===</a:t>
            </a:r>
          </a:p>
          <a:p>
            <a:r>
              <a:t>1. Insert &gt; Convert to Freeform &gt; Pick One</a:t>
            </a:r>
          </a:p>
          <a:p>
            <a:r>
              <a:t>2. Assign opt_a, opt_b, opt_c, opt_d as choices</a:t>
            </a:r>
          </a:p>
          <a:p>
            <a:r>
              <a:t>3. Set opt_b as correct answer</a:t>
            </a:r>
          </a:p>
          <a:p>
            <a:r>
              <a:t>4. btn_check triggers submit</a:t>
            </a:r>
          </a:p>
          <a:p/>
          <a:p>
            <a:r>
              <a:t>=== NARRATOR SCRIPT ===</a:t>
            </a:r>
          </a:p>
          <a:p>
            <a:r>
              <a:t>درجة طالب مسجّلة 95 بدلاً من 59، هذا مشكلة في: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INSTRUCTIONS ===</a:t>
            </a:r>
          </a:p>
          <a:p>
            <a:r>
              <a:t>Slide Type: Quiz - Multiple Choice</a:t>
            </a:r>
          </a:p>
          <a:p>
            <a:r>
              <a:t>Correct Answer: ب (opt_b)</a:t>
            </a:r>
          </a:p>
          <a:p>
            <a:r>
              <a:t>Feedback (Correct): احسنت! الاجابة صحيحة</a:t>
            </a:r>
          </a:p>
          <a:p>
            <a:r>
              <a:t>Feedback (Incorrect): الاجابة غير صحيحة، حاول مرة اخرى</a:t>
            </a:r>
          </a:p>
          <a:p>
            <a:r>
              <a:t>Points: 10</a:t>
            </a:r>
          </a:p>
          <a:p>
            <a:r>
              <a:t>Attempts: 2</a:t>
            </a:r>
          </a:p>
          <a:p/>
          <a:p>
            <a:r>
              <a:t>=== FREEFORM SETUP ===</a:t>
            </a:r>
          </a:p>
          <a:p>
            <a:r>
              <a:t>1. Insert &gt; Convert to Freeform &gt; Pick One</a:t>
            </a:r>
          </a:p>
          <a:p>
            <a:r>
              <a:t>2. Assign opt_a, opt_b, opt_c, opt_d as choices</a:t>
            </a:r>
          </a:p>
          <a:p>
            <a:r>
              <a:t>3. Set opt_b as correct answer</a:t>
            </a:r>
          </a:p>
          <a:p>
            <a:r>
              <a:t>4. btn_check triggers submit</a:t>
            </a:r>
          </a:p>
          <a:p/>
          <a:p>
            <a:r>
              <a:t>=== NARRATOR SCRIPT ===</a:t>
            </a:r>
          </a:p>
          <a:p>
            <a:r>
              <a:t>أي من التالي حل لحماية خصوصية البيانات؟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INSTRUCTIONS ===</a:t>
            </a:r>
          </a:p>
          <a:p>
            <a:r>
              <a:t>Slide Type: Click to Reveal</a:t>
            </a:r>
          </a:p>
          <a:p>
            <a:r>
              <a:t>Items: btn_reveal_1, btn_reveal_2, btn_reveal_3, btn_reveal_4</a:t>
            </a:r>
          </a:p>
          <a:p/>
          <a:p>
            <a:r>
              <a:t>=== LAYER INSTRUCTIONS ===</a:t>
            </a:r>
          </a:p>
          <a:p>
            <a:r>
              <a:t>Layer 1: Show content when btn_reveal_1 clicked — النوم</a:t>
            </a:r>
          </a:p>
          <a:p>
            <a:r>
              <a:t>Layer 2: Show content when btn_reveal_2 clicked — الإنترنت</a:t>
            </a:r>
          </a:p>
          <a:p>
            <a:r>
              <a:t>Layer 3: Show content when btn_reveal_3 clicked — الحركة</a:t>
            </a:r>
          </a:p>
          <a:p>
            <a:r>
              <a:t>Layer 4: Show content when btn_reveal_4 clicked — التواصل</a:t>
            </a:r>
          </a:p>
          <a:p/>
          <a:p>
            <a:r>
              <a:t>=== CONTENT ===</a:t>
            </a:r>
          </a:p>
          <a:p>
            <a:r>
              <a:t>btn_reveal_1 (النوم): ساعات النوم من تطبيق الصحة</a:t>
            </a:r>
          </a:p>
          <a:p>
            <a:r>
              <a:t>btn_reveal_2 (الإنترنت): سجل التصفح والبحث</a:t>
            </a:r>
          </a:p>
          <a:p>
            <a:r>
              <a:t>btn_reveal_3 (الحركة): الخطوات من الساعة الذكية</a:t>
            </a:r>
          </a:p>
          <a:p>
            <a:r>
              <a:t>btn_reveal_4 (التواصل): الرسائل والسوشال ميديا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0"/>
          <p:cNvGrpSpPr/>
          <p:nvPr/>
        </p:nvGrpSpPr>
        <p:grpSpPr>
          <a:xfrm flipH="1">
            <a:off x="0" y="0"/>
            <a:ext cx="12192000" cy="6857999"/>
            <a:chOff x="0" y="0"/>
            <a:chExt cx="12192000" cy="6857999"/>
          </a:xfrm>
        </p:grpSpPr>
        <p:pic>
          <p:nvPicPr>
            <p:cNvPr id="17" name="Google Shape;17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500158" y="962015"/>
              <a:ext cx="1612381" cy="124871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19;p10"/>
            <p:cNvCxnSpPr/>
            <p:nvPr/>
          </p:nvCxnSpPr>
          <p:spPr>
            <a:xfrm rot="10800000">
              <a:off x="2500158" y="4048125"/>
              <a:ext cx="1538442" cy="0"/>
            </a:xfrm>
            <a:prstGeom prst="straightConnector1">
              <a:avLst/>
            </a:prstGeom>
            <a:noFill/>
            <a:ln cap="rnd" cmpd="sng" w="19050">
              <a:solidFill>
                <a:srgbClr val="2D588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1"/>
          <p:cNvPicPr preferRelativeResize="0"/>
          <p:nvPr/>
        </p:nvPicPr>
        <p:blipFill rotWithShape="1">
          <a:blip r:embed="rId3">
            <a:alphaModFix/>
          </a:blip>
          <a:srcRect b="0" l="15304" r="15305" t="0"/>
          <a:stretch/>
        </p:blipFill>
        <p:spPr>
          <a:xfrm>
            <a:off x="1803400" y="0"/>
            <a:ext cx="8585200" cy="100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0" y="6023222"/>
            <a:ext cx="12192000" cy="85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" y="85756"/>
            <a:ext cx="709767" cy="549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.xml"/><Relationship Id="rId5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عقلية البيانات</a:t>
            </a:r>
          </a:p>
        </p:txBody>
      </p:sp>
      <p:sp>
        <p:nvSpPr>
          <p:cNvPr id="3" name="txt_institution"/>
          <p:cNvSpPr txBox="1"/>
          <p:nvPr/>
        </p:nvSpPr>
        <p:spPr>
          <a:xfrm>
            <a:off x="6096000" y="3198167"/>
            <a:ext cx="5181600" cy="461665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جامعة نجران</a:t>
            </a:r>
          </a:p>
        </p:txBody>
      </p:sp>
      <p:sp>
        <p:nvSpPr>
          <p:cNvPr id="4" name="txt_title"/>
          <p:cNvSpPr txBox="1"/>
          <p:nvPr/>
        </p:nvSpPr>
        <p:spPr>
          <a:xfrm>
            <a:off x="6096000" y="4257368"/>
            <a:ext cx="5181600" cy="1077218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عقلية البيانات</a:t>
            </a:r>
          </a:p>
          <a:p>
            <a:pPr algn="ctr" rtl="1"/>
            <a:r>
              <a:rPr sz="2000" b="0" lang="ar-JO">
                <a:solidFill>
                  <a:srgbClr val="262626"/>
                </a:solidFill>
                <a:cs typeface="Tajawal ExtraBold"/>
                <a:latin typeface="Tajawal ExtraBold"/>
                <a:ea typeface="Tajawal ExtraBold"/>
              </a:rPr>
              <a:t>التعلم والتواصل باستخدام البيانات — الفصل الثالث</a:t>
            </a:r>
          </a:p>
        </p:txBody>
      </p:sp>
      <p:sp>
        <p:nvSpPr>
          <p:cNvPr id="5" name="btn_start">
            <a:hlinkClick action="ppaction://hlinksldjump" r:id="rId5"/>
          </p:cNvPr>
          <p:cNvSpPr/>
          <p:nvPr/>
        </p:nvSpPr>
        <p:spPr>
          <a:xfrm>
            <a:off x="7398084" y="5599525"/>
            <a:ext cx="2773680" cy="665193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6800" bIns="46800"/>
          <a:lstStyle/>
          <a:p>
            <a:pPr algn="ctr" rtl="1"/>
            <a:r>
              <a:rPr sz="20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ابدأ المحاضرة</a:t>
            </a:r>
          </a:p>
        </p:txBody>
      </p:sp>
      <p:pic>
        <p:nvPicPr>
          <p:cNvPr id="6" name="icon_play" descr="play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78" y="5599525"/>
            <a:ext cx="619211" cy="657317"/>
          </a:xfrm>
          <a:prstGeom prst="rect">
            <a:avLst/>
          </a:prstGeom>
        </p:spPr>
      </p:pic>
      <p:pic>
        <p:nvPicPr>
          <p:cNvPr id="7" name="icon_hand" descr="hand_cur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916" y="5888428"/>
            <a:ext cx="724001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الأهداف التعليمية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عقلية البيانات التعلم والتواصل باستخدام البيانات — الفصل الثالث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الأهداف التعليمية</a:t>
            </a:r>
          </a:p>
        </p:txBody>
      </p:sp>
      <p:sp>
        <p:nvSpPr>
          <p:cNvPr id="6" name="txt_obj_intro"/>
          <p:cNvSpPr txBox="1"/>
          <p:nvPr/>
        </p:nvSpPr>
        <p:spPr>
          <a:xfrm>
            <a:off x="6280654" y="1830945"/>
            <a:ext cx="536194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يتوقع منك في نهاية هذه المحاضرة أن تكون قادرًا على:</a:t>
            </a:r>
          </a:p>
        </p:txBody>
      </p:sp>
      <p:pic>
        <p:nvPicPr>
          <p:cNvPr id="7" name="bg_obj_1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2315612"/>
            <a:ext cx="11029824" cy="600002"/>
          </a:xfrm>
          <a:prstGeom prst="rect">
            <a:avLst/>
          </a:prstGeom>
        </p:spPr>
      </p:pic>
      <p:pic>
        <p:nvPicPr>
          <p:cNvPr id="8" name="icon_obj_1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2315612"/>
            <a:ext cx="703228" cy="600002"/>
          </a:xfrm>
          <a:prstGeom prst="rect">
            <a:avLst/>
          </a:prstGeom>
        </p:spPr>
      </p:pic>
      <p:sp>
        <p:nvSpPr>
          <p:cNvPr id="9" name="txt_obj_1"/>
          <p:cNvSpPr txBox="1"/>
          <p:nvPr/>
        </p:nvSpPr>
        <p:spPr>
          <a:xfrm>
            <a:off x="1462617" y="2446336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التعرّف على مفهوم عقلية البيانات وأهميتها</a:t>
            </a:r>
          </a:p>
        </p:txBody>
      </p:sp>
      <p:pic>
        <p:nvPicPr>
          <p:cNvPr id="10" name="bg_obj_2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2992489"/>
            <a:ext cx="11029824" cy="600002"/>
          </a:xfrm>
          <a:prstGeom prst="rect">
            <a:avLst/>
          </a:prstGeom>
        </p:spPr>
      </p:pic>
      <p:pic>
        <p:nvPicPr>
          <p:cNvPr id="11" name="icon_obj_2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2992489"/>
            <a:ext cx="703228" cy="600002"/>
          </a:xfrm>
          <a:prstGeom prst="rect">
            <a:avLst/>
          </a:prstGeom>
        </p:spPr>
      </p:pic>
      <p:sp>
        <p:nvSpPr>
          <p:cNvPr id="12" name="txt_obj_2"/>
          <p:cNvSpPr txBox="1"/>
          <p:nvPr/>
        </p:nvSpPr>
        <p:spPr>
          <a:xfrm>
            <a:off x="1462617" y="3123213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فهم خصائص البيانات الضخمة: الحجم والسرعة والتنوع</a:t>
            </a:r>
          </a:p>
        </p:txBody>
      </p:sp>
      <p:pic>
        <p:nvPicPr>
          <p:cNvPr id="13" name="bg_obj_3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3669366"/>
            <a:ext cx="11029824" cy="600002"/>
          </a:xfrm>
          <a:prstGeom prst="rect">
            <a:avLst/>
          </a:prstGeom>
        </p:spPr>
      </p:pic>
      <p:pic>
        <p:nvPicPr>
          <p:cNvPr id="14" name="icon_obj_3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3669366"/>
            <a:ext cx="703228" cy="600002"/>
          </a:xfrm>
          <a:prstGeom prst="rect">
            <a:avLst/>
          </a:prstGeom>
        </p:spPr>
      </p:pic>
      <p:sp>
        <p:nvSpPr>
          <p:cNvPr id="15" name="txt_obj_3"/>
          <p:cNvSpPr txBox="1"/>
          <p:nvPr/>
        </p:nvSpPr>
        <p:spPr>
          <a:xfrm>
            <a:off x="1462617" y="3800090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تقييم جودة البيانات من حيث الدقة والاكتمال والاتساق والتوقيت</a:t>
            </a:r>
          </a:p>
        </p:txBody>
      </p:sp>
      <p:pic>
        <p:nvPicPr>
          <p:cNvPr id="16" name="bg_obj_4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4346243"/>
            <a:ext cx="11029824" cy="600002"/>
          </a:xfrm>
          <a:prstGeom prst="rect">
            <a:avLst/>
          </a:prstGeom>
        </p:spPr>
      </p:pic>
      <p:pic>
        <p:nvPicPr>
          <p:cNvPr id="17" name="icon_obj_4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4346243"/>
            <a:ext cx="703228" cy="600002"/>
          </a:xfrm>
          <a:prstGeom prst="rect">
            <a:avLst/>
          </a:prstGeom>
        </p:spPr>
      </p:pic>
      <p:sp>
        <p:nvSpPr>
          <p:cNvPr id="18" name="txt_obj_4"/>
          <p:cNvSpPr txBox="1"/>
          <p:nvPr/>
        </p:nvSpPr>
        <p:spPr>
          <a:xfrm>
            <a:off x="1462617" y="4476967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التواصل الفعّال باستخدام البيانات</a:t>
            </a:r>
          </a:p>
        </p:txBody>
      </p:sp>
      <p:pic>
        <p:nvPicPr>
          <p:cNvPr id="19" name="bg_obj_5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5023120"/>
            <a:ext cx="11029824" cy="600002"/>
          </a:xfrm>
          <a:prstGeom prst="rect">
            <a:avLst/>
          </a:prstGeom>
        </p:spPr>
      </p:pic>
      <p:pic>
        <p:nvPicPr>
          <p:cNvPr id="20" name="icon_obj_5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5023120"/>
            <a:ext cx="703228" cy="600002"/>
          </a:xfrm>
          <a:prstGeom prst="rect">
            <a:avLst/>
          </a:prstGeom>
        </p:spPr>
      </p:pic>
      <p:sp>
        <p:nvSpPr>
          <p:cNvPr id="21" name="txt_obj_5"/>
          <p:cNvSpPr txBox="1"/>
          <p:nvPr/>
        </p:nvSpPr>
        <p:spPr>
          <a:xfrm>
            <a:off x="1462617" y="5153844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استكشاف تطبيقات إنترنت الأشياء والجيل الخامس</a:t>
            </a:r>
          </a:p>
        </p:txBody>
      </p:sp>
      <p:pic>
        <p:nvPicPr>
          <p:cNvPr id="22" name="bg_obj_6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5699997"/>
            <a:ext cx="11029824" cy="600002"/>
          </a:xfrm>
          <a:prstGeom prst="rect">
            <a:avLst/>
          </a:prstGeom>
        </p:spPr>
      </p:pic>
      <p:pic>
        <p:nvPicPr>
          <p:cNvPr id="23" name="icon_obj_6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5699997"/>
            <a:ext cx="703228" cy="600002"/>
          </a:xfrm>
          <a:prstGeom prst="rect">
            <a:avLst/>
          </a:prstGeom>
        </p:spPr>
      </p:pic>
      <p:sp>
        <p:nvSpPr>
          <p:cNvPr id="24" name="txt_obj_6"/>
          <p:cNvSpPr txBox="1"/>
          <p:nvPr/>
        </p:nvSpPr>
        <p:spPr>
          <a:xfrm>
            <a:off x="1462617" y="5830721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مناقشة قضايا الخصوصية والأخلاقيات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نحن نعيش في عالم البيانات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عقلية البيانات التعلم والتواصل باستخدام البيانات — الفصل الثالث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نحن نعيش في عالم البيانات</a:t>
            </a:r>
          </a:p>
        </p:txBody>
      </p:sp>
      <p:sp>
        <p:nvSpPr>
          <p:cNvPr id="6" name="bg_content_card"/>
          <p:cNvSpPr/>
          <p:nvPr/>
        </p:nvSpPr>
        <p:spPr>
          <a:xfrm>
            <a:off x="900000" y="1692000"/>
            <a:ext cx="10440000" cy="435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_body"/>
          <p:cNvSpPr txBox="1"/>
          <p:nvPr/>
        </p:nvSpPr>
        <p:spPr>
          <a:xfrm>
            <a:off x="1080000" y="1800000"/>
            <a:ext cx="1008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كل ثانية يتم توليد كميات هائلة من البيانات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أمثلة: التغريدات، صور إنستغرام، التسوق الإلكتروني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عقلية البيانات = التفكير + التعلّم + التواصل بالبيانات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ما هي عقلية البيانات؟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عقلية البيانات التعلم والتواصل باستخدام البيانات — الفصل الثالث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ما هي عقلية البيانات؟</a:t>
            </a:r>
          </a:p>
        </p:txBody>
      </p:sp>
      <p:sp>
        <p:nvSpPr>
          <p:cNvPr id="6" name="card_1"/>
          <p:cNvSpPr/>
          <p:nvPr/>
        </p:nvSpPr>
        <p:spPr>
          <a:xfrm>
            <a:off x="900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2D588C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980000"/>
            <a:ext cx="3228000" cy="432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card_1_title"/>
          <p:cNvSpPr txBox="1"/>
          <p:nvPr/>
        </p:nvSpPr>
        <p:spPr>
          <a:xfrm>
            <a:off x="1080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التعرّف</a:t>
            </a:r>
          </a:p>
        </p:txBody>
      </p:sp>
      <p:sp>
        <p:nvSpPr>
          <p:cNvPr id="9" name="txt_card_1_body"/>
          <p:cNvSpPr txBox="1"/>
          <p:nvPr/>
        </p:nvSpPr>
        <p:spPr>
          <a:xfrm>
            <a:off x="1080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رؤية البيانات في كل مكان حولنا</a:t>
            </a:r>
          </a:p>
        </p:txBody>
      </p:sp>
      <p:sp>
        <p:nvSpPr>
          <p:cNvPr id="10" name="card_2"/>
          <p:cNvSpPr/>
          <p:nvPr/>
        </p:nvSpPr>
        <p:spPr>
          <a:xfrm>
            <a:off x="4416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156082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000" y="1980000"/>
            <a:ext cx="3228000" cy="432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_card_2_title"/>
          <p:cNvSpPr txBox="1"/>
          <p:nvPr/>
        </p:nvSpPr>
        <p:spPr>
          <a:xfrm>
            <a:off x="4596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التعلّم</a:t>
            </a:r>
          </a:p>
        </p:txBody>
      </p:sp>
      <p:sp>
        <p:nvSpPr>
          <p:cNvPr id="13" name="txt_card_2_body"/>
          <p:cNvSpPr txBox="1"/>
          <p:nvPr/>
        </p:nvSpPr>
        <p:spPr>
          <a:xfrm>
            <a:off x="4596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استخدام البيانات لتحسين القرارات</a:t>
            </a:r>
          </a:p>
        </p:txBody>
      </p:sp>
      <p:sp>
        <p:nvSpPr>
          <p:cNvPr id="14" name="card_3"/>
          <p:cNvSpPr/>
          <p:nvPr/>
        </p:nvSpPr>
        <p:spPr>
          <a:xfrm>
            <a:off x="7932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009688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32000" y="1980000"/>
            <a:ext cx="3228000" cy="432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xt_card_3_title"/>
          <p:cNvSpPr txBox="1"/>
          <p:nvPr/>
        </p:nvSpPr>
        <p:spPr>
          <a:xfrm>
            <a:off x="8112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009688"/>
                </a:solidFill>
                <a:cs typeface="Tajawal ExtraBold"/>
                <a:latin typeface="Tajawal ExtraBold"/>
                <a:ea typeface="Tajawal ExtraBold"/>
              </a:rPr>
              <a:t>التواصل</a:t>
            </a:r>
          </a:p>
        </p:txBody>
      </p:sp>
      <p:sp>
        <p:nvSpPr>
          <p:cNvPr id="17" name="txt_card_3_body"/>
          <p:cNvSpPr txBox="1"/>
          <p:nvPr/>
        </p:nvSpPr>
        <p:spPr>
          <a:xfrm>
            <a:off x="8112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مشاركة النتائج بوضوح مع الآخرين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البيانات الضخمة</a:t>
            </a:r>
          </a:p>
        </p:txBody>
      </p:sp>
      <p:sp>
        <p:nvSpPr>
          <p:cNvPr id="3" name="bg_divider"/>
          <p:cNvSpPr/>
          <p:nvPr/>
        </p:nvSpPr>
        <p:spPr>
          <a:xfrm>
            <a:off x="720000" y="720000"/>
            <a:ext cx="10752000" cy="5418000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divider_depth"/>
          <p:cNvSpPr/>
          <p:nvPr/>
        </p:nvSpPr>
        <p:spPr>
          <a:xfrm>
            <a:off x="720000" y="5418000"/>
            <a:ext cx="10752000" cy="720000"/>
          </a:xfrm>
          <a:prstGeom prst="rect">
            <a:avLst/>
          </a:prstGeom>
          <a:solidFill>
            <a:srgbClr val="1E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cent_right_bar"/>
          <p:cNvSpPr/>
          <p:nvPr/>
        </p:nvSpPr>
        <p:spPr>
          <a:xfrm>
            <a:off x="11292000" y="720000"/>
            <a:ext cx="108000" cy="54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_corner_tr_h"/>
          <p:cNvSpPr/>
          <p:nvPr/>
        </p:nvSpPr>
        <p:spPr>
          <a:xfrm>
            <a:off x="9672000" y="900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corner_tr_v"/>
          <p:cNvSpPr/>
          <p:nvPr/>
        </p:nvSpPr>
        <p:spPr>
          <a:xfrm>
            <a:off x="11112000" y="900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_corner_bl_h"/>
          <p:cNvSpPr/>
          <p:nvPr/>
        </p:nvSpPr>
        <p:spPr>
          <a:xfrm>
            <a:off x="1080000" y="5958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co_corner_bl_v"/>
          <p:cNvSpPr/>
          <p:nvPr/>
        </p:nvSpPr>
        <p:spPr>
          <a:xfrm>
            <a:off x="1080000" y="4518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_corner_bl_dot"/>
          <p:cNvSpPr/>
          <p:nvPr/>
        </p:nvSpPr>
        <p:spPr>
          <a:xfrm>
            <a:off x="1008000" y="5886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_section_title"/>
          <p:cNvSpPr txBox="1"/>
          <p:nvPr/>
        </p:nvSpPr>
        <p:spPr>
          <a:xfrm>
            <a:off x="1440000" y="1800000"/>
            <a:ext cx="9360000" cy="1260000"/>
          </a:xfrm>
          <a:prstGeom prst="rect">
            <a:avLst/>
          </a:prstGeom>
          <a:noFill/>
        </p:spPr>
        <p:txBody>
          <a:bodyPr wrap="square" lIns="90000" rIns="90000" tIns="46800" bIns="4680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4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البيانات الضخمة</a:t>
            </a:r>
          </a:p>
        </p:txBody>
      </p:sp>
      <p:sp>
        <p:nvSpPr>
          <p:cNvPr id="13" name="divider_line"/>
          <p:cNvSpPr/>
          <p:nvPr/>
        </p:nvSpPr>
        <p:spPr>
          <a:xfrm>
            <a:off x="3240000" y="3131999"/>
            <a:ext cx="540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xt_section_subtitle"/>
          <p:cNvSpPr txBox="1"/>
          <p:nvPr/>
        </p:nvSpPr>
        <p:spPr>
          <a:xfrm>
            <a:off x="1440000" y="3348000"/>
            <a:ext cx="936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الحجم — السرعة — التنوع</a:t>
            </a:r>
          </a:p>
        </p:txBody>
      </p:sp>
      <p:sp>
        <p:nvSpPr>
          <p:cNvPr id="15" name="dot_section_1"/>
          <p:cNvSpPr/>
          <p:nvPr/>
        </p:nvSpPr>
        <p:spPr>
          <a:xfrm>
            <a:off x="4800000" y="5742000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t_section_2"/>
          <p:cNvSpPr/>
          <p:nvPr/>
        </p:nvSpPr>
        <p:spPr>
          <a:xfrm>
            <a:off x="5412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t_section_3"/>
          <p:cNvSpPr/>
          <p:nvPr/>
        </p:nvSpPr>
        <p:spPr>
          <a:xfrm>
            <a:off x="5988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t_section_4"/>
          <p:cNvSpPr/>
          <p:nvPr/>
        </p:nvSpPr>
        <p:spPr>
          <a:xfrm>
            <a:off x="6564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t_section_5"/>
          <p:cNvSpPr/>
          <p:nvPr/>
        </p:nvSpPr>
        <p:spPr>
          <a:xfrm>
            <a:off x="7140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ما هي البيانات الضخمة؟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عقلية البيانات التعلم والتواصل باستخدام البيانات — الفصل الثالث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ما هي البيانات الضخمة؟</a:t>
            </a:r>
          </a:p>
        </p:txBody>
      </p:sp>
      <p:sp>
        <p:nvSpPr>
          <p:cNvPr id="6" name="bg_accent_stripe"/>
          <p:cNvSpPr/>
          <p:nvPr/>
        </p:nvSpPr>
        <p:spPr>
          <a:xfrm>
            <a:off x="11160000" y="1440000"/>
            <a:ext cx="432000" cy="46800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g_content_card"/>
          <p:cNvSpPr/>
          <p:nvPr/>
        </p:nvSpPr>
        <p:spPr>
          <a:xfrm>
            <a:off x="900000" y="1692000"/>
            <a:ext cx="9720000" cy="435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body"/>
          <p:cNvSpPr txBox="1"/>
          <p:nvPr/>
        </p:nvSpPr>
        <p:spPr>
          <a:xfrm>
            <a:off x="1080000" y="1800000"/>
            <a:ext cx="936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مجموعات بيانات ضخمة لا يمكن التعامل معها بالأدوات التقليدية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الخصائص الرئيسية (3V): الحجم، السرعة، التنوع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مثال: فيسبوك يولّد تيرابايت من البيانات يومياً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خصائص البيانات الضخمة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عقلية البيانات التعلم والتواصل باستخدام البيانات — الفصل الثالث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خصائص البيانات الضخمة</a:t>
            </a:r>
          </a:p>
        </p:txBody>
      </p:sp>
      <p:sp>
        <p:nvSpPr>
          <p:cNvPr id="6" name="bg_col1_card"/>
          <p:cNvSpPr/>
          <p:nvPr/>
        </p:nvSpPr>
        <p:spPr>
          <a:xfrm>
            <a:off x="6012000" y="1692000"/>
            <a:ext cx="5076000" cy="381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_col1_title"/>
          <p:cNvSpPr txBox="1"/>
          <p:nvPr/>
        </p:nvSpPr>
        <p:spPr>
          <a:xfrm>
            <a:off x="612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أمثلة عملية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6840000" y="2340000"/>
            <a:ext cx="3420000" cy="5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_col1_body"/>
          <p:cNvSpPr txBox="1"/>
          <p:nvPr/>
        </p:nvSpPr>
        <p:spPr>
          <a:xfrm>
            <a:off x="612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يوتيوب: 500+ ساعة فيديو كل دقيقة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واتساب: ملايين الرسائل كل ثانية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تيك توك وإنستغرام: بيانات متنوعة</a:t>
            </a:r>
          </a:p>
        </p:txBody>
      </p:sp>
      <p:sp>
        <p:nvSpPr>
          <p:cNvPr id="10" name="bg_col2_card"/>
          <p:cNvSpPr/>
          <p:nvPr/>
        </p:nvSpPr>
        <p:spPr>
          <a:xfrm>
            <a:off x="792000" y="1692000"/>
            <a:ext cx="5076000" cy="381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xt_col2_title"/>
          <p:cNvSpPr txBox="1"/>
          <p:nvPr/>
        </p:nvSpPr>
        <p:spPr>
          <a:xfrm>
            <a:off x="90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الخصائص الثلاث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20000" y="2340000"/>
            <a:ext cx="3420000" cy="5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col2_body"/>
          <p:cNvSpPr txBox="1"/>
          <p:nvPr/>
        </p:nvSpPr>
        <p:spPr>
          <a:xfrm>
            <a:off x="90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الحجم: الكمية الهائلة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السرعة: سرعة الإنشاء والمعالجة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التنوع: نصوص وصور وفيديو ومستشعرات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نشاط: أي من التالي ليس من خصائص البي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عقلية البيانات التعلم والتواصل باستخدام البيانات — الفصل الثالث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تفاعلي: اختيار من متعدد</a:t>
            </a:r>
          </a:p>
        </p:txBody>
      </p:sp>
      <p:sp>
        <p:nvSpPr>
          <p:cNvPr id="6" name="txt_question"/>
          <p:cNvSpPr txBox="1"/>
          <p:nvPr/>
        </p:nvSpPr>
        <p:spPr>
          <a:xfrm>
            <a:off x="900000" y="18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أي من التالي ليس من خصائص البيانات الضخمة (3V)؟</a:t>
            </a:r>
          </a:p>
        </p:txBody>
      </p:sp>
      <p:sp>
        <p:nvSpPr>
          <p:cNvPr id="7" name="bg_opt_a"/>
          <p:cNvSpPr/>
          <p:nvPr/>
        </p:nvSpPr>
        <p:spPr>
          <a:xfrm>
            <a:off x="900000" y="2664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pt_a"/>
          <p:cNvSpPr/>
          <p:nvPr/>
        </p:nvSpPr>
        <p:spPr>
          <a:xfrm>
            <a:off x="10260000" y="2736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أ</a:t>
            </a:r>
          </a:p>
        </p:txBody>
      </p:sp>
      <p:sp>
        <p:nvSpPr>
          <p:cNvPr id="9" name="txt_opt_a"/>
          <p:cNvSpPr txBox="1"/>
          <p:nvPr/>
        </p:nvSpPr>
        <p:spPr>
          <a:xfrm>
            <a:off x="1080000" y="2700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الحجم (Volume)</a:t>
            </a:r>
          </a:p>
        </p:txBody>
      </p:sp>
      <p:sp>
        <p:nvSpPr>
          <p:cNvPr id="10" name="bg_opt_b"/>
          <p:cNvSpPr/>
          <p:nvPr/>
        </p:nvSpPr>
        <p:spPr>
          <a:xfrm>
            <a:off x="900000" y="3456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pt_b"/>
          <p:cNvSpPr/>
          <p:nvPr/>
        </p:nvSpPr>
        <p:spPr>
          <a:xfrm>
            <a:off x="10260000" y="3528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ب</a:t>
            </a:r>
          </a:p>
        </p:txBody>
      </p:sp>
      <p:sp>
        <p:nvSpPr>
          <p:cNvPr id="12" name="txt_opt_b"/>
          <p:cNvSpPr txBox="1"/>
          <p:nvPr/>
        </p:nvSpPr>
        <p:spPr>
          <a:xfrm>
            <a:off x="1080000" y="3492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السرعة (Velocity)</a:t>
            </a:r>
          </a:p>
        </p:txBody>
      </p:sp>
      <p:sp>
        <p:nvSpPr>
          <p:cNvPr id="13" name="bg_opt_c"/>
          <p:cNvSpPr/>
          <p:nvPr/>
        </p:nvSpPr>
        <p:spPr>
          <a:xfrm>
            <a:off x="900000" y="4248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pt_c"/>
          <p:cNvSpPr/>
          <p:nvPr/>
        </p:nvSpPr>
        <p:spPr>
          <a:xfrm>
            <a:off x="1026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ج</a:t>
            </a:r>
          </a:p>
        </p:txBody>
      </p:sp>
      <p:sp>
        <p:nvSpPr>
          <p:cNvPr id="15" name="txt_opt_c"/>
          <p:cNvSpPr txBox="1"/>
          <p:nvPr/>
        </p:nvSpPr>
        <p:spPr>
          <a:xfrm>
            <a:off x="1080000" y="4284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القيمة (Value)</a:t>
            </a:r>
          </a:p>
        </p:txBody>
      </p:sp>
      <p:sp>
        <p:nvSpPr>
          <p:cNvPr id="16" name="bg_opt_d"/>
          <p:cNvSpPr/>
          <p:nvPr/>
        </p:nvSpPr>
        <p:spPr>
          <a:xfrm>
            <a:off x="900000" y="5040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pt_d"/>
          <p:cNvSpPr/>
          <p:nvPr/>
        </p:nvSpPr>
        <p:spPr>
          <a:xfrm>
            <a:off x="10260000" y="5112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د</a:t>
            </a:r>
          </a:p>
        </p:txBody>
      </p:sp>
      <p:sp>
        <p:nvSpPr>
          <p:cNvPr id="18" name="txt_opt_d"/>
          <p:cNvSpPr txBox="1"/>
          <p:nvPr/>
        </p:nvSpPr>
        <p:spPr>
          <a:xfrm>
            <a:off x="1080000" y="5076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التنوع (Variety)</a:t>
            </a:r>
          </a:p>
        </p:txBody>
      </p:sp>
      <p:sp>
        <p:nvSpPr>
          <p:cNvPr id="19" name="btn_check"/>
          <p:cNvSpPr/>
          <p:nvPr/>
        </p:nvSpPr>
        <p:spPr>
          <a:xfrm>
            <a:off x="3600000" y="5760000"/>
            <a:ext cx="3600000" cy="576000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2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تحقق من الإجابة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أهمية البيانات</a:t>
            </a:r>
          </a:p>
        </p:txBody>
      </p:sp>
      <p:sp>
        <p:nvSpPr>
          <p:cNvPr id="3" name="bg_divider"/>
          <p:cNvSpPr/>
          <p:nvPr/>
        </p:nvSpPr>
        <p:spPr>
          <a:xfrm>
            <a:off x="720000" y="720000"/>
            <a:ext cx="10752000" cy="5418000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divider_depth"/>
          <p:cNvSpPr/>
          <p:nvPr/>
        </p:nvSpPr>
        <p:spPr>
          <a:xfrm>
            <a:off x="720000" y="5418000"/>
            <a:ext cx="10752000" cy="720000"/>
          </a:xfrm>
          <a:prstGeom prst="rect">
            <a:avLst/>
          </a:prstGeom>
          <a:solidFill>
            <a:srgbClr val="1E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cent_right_bar"/>
          <p:cNvSpPr/>
          <p:nvPr/>
        </p:nvSpPr>
        <p:spPr>
          <a:xfrm>
            <a:off x="11292000" y="720000"/>
            <a:ext cx="108000" cy="54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_corner_tr_h"/>
          <p:cNvSpPr/>
          <p:nvPr/>
        </p:nvSpPr>
        <p:spPr>
          <a:xfrm>
            <a:off x="9672000" y="900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corner_tr_v"/>
          <p:cNvSpPr/>
          <p:nvPr/>
        </p:nvSpPr>
        <p:spPr>
          <a:xfrm>
            <a:off x="11112000" y="900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_corner_bl_h"/>
          <p:cNvSpPr/>
          <p:nvPr/>
        </p:nvSpPr>
        <p:spPr>
          <a:xfrm>
            <a:off x="1080000" y="5958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co_corner_bl_v"/>
          <p:cNvSpPr/>
          <p:nvPr/>
        </p:nvSpPr>
        <p:spPr>
          <a:xfrm>
            <a:off x="1080000" y="4518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_corner_bl_dot"/>
          <p:cNvSpPr/>
          <p:nvPr/>
        </p:nvSpPr>
        <p:spPr>
          <a:xfrm>
            <a:off x="1008000" y="5886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_section_title"/>
          <p:cNvSpPr txBox="1"/>
          <p:nvPr/>
        </p:nvSpPr>
        <p:spPr>
          <a:xfrm>
            <a:off x="1440000" y="1800000"/>
            <a:ext cx="9360000" cy="1260000"/>
          </a:xfrm>
          <a:prstGeom prst="rect">
            <a:avLst/>
          </a:prstGeom>
          <a:noFill/>
        </p:spPr>
        <p:txBody>
          <a:bodyPr wrap="square" lIns="90000" rIns="90000" tIns="46800" bIns="4680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4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أهمية البيانات</a:t>
            </a:r>
          </a:p>
        </p:txBody>
      </p:sp>
      <p:sp>
        <p:nvSpPr>
          <p:cNvPr id="13" name="divider_line"/>
          <p:cNvSpPr/>
          <p:nvPr/>
        </p:nvSpPr>
        <p:spPr>
          <a:xfrm>
            <a:off x="3240000" y="3131999"/>
            <a:ext cx="540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xt_section_subtitle"/>
          <p:cNvSpPr txBox="1"/>
          <p:nvPr/>
        </p:nvSpPr>
        <p:spPr>
          <a:xfrm>
            <a:off x="1440000" y="3348000"/>
            <a:ext cx="936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في الأعمال والصحة والمدن الذكية</a:t>
            </a:r>
          </a:p>
        </p:txBody>
      </p:sp>
      <p:sp>
        <p:nvSpPr>
          <p:cNvPr id="15" name="dot_section_1"/>
          <p:cNvSpPr/>
          <p:nvPr/>
        </p:nvSpPr>
        <p:spPr>
          <a:xfrm>
            <a:off x="4836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t_section_2"/>
          <p:cNvSpPr/>
          <p:nvPr/>
        </p:nvSpPr>
        <p:spPr>
          <a:xfrm>
            <a:off x="5376000" y="5742000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t_section_3"/>
          <p:cNvSpPr/>
          <p:nvPr/>
        </p:nvSpPr>
        <p:spPr>
          <a:xfrm>
            <a:off x="5988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t_section_4"/>
          <p:cNvSpPr/>
          <p:nvPr/>
        </p:nvSpPr>
        <p:spPr>
          <a:xfrm>
            <a:off x="6564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t_section_5"/>
          <p:cNvSpPr/>
          <p:nvPr/>
        </p:nvSpPr>
        <p:spPr>
          <a:xfrm>
            <a:off x="7140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لماذا البيانات مهمة؟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عقلية البيانات التعلم والتواصل باستخدام البيانات — الفصل الثالث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لماذا البيانات مهمة؟</a:t>
            </a:r>
          </a:p>
        </p:txBody>
      </p:sp>
      <p:sp>
        <p:nvSpPr>
          <p:cNvPr id="6" name="card_1"/>
          <p:cNvSpPr/>
          <p:nvPr/>
        </p:nvSpPr>
        <p:spPr>
          <a:xfrm>
            <a:off x="900000" y="1980000"/>
            <a:ext cx="2349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2D588C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980000"/>
            <a:ext cx="2349000" cy="432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card_1_title"/>
          <p:cNvSpPr txBox="1"/>
          <p:nvPr/>
        </p:nvSpPr>
        <p:spPr>
          <a:xfrm>
            <a:off x="1080000" y="2412000"/>
            <a:ext cx="1989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الأعمال</a:t>
            </a:r>
          </a:p>
        </p:txBody>
      </p:sp>
      <p:sp>
        <p:nvSpPr>
          <p:cNvPr id="9" name="txt_card_1_body"/>
          <p:cNvSpPr txBox="1"/>
          <p:nvPr/>
        </p:nvSpPr>
        <p:spPr>
          <a:xfrm>
            <a:off x="1080000" y="3060000"/>
            <a:ext cx="1989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أمازون تقدّم توصيات من تحليل مشترياتك</a:t>
            </a:r>
          </a:p>
        </p:txBody>
      </p:sp>
      <p:sp>
        <p:nvSpPr>
          <p:cNvPr id="10" name="card_2"/>
          <p:cNvSpPr/>
          <p:nvPr/>
        </p:nvSpPr>
        <p:spPr>
          <a:xfrm>
            <a:off x="3537000" y="1980000"/>
            <a:ext cx="2349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156082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37000" y="1980000"/>
            <a:ext cx="2349000" cy="432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_card_2_title"/>
          <p:cNvSpPr txBox="1"/>
          <p:nvPr/>
        </p:nvSpPr>
        <p:spPr>
          <a:xfrm>
            <a:off x="3717000" y="2412000"/>
            <a:ext cx="1989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الصحة</a:t>
            </a:r>
          </a:p>
        </p:txBody>
      </p:sp>
      <p:sp>
        <p:nvSpPr>
          <p:cNvPr id="13" name="txt_card_2_body"/>
          <p:cNvSpPr txBox="1"/>
          <p:nvPr/>
        </p:nvSpPr>
        <p:spPr>
          <a:xfrm>
            <a:off x="3717000" y="3060000"/>
            <a:ext cx="1989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الساعات الذكية تتابع نبضات القلب</a:t>
            </a:r>
          </a:p>
        </p:txBody>
      </p:sp>
      <p:sp>
        <p:nvSpPr>
          <p:cNvPr id="14" name="card_3"/>
          <p:cNvSpPr/>
          <p:nvPr/>
        </p:nvSpPr>
        <p:spPr>
          <a:xfrm>
            <a:off x="6174000" y="1980000"/>
            <a:ext cx="2349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009688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4000" y="1980000"/>
            <a:ext cx="2349000" cy="432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xt_card_3_title"/>
          <p:cNvSpPr txBox="1"/>
          <p:nvPr/>
        </p:nvSpPr>
        <p:spPr>
          <a:xfrm>
            <a:off x="6354000" y="2412000"/>
            <a:ext cx="1989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009688"/>
                </a:solidFill>
                <a:cs typeface="Tajawal ExtraBold"/>
                <a:latin typeface="Tajawal ExtraBold"/>
                <a:ea typeface="Tajawal ExtraBold"/>
              </a:rPr>
              <a:t>المدن الذكية</a:t>
            </a:r>
          </a:p>
        </p:txBody>
      </p:sp>
      <p:sp>
        <p:nvSpPr>
          <p:cNvPr id="17" name="txt_card_3_body"/>
          <p:cNvSpPr txBox="1"/>
          <p:nvPr/>
        </p:nvSpPr>
        <p:spPr>
          <a:xfrm>
            <a:off x="6354000" y="3060000"/>
            <a:ext cx="1989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إدارة المرور وتقليل الازدحام</a:t>
            </a:r>
          </a:p>
        </p:txBody>
      </p:sp>
      <p:sp>
        <p:nvSpPr>
          <p:cNvPr id="18" name="card_4"/>
          <p:cNvSpPr/>
          <p:nvPr/>
        </p:nvSpPr>
        <p:spPr>
          <a:xfrm>
            <a:off x="8811000" y="1980000"/>
            <a:ext cx="2349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0E2841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11000" y="1980000"/>
            <a:ext cx="2349000" cy="432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xt_card_4_title"/>
          <p:cNvSpPr txBox="1"/>
          <p:nvPr/>
        </p:nvSpPr>
        <p:spPr>
          <a:xfrm>
            <a:off x="8991000" y="2412000"/>
            <a:ext cx="1989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0E2841"/>
                </a:solidFill>
                <a:cs typeface="Tajawal ExtraBold"/>
                <a:latin typeface="Tajawal ExtraBold"/>
                <a:ea typeface="Tajawal ExtraBold"/>
              </a:rPr>
              <a:t>البحث العلمي</a:t>
            </a:r>
          </a:p>
        </p:txBody>
      </p:sp>
      <p:sp>
        <p:nvSpPr>
          <p:cNvPr id="21" name="txt_card_4_body"/>
          <p:cNvSpPr txBox="1"/>
          <p:nvPr/>
        </p:nvSpPr>
        <p:spPr>
          <a:xfrm>
            <a:off x="8991000" y="3060000"/>
            <a:ext cx="1989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تحليل الجينات لاكتشاف أمراض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جودة البيانات</a:t>
            </a:r>
          </a:p>
        </p:txBody>
      </p:sp>
      <p:sp>
        <p:nvSpPr>
          <p:cNvPr id="3" name="bg_divider"/>
          <p:cNvSpPr/>
          <p:nvPr/>
        </p:nvSpPr>
        <p:spPr>
          <a:xfrm>
            <a:off x="720000" y="720000"/>
            <a:ext cx="10752000" cy="5418000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divider_depth"/>
          <p:cNvSpPr/>
          <p:nvPr/>
        </p:nvSpPr>
        <p:spPr>
          <a:xfrm>
            <a:off x="720000" y="5418000"/>
            <a:ext cx="10752000" cy="720000"/>
          </a:xfrm>
          <a:prstGeom prst="rect">
            <a:avLst/>
          </a:prstGeom>
          <a:solidFill>
            <a:srgbClr val="1E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cent_right_bar"/>
          <p:cNvSpPr/>
          <p:nvPr/>
        </p:nvSpPr>
        <p:spPr>
          <a:xfrm>
            <a:off x="11292000" y="720000"/>
            <a:ext cx="108000" cy="54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_corner_tr_h"/>
          <p:cNvSpPr/>
          <p:nvPr/>
        </p:nvSpPr>
        <p:spPr>
          <a:xfrm>
            <a:off x="9672000" y="900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corner_tr_v"/>
          <p:cNvSpPr/>
          <p:nvPr/>
        </p:nvSpPr>
        <p:spPr>
          <a:xfrm>
            <a:off x="11112000" y="900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_corner_bl_h"/>
          <p:cNvSpPr/>
          <p:nvPr/>
        </p:nvSpPr>
        <p:spPr>
          <a:xfrm>
            <a:off x="1080000" y="5958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co_corner_bl_v"/>
          <p:cNvSpPr/>
          <p:nvPr/>
        </p:nvSpPr>
        <p:spPr>
          <a:xfrm>
            <a:off x="1080000" y="4518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_corner_bl_dot"/>
          <p:cNvSpPr/>
          <p:nvPr/>
        </p:nvSpPr>
        <p:spPr>
          <a:xfrm>
            <a:off x="1008000" y="5886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_section_title"/>
          <p:cNvSpPr txBox="1"/>
          <p:nvPr/>
        </p:nvSpPr>
        <p:spPr>
          <a:xfrm>
            <a:off x="1440000" y="1800000"/>
            <a:ext cx="9360000" cy="1260000"/>
          </a:xfrm>
          <a:prstGeom prst="rect">
            <a:avLst/>
          </a:prstGeom>
          <a:noFill/>
        </p:spPr>
        <p:txBody>
          <a:bodyPr wrap="square" lIns="90000" rIns="90000" tIns="46800" bIns="4680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4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جودة البيانات</a:t>
            </a:r>
          </a:p>
        </p:txBody>
      </p:sp>
      <p:sp>
        <p:nvSpPr>
          <p:cNvPr id="13" name="divider_line"/>
          <p:cNvSpPr/>
          <p:nvPr/>
        </p:nvSpPr>
        <p:spPr>
          <a:xfrm>
            <a:off x="3240000" y="3131999"/>
            <a:ext cx="540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xt_section_subtitle"/>
          <p:cNvSpPr txBox="1"/>
          <p:nvPr/>
        </p:nvSpPr>
        <p:spPr>
          <a:xfrm>
            <a:off x="1440000" y="3348000"/>
            <a:ext cx="936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الدقة — الاكتمال — الاتساق — التوقيت</a:t>
            </a:r>
          </a:p>
        </p:txBody>
      </p:sp>
      <p:sp>
        <p:nvSpPr>
          <p:cNvPr id="15" name="dot_section_1"/>
          <p:cNvSpPr/>
          <p:nvPr/>
        </p:nvSpPr>
        <p:spPr>
          <a:xfrm>
            <a:off x="4836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t_section_2"/>
          <p:cNvSpPr/>
          <p:nvPr/>
        </p:nvSpPr>
        <p:spPr>
          <a:xfrm>
            <a:off x="5412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t_section_3"/>
          <p:cNvSpPr/>
          <p:nvPr/>
        </p:nvSpPr>
        <p:spPr>
          <a:xfrm>
            <a:off x="5952000" y="5742000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t_section_4"/>
          <p:cNvSpPr/>
          <p:nvPr/>
        </p:nvSpPr>
        <p:spPr>
          <a:xfrm>
            <a:off x="6564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t_section_5"/>
          <p:cNvSpPr/>
          <p:nvPr/>
        </p:nvSpPr>
        <p:spPr>
          <a:xfrm>
            <a:off x="7140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أبعاد جودة البيانات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عقلية البيانات التعلم والتواصل باستخدام البيانات — الفصل الثالث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أبعاد جودة البيانات</a:t>
            </a:r>
          </a:p>
        </p:txBody>
      </p:sp>
      <p:sp>
        <p:nvSpPr>
          <p:cNvPr id="6" name="card_1"/>
          <p:cNvSpPr/>
          <p:nvPr/>
        </p:nvSpPr>
        <p:spPr>
          <a:xfrm>
            <a:off x="900000" y="1980000"/>
            <a:ext cx="2349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2D588C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980000"/>
            <a:ext cx="2349000" cy="432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card_1_title"/>
          <p:cNvSpPr txBox="1"/>
          <p:nvPr/>
        </p:nvSpPr>
        <p:spPr>
          <a:xfrm>
            <a:off x="1080000" y="2412000"/>
            <a:ext cx="1989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الدقة</a:t>
            </a:r>
          </a:p>
        </p:txBody>
      </p:sp>
      <p:sp>
        <p:nvSpPr>
          <p:cNvPr id="9" name="txt_card_1_body"/>
          <p:cNvSpPr txBox="1"/>
          <p:nvPr/>
        </p:nvSpPr>
        <p:spPr>
          <a:xfrm>
            <a:off x="1080000" y="3060000"/>
            <a:ext cx="1989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هل البيانات صحيحة؟</a:t>
            </a:r>
          </a:p>
        </p:txBody>
      </p:sp>
      <p:sp>
        <p:nvSpPr>
          <p:cNvPr id="10" name="card_2"/>
          <p:cNvSpPr/>
          <p:nvPr/>
        </p:nvSpPr>
        <p:spPr>
          <a:xfrm>
            <a:off x="3537000" y="1980000"/>
            <a:ext cx="2349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156082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37000" y="1980000"/>
            <a:ext cx="2349000" cy="432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_card_2_title"/>
          <p:cNvSpPr txBox="1"/>
          <p:nvPr/>
        </p:nvSpPr>
        <p:spPr>
          <a:xfrm>
            <a:off x="3717000" y="2412000"/>
            <a:ext cx="1989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الاكتمال</a:t>
            </a:r>
          </a:p>
        </p:txBody>
      </p:sp>
      <p:sp>
        <p:nvSpPr>
          <p:cNvPr id="13" name="txt_card_2_body"/>
          <p:cNvSpPr txBox="1"/>
          <p:nvPr/>
        </p:nvSpPr>
        <p:spPr>
          <a:xfrm>
            <a:off x="3717000" y="3060000"/>
            <a:ext cx="1989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هل جميع القيم مدخلة؟</a:t>
            </a:r>
          </a:p>
        </p:txBody>
      </p:sp>
      <p:sp>
        <p:nvSpPr>
          <p:cNvPr id="14" name="card_3"/>
          <p:cNvSpPr/>
          <p:nvPr/>
        </p:nvSpPr>
        <p:spPr>
          <a:xfrm>
            <a:off x="6174000" y="1980000"/>
            <a:ext cx="2349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009688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4000" y="1980000"/>
            <a:ext cx="2349000" cy="432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xt_card_3_title"/>
          <p:cNvSpPr txBox="1"/>
          <p:nvPr/>
        </p:nvSpPr>
        <p:spPr>
          <a:xfrm>
            <a:off x="6354000" y="2412000"/>
            <a:ext cx="1989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009688"/>
                </a:solidFill>
                <a:cs typeface="Tajawal ExtraBold"/>
                <a:latin typeface="Tajawal ExtraBold"/>
                <a:ea typeface="Tajawal ExtraBold"/>
              </a:rPr>
              <a:t>الاتساق</a:t>
            </a:r>
          </a:p>
        </p:txBody>
      </p:sp>
      <p:sp>
        <p:nvSpPr>
          <p:cNvPr id="17" name="txt_card_3_body"/>
          <p:cNvSpPr txBox="1"/>
          <p:nvPr/>
        </p:nvSpPr>
        <p:spPr>
          <a:xfrm>
            <a:off x="6354000" y="3060000"/>
            <a:ext cx="1989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هل التنسيق موحّد؟</a:t>
            </a:r>
          </a:p>
        </p:txBody>
      </p:sp>
      <p:sp>
        <p:nvSpPr>
          <p:cNvPr id="18" name="card_4"/>
          <p:cNvSpPr/>
          <p:nvPr/>
        </p:nvSpPr>
        <p:spPr>
          <a:xfrm>
            <a:off x="8811000" y="1980000"/>
            <a:ext cx="2349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0E2841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11000" y="1980000"/>
            <a:ext cx="2349000" cy="432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xt_card_4_title"/>
          <p:cNvSpPr txBox="1"/>
          <p:nvPr/>
        </p:nvSpPr>
        <p:spPr>
          <a:xfrm>
            <a:off x="8991000" y="2412000"/>
            <a:ext cx="1989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0E2841"/>
                </a:solidFill>
                <a:cs typeface="Tajawal ExtraBold"/>
                <a:latin typeface="Tajawal ExtraBold"/>
                <a:ea typeface="Tajawal ExtraBold"/>
              </a:rPr>
              <a:t>التوقيت</a:t>
            </a:r>
          </a:p>
        </p:txBody>
      </p:sp>
      <p:sp>
        <p:nvSpPr>
          <p:cNvPr id="21" name="txt_card_4_body"/>
          <p:cNvSpPr txBox="1"/>
          <p:nvPr/>
        </p:nvSpPr>
        <p:spPr>
          <a:xfrm>
            <a:off x="8991000" y="3060000"/>
            <a:ext cx="1989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هل البيانات محدّثة؟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نشاط: درجة طالب مسجّلة 95 بدلاً من 5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عقلية البيانات التعلم والتواصل باستخدام البيانات — الفصل الثالث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تفاعلي: اختيار من متعدد</a:t>
            </a:r>
          </a:p>
        </p:txBody>
      </p:sp>
      <p:sp>
        <p:nvSpPr>
          <p:cNvPr id="6" name="txt_question"/>
          <p:cNvSpPr txBox="1"/>
          <p:nvPr/>
        </p:nvSpPr>
        <p:spPr>
          <a:xfrm>
            <a:off x="900000" y="18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درجة طالب مسجّلة 95 بدلاً من 59، هذا مشكلة في:</a:t>
            </a:r>
          </a:p>
        </p:txBody>
      </p:sp>
      <p:sp>
        <p:nvSpPr>
          <p:cNvPr id="7" name="bg_opt_a"/>
          <p:cNvSpPr/>
          <p:nvPr/>
        </p:nvSpPr>
        <p:spPr>
          <a:xfrm>
            <a:off x="900000" y="2664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pt_a"/>
          <p:cNvSpPr/>
          <p:nvPr/>
        </p:nvSpPr>
        <p:spPr>
          <a:xfrm>
            <a:off x="10260000" y="2736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أ</a:t>
            </a:r>
          </a:p>
        </p:txBody>
      </p:sp>
      <p:sp>
        <p:nvSpPr>
          <p:cNvPr id="9" name="txt_opt_a"/>
          <p:cNvSpPr txBox="1"/>
          <p:nvPr/>
        </p:nvSpPr>
        <p:spPr>
          <a:xfrm>
            <a:off x="1080000" y="2700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الاكتمال</a:t>
            </a:r>
          </a:p>
        </p:txBody>
      </p:sp>
      <p:sp>
        <p:nvSpPr>
          <p:cNvPr id="10" name="bg_opt_b"/>
          <p:cNvSpPr/>
          <p:nvPr/>
        </p:nvSpPr>
        <p:spPr>
          <a:xfrm>
            <a:off x="900000" y="3456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pt_b"/>
          <p:cNvSpPr/>
          <p:nvPr/>
        </p:nvSpPr>
        <p:spPr>
          <a:xfrm>
            <a:off x="10260000" y="3528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ب</a:t>
            </a:r>
          </a:p>
        </p:txBody>
      </p:sp>
      <p:sp>
        <p:nvSpPr>
          <p:cNvPr id="12" name="txt_opt_b"/>
          <p:cNvSpPr txBox="1"/>
          <p:nvPr/>
        </p:nvSpPr>
        <p:spPr>
          <a:xfrm>
            <a:off x="1080000" y="3492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الدقة</a:t>
            </a:r>
          </a:p>
        </p:txBody>
      </p:sp>
      <p:sp>
        <p:nvSpPr>
          <p:cNvPr id="13" name="bg_opt_c"/>
          <p:cNvSpPr/>
          <p:nvPr/>
        </p:nvSpPr>
        <p:spPr>
          <a:xfrm>
            <a:off x="900000" y="4248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pt_c"/>
          <p:cNvSpPr/>
          <p:nvPr/>
        </p:nvSpPr>
        <p:spPr>
          <a:xfrm>
            <a:off x="1026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ج</a:t>
            </a:r>
          </a:p>
        </p:txBody>
      </p:sp>
      <p:sp>
        <p:nvSpPr>
          <p:cNvPr id="15" name="txt_opt_c"/>
          <p:cNvSpPr txBox="1"/>
          <p:nvPr/>
        </p:nvSpPr>
        <p:spPr>
          <a:xfrm>
            <a:off x="1080000" y="4284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الاتساق</a:t>
            </a:r>
          </a:p>
        </p:txBody>
      </p:sp>
      <p:sp>
        <p:nvSpPr>
          <p:cNvPr id="16" name="bg_opt_d"/>
          <p:cNvSpPr/>
          <p:nvPr/>
        </p:nvSpPr>
        <p:spPr>
          <a:xfrm>
            <a:off x="900000" y="5040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pt_d"/>
          <p:cNvSpPr/>
          <p:nvPr/>
        </p:nvSpPr>
        <p:spPr>
          <a:xfrm>
            <a:off x="10260000" y="5112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د</a:t>
            </a:r>
          </a:p>
        </p:txBody>
      </p:sp>
      <p:sp>
        <p:nvSpPr>
          <p:cNvPr id="18" name="txt_opt_d"/>
          <p:cNvSpPr txBox="1"/>
          <p:nvPr/>
        </p:nvSpPr>
        <p:spPr>
          <a:xfrm>
            <a:off x="1080000" y="5076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التوقيت</a:t>
            </a:r>
          </a:p>
        </p:txBody>
      </p:sp>
      <p:sp>
        <p:nvSpPr>
          <p:cNvPr id="19" name="btn_check"/>
          <p:cNvSpPr/>
          <p:nvPr/>
        </p:nvSpPr>
        <p:spPr>
          <a:xfrm>
            <a:off x="3600000" y="5760000"/>
            <a:ext cx="3600000" cy="576000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2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تحقق من الإجابة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التواصل باستخدام البيانات</a:t>
            </a:r>
          </a:p>
        </p:txBody>
      </p:sp>
      <p:sp>
        <p:nvSpPr>
          <p:cNvPr id="3" name="bg_divider"/>
          <p:cNvSpPr/>
          <p:nvPr/>
        </p:nvSpPr>
        <p:spPr>
          <a:xfrm>
            <a:off x="720000" y="720000"/>
            <a:ext cx="10752000" cy="5418000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divider_depth"/>
          <p:cNvSpPr/>
          <p:nvPr/>
        </p:nvSpPr>
        <p:spPr>
          <a:xfrm>
            <a:off x="720000" y="5418000"/>
            <a:ext cx="10752000" cy="720000"/>
          </a:xfrm>
          <a:prstGeom prst="rect">
            <a:avLst/>
          </a:prstGeom>
          <a:solidFill>
            <a:srgbClr val="1E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cent_right_bar"/>
          <p:cNvSpPr/>
          <p:nvPr/>
        </p:nvSpPr>
        <p:spPr>
          <a:xfrm>
            <a:off x="11292000" y="720000"/>
            <a:ext cx="108000" cy="54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_corner_tr_h"/>
          <p:cNvSpPr/>
          <p:nvPr/>
        </p:nvSpPr>
        <p:spPr>
          <a:xfrm>
            <a:off x="9672000" y="900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corner_tr_v"/>
          <p:cNvSpPr/>
          <p:nvPr/>
        </p:nvSpPr>
        <p:spPr>
          <a:xfrm>
            <a:off x="11112000" y="900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_corner_bl_h"/>
          <p:cNvSpPr/>
          <p:nvPr/>
        </p:nvSpPr>
        <p:spPr>
          <a:xfrm>
            <a:off x="1080000" y="5958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co_corner_bl_v"/>
          <p:cNvSpPr/>
          <p:nvPr/>
        </p:nvSpPr>
        <p:spPr>
          <a:xfrm>
            <a:off x="1080000" y="4518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_corner_bl_dot"/>
          <p:cNvSpPr/>
          <p:nvPr/>
        </p:nvSpPr>
        <p:spPr>
          <a:xfrm>
            <a:off x="1008000" y="5886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_section_title"/>
          <p:cNvSpPr txBox="1"/>
          <p:nvPr/>
        </p:nvSpPr>
        <p:spPr>
          <a:xfrm>
            <a:off x="1440000" y="1800000"/>
            <a:ext cx="9360000" cy="1260000"/>
          </a:xfrm>
          <a:prstGeom prst="rect">
            <a:avLst/>
          </a:prstGeom>
          <a:noFill/>
        </p:spPr>
        <p:txBody>
          <a:bodyPr wrap="square" lIns="90000" rIns="90000" tIns="46800" bIns="4680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4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التواصل باستخدام البيانات</a:t>
            </a:r>
          </a:p>
        </p:txBody>
      </p:sp>
      <p:sp>
        <p:nvSpPr>
          <p:cNvPr id="13" name="divider_line"/>
          <p:cNvSpPr/>
          <p:nvPr/>
        </p:nvSpPr>
        <p:spPr>
          <a:xfrm>
            <a:off x="3240000" y="3131999"/>
            <a:ext cx="540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xt_section_subtitle"/>
          <p:cNvSpPr txBox="1"/>
          <p:nvPr/>
        </p:nvSpPr>
        <p:spPr>
          <a:xfrm>
            <a:off x="1440000" y="3348000"/>
            <a:ext cx="936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جعل البيانات مفهومة للجميع</a:t>
            </a:r>
          </a:p>
        </p:txBody>
      </p:sp>
      <p:sp>
        <p:nvSpPr>
          <p:cNvPr id="15" name="dot_section_1"/>
          <p:cNvSpPr/>
          <p:nvPr/>
        </p:nvSpPr>
        <p:spPr>
          <a:xfrm>
            <a:off x="4836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t_section_2"/>
          <p:cNvSpPr/>
          <p:nvPr/>
        </p:nvSpPr>
        <p:spPr>
          <a:xfrm>
            <a:off x="5412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t_section_3"/>
          <p:cNvSpPr/>
          <p:nvPr/>
        </p:nvSpPr>
        <p:spPr>
          <a:xfrm>
            <a:off x="5988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t_section_4"/>
          <p:cNvSpPr/>
          <p:nvPr/>
        </p:nvSpPr>
        <p:spPr>
          <a:xfrm>
            <a:off x="6528000" y="5742000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t_section_5"/>
          <p:cNvSpPr/>
          <p:nvPr/>
        </p:nvSpPr>
        <p:spPr>
          <a:xfrm>
            <a:off x="7140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تواصل جيد مقابل تواصل سيء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عقلية البيانات التعلم والتواصل باستخدام البيانات — الفصل الثالث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تواصل جيد مقابل تواصل سيء</a:t>
            </a:r>
          </a:p>
        </p:txBody>
      </p:sp>
      <p:sp>
        <p:nvSpPr>
          <p:cNvPr id="6" name="bg_col1_card"/>
          <p:cNvSpPr/>
          <p:nvPr/>
        </p:nvSpPr>
        <p:spPr>
          <a:xfrm>
            <a:off x="6012000" y="1692000"/>
            <a:ext cx="5076000" cy="381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_col1_title"/>
          <p:cNvSpPr txBox="1"/>
          <p:nvPr/>
        </p:nvSpPr>
        <p:spPr>
          <a:xfrm>
            <a:off x="612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تواصل سيء ❌</a:t>
            </a:r>
          </a:p>
        </p:txBody>
      </p:sp>
      <p:sp>
        <p:nvSpPr>
          <p:cNvPr id="8" name="Rectangle 7"/>
          <p:cNvSpPr/>
          <p:nvPr/>
        </p:nvSpPr>
        <p:spPr>
          <a:xfrm>
            <a:off x="6840000" y="2340000"/>
            <a:ext cx="3420000" cy="5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_col1_body"/>
          <p:cNvSpPr txBox="1"/>
          <p:nvPr/>
        </p:nvSpPr>
        <p:spPr>
          <a:xfrm>
            <a:off x="612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جداول ضخمة بمئات الأرقام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بيانات بدون سياق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عرض معقد يحتاج خبير</a:t>
            </a:r>
          </a:p>
        </p:txBody>
      </p:sp>
      <p:sp>
        <p:nvSpPr>
          <p:cNvPr id="10" name="bg_col2_card"/>
          <p:cNvSpPr/>
          <p:nvPr/>
        </p:nvSpPr>
        <p:spPr>
          <a:xfrm>
            <a:off x="792000" y="1692000"/>
            <a:ext cx="5076000" cy="381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xt_col2_title"/>
          <p:cNvSpPr txBox="1"/>
          <p:nvPr/>
        </p:nvSpPr>
        <p:spPr>
          <a:xfrm>
            <a:off x="90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تواصل جيد 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20000" y="2340000"/>
            <a:ext cx="3420000" cy="5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col2_body"/>
          <p:cNvSpPr txBox="1"/>
          <p:nvPr/>
        </p:nvSpPr>
        <p:spPr>
          <a:xfrm>
            <a:off x="90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رسوم بيانية واضحة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إنفوجرافيك بسيط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لوحات معلومات تفاعلية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إنترنت الأشياء والجيل الخامس</a:t>
            </a:r>
          </a:p>
        </p:txBody>
      </p:sp>
      <p:sp>
        <p:nvSpPr>
          <p:cNvPr id="3" name="bg_divider"/>
          <p:cNvSpPr/>
          <p:nvPr/>
        </p:nvSpPr>
        <p:spPr>
          <a:xfrm>
            <a:off x="720000" y="720000"/>
            <a:ext cx="10752000" cy="5418000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divider_depth"/>
          <p:cNvSpPr/>
          <p:nvPr/>
        </p:nvSpPr>
        <p:spPr>
          <a:xfrm>
            <a:off x="720000" y="5418000"/>
            <a:ext cx="10752000" cy="720000"/>
          </a:xfrm>
          <a:prstGeom prst="rect">
            <a:avLst/>
          </a:prstGeom>
          <a:solidFill>
            <a:srgbClr val="1E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cent_right_bar"/>
          <p:cNvSpPr/>
          <p:nvPr/>
        </p:nvSpPr>
        <p:spPr>
          <a:xfrm>
            <a:off x="11292000" y="720000"/>
            <a:ext cx="108000" cy="54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_corner_tr_h"/>
          <p:cNvSpPr/>
          <p:nvPr/>
        </p:nvSpPr>
        <p:spPr>
          <a:xfrm>
            <a:off x="9672000" y="900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corner_tr_v"/>
          <p:cNvSpPr/>
          <p:nvPr/>
        </p:nvSpPr>
        <p:spPr>
          <a:xfrm>
            <a:off x="11112000" y="900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_corner_bl_h"/>
          <p:cNvSpPr/>
          <p:nvPr/>
        </p:nvSpPr>
        <p:spPr>
          <a:xfrm>
            <a:off x="1080000" y="5958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co_corner_bl_v"/>
          <p:cNvSpPr/>
          <p:nvPr/>
        </p:nvSpPr>
        <p:spPr>
          <a:xfrm>
            <a:off x="1080000" y="4518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_corner_bl_dot"/>
          <p:cNvSpPr/>
          <p:nvPr/>
        </p:nvSpPr>
        <p:spPr>
          <a:xfrm>
            <a:off x="1008000" y="5886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_section_title"/>
          <p:cNvSpPr txBox="1"/>
          <p:nvPr/>
        </p:nvSpPr>
        <p:spPr>
          <a:xfrm>
            <a:off x="1440000" y="1800000"/>
            <a:ext cx="9360000" cy="1260000"/>
          </a:xfrm>
          <a:prstGeom prst="rect">
            <a:avLst/>
          </a:prstGeom>
          <a:noFill/>
        </p:spPr>
        <p:txBody>
          <a:bodyPr wrap="square" lIns="90000" rIns="90000" tIns="46800" bIns="4680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4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إنترنت الأشياء والجيل الخامس</a:t>
            </a:r>
          </a:p>
        </p:txBody>
      </p:sp>
      <p:sp>
        <p:nvSpPr>
          <p:cNvPr id="13" name="divider_line"/>
          <p:cNvSpPr/>
          <p:nvPr/>
        </p:nvSpPr>
        <p:spPr>
          <a:xfrm>
            <a:off x="3240000" y="3131999"/>
            <a:ext cx="540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xt_section_subtitle"/>
          <p:cNvSpPr txBox="1"/>
          <p:nvPr/>
        </p:nvSpPr>
        <p:spPr>
          <a:xfrm>
            <a:off x="1440000" y="3348000"/>
            <a:ext cx="936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أمثلة عملية من الواقع</a:t>
            </a:r>
          </a:p>
        </p:txBody>
      </p:sp>
      <p:sp>
        <p:nvSpPr>
          <p:cNvPr id="15" name="dot_section_1"/>
          <p:cNvSpPr/>
          <p:nvPr/>
        </p:nvSpPr>
        <p:spPr>
          <a:xfrm>
            <a:off x="4836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t_section_2"/>
          <p:cNvSpPr/>
          <p:nvPr/>
        </p:nvSpPr>
        <p:spPr>
          <a:xfrm>
            <a:off x="5412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t_section_3"/>
          <p:cNvSpPr/>
          <p:nvPr/>
        </p:nvSpPr>
        <p:spPr>
          <a:xfrm>
            <a:off x="5988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t_section_4"/>
          <p:cNvSpPr/>
          <p:nvPr/>
        </p:nvSpPr>
        <p:spPr>
          <a:xfrm>
            <a:off x="6564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t_section_5"/>
          <p:cNvSpPr/>
          <p:nvPr/>
        </p:nvSpPr>
        <p:spPr>
          <a:xfrm>
            <a:off x="7104000" y="5742000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إنترنت الأشياء (IoT)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عقلية البيانات التعلم والتواصل باستخدام البيانات — الفصل الثالث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إنترنت الأشياء (IoT)</a:t>
            </a:r>
          </a:p>
        </p:txBody>
      </p:sp>
      <p:sp>
        <p:nvSpPr>
          <p:cNvPr id="6" name="num_point_1"/>
          <p:cNvSpPr/>
          <p:nvPr/>
        </p:nvSpPr>
        <p:spPr>
          <a:xfrm>
            <a:off x="10512000" y="1980000"/>
            <a:ext cx="648000" cy="64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7" name="txt_point_1"/>
          <p:cNvSpPr txBox="1"/>
          <p:nvPr/>
        </p:nvSpPr>
        <p:spPr>
          <a:xfrm>
            <a:off x="1080000" y="1980000"/>
            <a:ext cx="9252000" cy="64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الأجهزة اليومية المتصلة بالإنترنت</a:t>
            </a:r>
          </a:p>
        </p:txBody>
      </p:sp>
      <p:sp>
        <p:nvSpPr>
          <p:cNvPr id="8" name="num_point_2"/>
          <p:cNvSpPr/>
          <p:nvPr/>
        </p:nvSpPr>
        <p:spPr>
          <a:xfrm>
            <a:off x="10512000" y="2880000"/>
            <a:ext cx="648000" cy="64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9" name="txt_point_2"/>
          <p:cNvSpPr txBox="1"/>
          <p:nvPr/>
        </p:nvSpPr>
        <p:spPr>
          <a:xfrm>
            <a:off x="1080000" y="2880000"/>
            <a:ext cx="9252000" cy="64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أول مثال: آلة بيع كوكاكولا في الثمانينات</a:t>
            </a:r>
          </a:p>
        </p:txBody>
      </p:sp>
      <p:sp>
        <p:nvSpPr>
          <p:cNvPr id="10" name="num_point_3"/>
          <p:cNvSpPr/>
          <p:nvPr/>
        </p:nvSpPr>
        <p:spPr>
          <a:xfrm>
            <a:off x="10512000" y="3780000"/>
            <a:ext cx="648000" cy="64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  <p:sp>
        <p:nvSpPr>
          <p:cNvPr id="11" name="txt_point_3"/>
          <p:cNvSpPr txBox="1"/>
          <p:nvPr/>
        </p:nvSpPr>
        <p:spPr>
          <a:xfrm>
            <a:off x="1080000" y="3780000"/>
            <a:ext cx="9252000" cy="64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اليوم: الثلاجات والساعات والمنازل الذكية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شبكات الجيل الخامس (5G)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عقلية البيانات التعلم والتواصل باستخدام البيانات — الفصل الثالث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شبكات الجيل الخامس (5G)</a:t>
            </a:r>
          </a:p>
        </p:txBody>
      </p:sp>
      <p:sp>
        <p:nvSpPr>
          <p:cNvPr id="6" name="bg_content_card"/>
          <p:cNvSpPr/>
          <p:nvPr/>
        </p:nvSpPr>
        <p:spPr>
          <a:xfrm>
            <a:off x="900000" y="1692000"/>
            <a:ext cx="10440000" cy="435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_body"/>
          <p:cNvSpPr txBox="1"/>
          <p:nvPr/>
        </p:nvSpPr>
        <p:spPr>
          <a:xfrm>
            <a:off x="1080000" y="1800000"/>
            <a:ext cx="1008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سرعات إنترنت أعلى بكثير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ربط عدد أكبر من الأجهزة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تمكين السيارات ذاتية القيادة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دعم تطبيقات إنترنت الأشياء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الخصوصية والأخلاقيات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عقلية البيانات التعلم والتواصل باستخدام البيانات — الفصل الثالث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الخصوصية والأخلاقيات</a:t>
            </a:r>
          </a:p>
        </p:txBody>
      </p:sp>
      <p:sp>
        <p:nvSpPr>
          <p:cNvPr id="6" name="bg_col1_card"/>
          <p:cNvSpPr/>
          <p:nvPr/>
        </p:nvSpPr>
        <p:spPr>
          <a:xfrm>
            <a:off x="6012000" y="1692000"/>
            <a:ext cx="5076000" cy="381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_col1_title"/>
          <p:cNvSpPr txBox="1"/>
          <p:nvPr/>
        </p:nvSpPr>
        <p:spPr>
          <a:xfrm>
            <a:off x="612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المشاكل ⚠️</a:t>
            </a:r>
          </a:p>
        </p:txBody>
      </p:sp>
      <p:sp>
        <p:nvSpPr>
          <p:cNvPr id="8" name="Rectangle 7"/>
          <p:cNvSpPr/>
          <p:nvPr/>
        </p:nvSpPr>
        <p:spPr>
          <a:xfrm>
            <a:off x="6840000" y="2340000"/>
            <a:ext cx="3420000" cy="5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_col1_body"/>
          <p:cNvSpPr txBox="1"/>
          <p:nvPr/>
        </p:nvSpPr>
        <p:spPr>
          <a:xfrm>
            <a:off x="612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الإعلانات الموجّهة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المراقبة الشاملة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خروقات البيانات</a:t>
            </a:r>
          </a:p>
        </p:txBody>
      </p:sp>
      <p:sp>
        <p:nvSpPr>
          <p:cNvPr id="10" name="bg_col2_card"/>
          <p:cNvSpPr/>
          <p:nvPr/>
        </p:nvSpPr>
        <p:spPr>
          <a:xfrm>
            <a:off x="792000" y="1692000"/>
            <a:ext cx="5076000" cy="381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xt_col2_title"/>
          <p:cNvSpPr txBox="1"/>
          <p:nvPr/>
        </p:nvSpPr>
        <p:spPr>
          <a:xfrm>
            <a:off x="90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الحلول 🛡️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20000" y="2340000"/>
            <a:ext cx="3420000" cy="5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col2_body"/>
          <p:cNvSpPr txBox="1"/>
          <p:nvPr/>
        </p:nvSpPr>
        <p:spPr>
          <a:xfrm>
            <a:off x="90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قوانين حماية البيانات (GDPR)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رفع وعي المستخدمين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ضبط إعدادات الخصوصية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نشاط: أي من التالي حل لحماية خصوصية 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عقلية البيانات التعلم والتواصل باستخدام البيانات — الفصل الثالث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تفاعلي: اختيار من متعدد</a:t>
            </a:r>
          </a:p>
        </p:txBody>
      </p:sp>
      <p:sp>
        <p:nvSpPr>
          <p:cNvPr id="6" name="txt_question"/>
          <p:cNvSpPr txBox="1"/>
          <p:nvPr/>
        </p:nvSpPr>
        <p:spPr>
          <a:xfrm>
            <a:off x="900000" y="18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أي من التالي حل لحماية خصوصية البيانات؟</a:t>
            </a:r>
          </a:p>
        </p:txBody>
      </p:sp>
      <p:sp>
        <p:nvSpPr>
          <p:cNvPr id="7" name="bg_opt_a"/>
          <p:cNvSpPr/>
          <p:nvPr/>
        </p:nvSpPr>
        <p:spPr>
          <a:xfrm>
            <a:off x="900000" y="2664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pt_a"/>
          <p:cNvSpPr/>
          <p:nvPr/>
        </p:nvSpPr>
        <p:spPr>
          <a:xfrm>
            <a:off x="10260000" y="2736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أ</a:t>
            </a:r>
          </a:p>
        </p:txBody>
      </p:sp>
      <p:sp>
        <p:nvSpPr>
          <p:cNvPr id="9" name="txt_opt_a"/>
          <p:cNvSpPr txBox="1"/>
          <p:nvPr/>
        </p:nvSpPr>
        <p:spPr>
          <a:xfrm>
            <a:off x="1080000" y="2700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مشاركة كلمات المرور</a:t>
            </a:r>
          </a:p>
        </p:txBody>
      </p:sp>
      <p:sp>
        <p:nvSpPr>
          <p:cNvPr id="10" name="bg_opt_b"/>
          <p:cNvSpPr/>
          <p:nvPr/>
        </p:nvSpPr>
        <p:spPr>
          <a:xfrm>
            <a:off x="900000" y="3456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pt_b"/>
          <p:cNvSpPr/>
          <p:nvPr/>
        </p:nvSpPr>
        <p:spPr>
          <a:xfrm>
            <a:off x="10260000" y="3528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ب</a:t>
            </a:r>
          </a:p>
        </p:txBody>
      </p:sp>
      <p:sp>
        <p:nvSpPr>
          <p:cNvPr id="12" name="txt_opt_b"/>
          <p:cNvSpPr txBox="1"/>
          <p:nvPr/>
        </p:nvSpPr>
        <p:spPr>
          <a:xfrm>
            <a:off x="1080000" y="3492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اللائحة العامة GDPR</a:t>
            </a:r>
          </a:p>
        </p:txBody>
      </p:sp>
      <p:sp>
        <p:nvSpPr>
          <p:cNvPr id="13" name="bg_opt_c"/>
          <p:cNvSpPr/>
          <p:nvPr/>
        </p:nvSpPr>
        <p:spPr>
          <a:xfrm>
            <a:off x="900000" y="4248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pt_c"/>
          <p:cNvSpPr/>
          <p:nvPr/>
        </p:nvSpPr>
        <p:spPr>
          <a:xfrm>
            <a:off x="1026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ج</a:t>
            </a:r>
          </a:p>
        </p:txBody>
      </p:sp>
      <p:sp>
        <p:nvSpPr>
          <p:cNvPr id="15" name="txt_opt_c"/>
          <p:cNvSpPr txBox="1"/>
          <p:nvPr/>
        </p:nvSpPr>
        <p:spPr>
          <a:xfrm>
            <a:off x="1080000" y="4284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تجاهل الخصوصية</a:t>
            </a:r>
          </a:p>
        </p:txBody>
      </p:sp>
      <p:sp>
        <p:nvSpPr>
          <p:cNvPr id="16" name="bg_opt_d"/>
          <p:cNvSpPr/>
          <p:nvPr/>
        </p:nvSpPr>
        <p:spPr>
          <a:xfrm>
            <a:off x="900000" y="5040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pt_d"/>
          <p:cNvSpPr/>
          <p:nvPr/>
        </p:nvSpPr>
        <p:spPr>
          <a:xfrm>
            <a:off x="10260000" y="5112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د</a:t>
            </a:r>
          </a:p>
        </p:txBody>
      </p:sp>
      <p:sp>
        <p:nvSpPr>
          <p:cNvPr id="18" name="txt_opt_d"/>
          <p:cNvSpPr txBox="1"/>
          <p:nvPr/>
        </p:nvSpPr>
        <p:spPr>
          <a:xfrm>
            <a:off x="1080000" y="5076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نشر البيانات الشخصية</a:t>
            </a:r>
          </a:p>
        </p:txBody>
      </p:sp>
      <p:sp>
        <p:nvSpPr>
          <p:cNvPr id="19" name="btn_check"/>
          <p:cNvSpPr/>
          <p:nvPr/>
        </p:nvSpPr>
        <p:spPr>
          <a:xfrm>
            <a:off x="3600000" y="5760000"/>
            <a:ext cx="3600000" cy="576000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2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تحقق من الإجابة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نشاط تفاعلي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عقلية البيانات التعلم والتواصل باستخدام البيانات — الفصل الثالث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تفاعلي</a:t>
            </a:r>
          </a:p>
        </p:txBody>
      </p:sp>
      <p:sp>
        <p:nvSpPr>
          <p:cNvPr id="6" name="txt_instruction"/>
          <p:cNvSpPr txBox="1"/>
          <p:nvPr/>
        </p:nvSpPr>
        <p:spPr>
          <a:xfrm>
            <a:off x="900000" y="1620000"/>
            <a:ext cx="104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ما البيانات التي تنتجها يومياً؟ اضغط لتكتشف</a:t>
            </a:r>
          </a:p>
        </p:txBody>
      </p:sp>
      <p:sp>
        <p:nvSpPr>
          <p:cNvPr id="7" name="btn_reveal_1"/>
          <p:cNvSpPr/>
          <p:nvPr/>
        </p:nvSpPr>
        <p:spPr>
          <a:xfrm>
            <a:off x="900000" y="2520000"/>
            <a:ext cx="2430000" cy="900000"/>
          </a:xfrm>
          <a:prstGeom prst="roundRect">
            <a:avLst>
              <a:gd name="adj" fmla="val 8000"/>
            </a:avLst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النوم</a:t>
            </a:r>
          </a:p>
        </p:txBody>
      </p:sp>
      <p:sp>
        <p:nvSpPr>
          <p:cNvPr id="8" name="btn_reveal_2"/>
          <p:cNvSpPr/>
          <p:nvPr/>
        </p:nvSpPr>
        <p:spPr>
          <a:xfrm>
            <a:off x="3510000" y="2520000"/>
            <a:ext cx="2430000" cy="900000"/>
          </a:xfrm>
          <a:prstGeom prst="roundRect">
            <a:avLst>
              <a:gd name="adj" fmla="val 8000"/>
            </a:avLst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الإنترنت</a:t>
            </a:r>
          </a:p>
        </p:txBody>
      </p:sp>
      <p:sp>
        <p:nvSpPr>
          <p:cNvPr id="9" name="btn_reveal_3"/>
          <p:cNvSpPr/>
          <p:nvPr/>
        </p:nvSpPr>
        <p:spPr>
          <a:xfrm>
            <a:off x="6120000" y="2520000"/>
            <a:ext cx="2430000" cy="900000"/>
          </a:xfrm>
          <a:prstGeom prst="roundRect">
            <a:avLst>
              <a:gd name="adj" fmla="val 8000"/>
            </a:avLst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الحركة</a:t>
            </a:r>
          </a:p>
        </p:txBody>
      </p:sp>
      <p:sp>
        <p:nvSpPr>
          <p:cNvPr id="10" name="btn_reveal_4"/>
          <p:cNvSpPr/>
          <p:nvPr/>
        </p:nvSpPr>
        <p:spPr>
          <a:xfrm>
            <a:off x="8730000" y="2520000"/>
            <a:ext cx="2430000" cy="900000"/>
          </a:xfrm>
          <a:prstGeom prst="roundRect">
            <a:avLst>
              <a:gd name="adj" fmla="val 8000"/>
            </a:avLst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التواصل</a:t>
            </a:r>
          </a:p>
        </p:txBody>
      </p:sp>
      <p:sp>
        <p:nvSpPr>
          <p:cNvPr id="11" name="bg_reveal_desc"/>
          <p:cNvSpPr/>
          <p:nvPr/>
        </p:nvSpPr>
        <p:spPr>
          <a:xfrm>
            <a:off x="900000" y="3780000"/>
            <a:ext cx="10260000" cy="1800000"/>
          </a:xfrm>
          <a:prstGeom prst="roundRect">
            <a:avLst/>
          </a:prstGeom>
          <a:solidFill>
            <a:srgbClr val="E3F2FD"/>
          </a:solidFill>
          <a:ln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ccent_desc_bar"/>
          <p:cNvSpPr/>
          <p:nvPr/>
        </p:nvSpPr>
        <p:spPr>
          <a:xfrm>
            <a:off x="10980000" y="3780000"/>
            <a:ext cx="144000" cy="1800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reveal_desc"/>
          <p:cNvSpPr txBox="1"/>
          <p:nvPr/>
        </p:nvSpPr>
        <p:spPr>
          <a:xfrm>
            <a:off x="1080000" y="3960000"/>
            <a:ext cx="9900000" cy="14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ساعات النوم من تطبيق الصحة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ملخص المحاضرة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عقلية البيانات التعلم والتواصل باستخدام البيانات — الفصل الثالث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ملخّص الوحدة الدراسيّة</a:t>
            </a:r>
          </a:p>
        </p:txBody>
      </p:sp>
      <p:sp>
        <p:nvSpPr>
          <p:cNvPr id="6" name="bg_summary_card"/>
          <p:cNvSpPr/>
          <p:nvPr/>
        </p:nvSpPr>
        <p:spPr>
          <a:xfrm>
            <a:off x="720000" y="1512000"/>
            <a:ext cx="10800000" cy="378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_summary"/>
          <p:cNvSpPr txBox="1"/>
          <p:nvPr/>
        </p:nvSpPr>
        <p:spPr>
          <a:xfrm>
            <a:off x="900000" y="1620000"/>
            <a:ext cx="10440000" cy="36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عقلية البيانات = التفكير + التعلّم + التواصل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البيانات الضخمة: الحجم والسرعة والتنوع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جودة البيانات: الدقة والاكتمال والاتساق والتوقيت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التواصل الفعّال يحوّل البيانات لقرارات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الخصوصية والأخلاقيات مسؤولية الجميع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شكراً لكم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card"/>
          <p:cNvSpPr/>
          <p:nvPr/>
        </p:nvSpPr>
        <p:spPr>
          <a:xfrm>
            <a:off x="1080000" y="1080000"/>
            <a:ext cx="10032000" cy="469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_corner_tr_h"/>
          <p:cNvSpPr/>
          <p:nvPr/>
        </p:nvSpPr>
        <p:spPr>
          <a:xfrm>
            <a:off x="10032000" y="900000"/>
            <a:ext cx="1080000" cy="254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_corner_tr_v"/>
          <p:cNvSpPr/>
          <p:nvPr/>
        </p:nvSpPr>
        <p:spPr>
          <a:xfrm>
            <a:off x="11112000" y="900000"/>
            <a:ext cx="25400" cy="10800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thanks"/>
          <p:cNvSpPr txBox="1"/>
          <p:nvPr/>
        </p:nvSpPr>
        <p:spPr>
          <a:xfrm>
            <a:off x="1800000" y="1800000"/>
            <a:ext cx="864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36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شكراً لكم</a:t>
            </a:r>
          </a:p>
        </p:txBody>
      </p:sp>
      <p:sp>
        <p:nvSpPr>
          <p:cNvPr id="9" name="accent_steps_line"/>
          <p:cNvSpPr/>
          <p:nvPr/>
        </p:nvSpPr>
        <p:spPr>
          <a:xfrm>
            <a:off x="3600000" y="2700000"/>
            <a:ext cx="5040000" cy="36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_next_steps_label"/>
          <p:cNvSpPr txBox="1"/>
          <p:nvPr/>
        </p:nvSpPr>
        <p:spPr>
          <a:xfrm>
            <a:off x="1800000" y="288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الخطوات القادمة:</a:t>
            </a:r>
          </a:p>
        </p:txBody>
      </p:sp>
      <p:sp>
        <p:nvSpPr>
          <p:cNvPr id="11" name="num_step_1"/>
          <p:cNvSpPr/>
          <p:nvPr/>
        </p:nvSpPr>
        <p:spPr>
          <a:xfrm>
            <a:off x="8640000" y="360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12" name="txt_step_1"/>
          <p:cNvSpPr txBox="1"/>
          <p:nvPr/>
        </p:nvSpPr>
        <p:spPr>
          <a:xfrm>
            <a:off x="2160000" y="360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الدرس القادم: تاريخ وأساسيات الذكاء الاصطناعي</a:t>
            </a:r>
          </a:p>
        </p:txBody>
      </p:sp>
      <p:sp>
        <p:nvSpPr>
          <p:cNvPr id="13" name="num_step_2"/>
          <p:cNvSpPr/>
          <p:nvPr/>
        </p:nvSpPr>
        <p:spPr>
          <a:xfrm>
            <a:off x="864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14" name="txt_step_2"/>
          <p:cNvSpPr txBox="1"/>
          <p:nvPr/>
        </p:nvSpPr>
        <p:spPr>
          <a:xfrm>
            <a:off x="2160000" y="432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من البيانات إلى الأنماط إلى المعرفة إلى الذكاء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2025-11-02T06:11:04Z</dcterms:created>
  <dc:creator>hadeel alserhan</dc:creator>
</cp:coreProperties>
</file>