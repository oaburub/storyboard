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13"/>
    <p:sldId id="257" r:id="rId12"/>
    <p:sldId id="258" r:id="rId11"/>
    <p:sldId id="259" r:id="rId10"/>
    <p:sldId id="260" r:id="rId9"/>
    <p:sldId id="261" r:id="rId8"/>
    <p:sldId id="262" r:id="rId7"/>
    <p:sldId id="263" r:id="rId6"/>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Lst>
  <p:sldSz cy="6858000" cx="12192000"/>
  <p:notesSz cx="6858000" cy="9144000"/>
  <p:embeddedFontLst>
    <p:embeddedFont>
      <p:font typeface="Play"/>
      <p:regular r:id="rId14"/>
      <p:bold r:id="rId15"/>
    </p:embeddedFont>
    <p:embeddedFont>
      <p:font typeface="Tajawal ExtraBold"/>
      <p:bold r:id="rId16"/>
    </p:embeddedFont>
    <p:embeddedFont>
      <p:font typeface="Tajawal Medium"/>
      <p:regular r:id="rId17"/>
      <p:bold r:id="rId18"/>
    </p:embeddedFont>
    <p:embeddedFont>
      <p:font typeface="Tajawal"/>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840">
          <p15:clr>
            <a:srgbClr val="A4A3A4"/>
          </p15:clr>
        </p15:guide>
        <p15:guide id="3" orient="horz" pos="936">
          <p15:clr>
            <a:srgbClr val="A4A3A4"/>
          </p15:clr>
        </p15:guide>
        <p15:guide id="4" pos="4896">
          <p15:clr>
            <a:srgbClr val="A4A3A4"/>
          </p15:clr>
        </p15:guide>
        <p15:guide id="5" pos="6912">
          <p15:clr>
            <a:srgbClr val="A4A3A4"/>
          </p15:clr>
        </p15:guide>
        <p15:guide id="6" orient="horz" pos="1224">
          <p15:clr>
            <a:srgbClr val="A4A3A4"/>
          </p15:clr>
        </p15:guide>
        <p15:guide id="7" orient="horz" pos="3264">
          <p15:clr>
            <a:srgbClr val="A4A3A4"/>
          </p15:clr>
        </p15:guide>
      </p15:sldGuideLst>
    </p:ext>
    <p:ext uri="GoogleSlidesCustomDataVersion2">
      <go:slidesCustomData xmlns:go="http://customooxmlschemas.google.com/" r:id="rId21" roundtripDataSignature="AMtx7mjdE2pY+TZRQAyXDRzz/zrrGoHQ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840"/>
        <p:guide pos="936" orient="horz"/>
        <p:guide pos="4896"/>
        <p:guide pos="6912"/>
        <p:guide pos="1224" orient="horz"/>
        <p:guide pos="3264"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8.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5.xml"/><Relationship Id="rId10" Type="http://schemas.openxmlformats.org/officeDocument/2006/relationships/slide" Target="slides/slide4.xml"/><Relationship Id="rId11" Type="http://schemas.openxmlformats.org/officeDocument/2006/relationships/slide" Target="slides/slide3.xml"/><Relationship Id="rId12" Type="http://schemas.openxmlformats.org/officeDocument/2006/relationships/slide" Target="slides/slide2.xml"/><Relationship Id="rId13" Type="http://schemas.openxmlformats.org/officeDocument/2006/relationships/slide" Target="slides/slide1.xml"/><Relationship Id="rId14" Type="http://schemas.openxmlformats.org/officeDocument/2006/relationships/font" Target="fonts/Play-regular.fntdata"/><Relationship Id="rId15" Type="http://schemas.openxmlformats.org/officeDocument/2006/relationships/font" Target="fonts/Play-bold.fntdata"/><Relationship Id="rId16" Type="http://schemas.openxmlformats.org/officeDocument/2006/relationships/font" Target="fonts/TajawalExtraBold-bold.fntdata"/><Relationship Id="rId17" Type="http://schemas.openxmlformats.org/officeDocument/2006/relationships/font" Target="fonts/TajawalMedium-regular.fntdata"/><Relationship Id="rId18" Type="http://schemas.openxmlformats.org/officeDocument/2006/relationships/font" Target="fonts/TajawalMedium-bold.fntdata"/><Relationship Id="rId19" Type="http://schemas.openxmlformats.org/officeDocument/2006/relationships/font" Target="fonts/Tajawal-regular.fntdata"/><Relationship Id="rId20" Type="http://schemas.openxmlformats.org/officeDocument/2006/relationships/font" Target="fonts/Tajawal-bold.fntdata"/><Relationship Id="rId21" Type="http://customschemas.google.com/relationships/presentationmetadata" Target="metadata"/><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ar-JO"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360 IMPORT INSTRUCTIONS ===</a:t>
            </a:r>
          </a:p>
          <a:p/>
          <a:p>
            <a:r>
              <a:t>Project: NJR01</a:t>
            </a:r>
          </a:p>
          <a:p>
            <a:r>
              <a:t>Unit: 3</a:t>
            </a:r>
          </a:p>
          <a:p>
            <a:r>
              <a:t>Lecture: المحاضرة التفاعلية:</a:t>
            </a:r>
          </a:p>
          <a:p>
            <a:r>
              <a:t>Generated: 2026-02-22</a:t>
            </a:r>
          </a:p>
          <a:p>
            <a:r>
              <a:t>Designer: </a:t>
            </a:r>
          </a:p>
          <a:p/>
          <a:p>
            <a:r>
              <a:t>--- REQUIRED FONTS ---</a:t>
            </a:r>
          </a:p>
          <a:p>
            <a:r>
              <a:t>Install BEFORE importing:</a:t>
            </a:r>
          </a:p>
          <a:p>
            <a:r>
              <a:t>  1. Tajawal ExtraBold</a:t>
            </a:r>
          </a:p>
          <a:p>
            <a:r>
              <a:t>  2. Tajawal Medium</a:t>
            </a:r>
          </a:p>
          <a:p>
            <a:r>
              <a:t>  3. Tajawal (Regular)</a:t>
            </a:r>
          </a:p>
          <a:p>
            <a:r>
              <a:t>Download: https://fonts.google.com/specimen/Tajawal</a:t>
            </a:r>
          </a:p>
          <a:p/>
          <a:p>
            <a:r>
              <a:t>--- IMPORT STEPS ---</a:t>
            </a:r>
          </a:p>
          <a:p>
            <a:r>
              <a:t>1. File &gt; Import &gt; PowerPoint</a:t>
            </a:r>
          </a:p>
          <a:p>
            <a:r>
              <a:t>2. Select THIS .pptx file</a:t>
            </a:r>
          </a:p>
          <a:p>
            <a:r>
              <a:t>3. Import ALL slides</a:t>
            </a:r>
          </a:p>
          <a:p>
            <a:r>
              <a:t>4. Story Size: 1280 x 720 pixels (must match)</a:t>
            </a:r>
          </a:p>
          <a:p/>
          <a:p>
            <a:r>
              <a:t>--- POST-IMPORT QA ---</a:t>
            </a:r>
          </a:p>
          <a:p>
            <a:r>
              <a:t>[ ] Verify TOC shows Arabic slide titles (not 'Untitled')</a:t>
            </a:r>
          </a:p>
          <a:p>
            <a:r>
              <a:t>[ ] Verify fonts render correctly (Tajawal family)</a:t>
            </a:r>
          </a:p>
          <a:p>
            <a:r>
              <a:t>[ ] Check RTL text direction on all slides</a:t>
            </a:r>
          </a:p>
          <a:p>
            <a:r>
              <a:t>[ ] Test all interactive elements (buttons, quiz, drag-drop)</a:t>
            </a:r>
          </a:p>
          <a:p>
            <a:r>
              <a:t>[ ] Verify speaker notes contain Storyline instructions per slide</a:t>
            </a:r>
          </a:p>
          <a:p/>
          <a:p>
            <a:r>
              <a:t>--- SHAPE NAMING CONVENTION ---</a:t>
            </a:r>
          </a:p>
          <a:p>
            <a:r>
              <a:t>txt_*  = Text elements</a:t>
            </a:r>
          </a:p>
          <a:p>
            <a:r>
              <a:t>btn_*  = Clickable buttons (add triggers)</a:t>
            </a:r>
          </a:p>
          <a:p>
            <a:r>
              <a:t>icon_* = Decorative icons</a:t>
            </a:r>
          </a:p>
          <a:p>
            <a:r>
              <a:t>bg_*   = Background shapes</a:t>
            </a:r>
          </a:p>
          <a:p>
            <a:r>
              <a:t>opt_*  = Quiz option shapes (add triggers)</a:t>
            </a:r>
          </a:p>
          <a:p>
            <a:r>
              <a:t>num_*  = Numbered elements</a:t>
            </a:r>
          </a:p>
          <a:p>
            <a:r>
              <a:t>title  = Hidden TOC title (do not move)</a:t>
            </a:r>
          </a:p>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narration_s03.mp3</a:t>
            </a:r>
          </a:p>
          <a:p/>
          <a:p>
            <a:r>
              <a:t>Layers:</a:t>
            </a:r>
          </a:p>
          <a:p>
            <a:r>
              <a:t>- base (default visible)</a:t>
            </a:r>
          </a:p>
          <a:p/>
          <a:p>
            <a:r>
              <a:t>Triggers:</a:t>
            </a:r>
          </a:p>
          <a:p>
            <a:r>
              <a:t>1. Staggered fade entrance for each stat card (0.3s delay)</a:t>
            </a:r>
          </a:p>
          <a:p>
            <a:r>
              <a:t>2. Play media narration_s03 when timeline starts</a:t>
            </a:r>
          </a:p>
          <a:p/>
          <a:p>
            <a:r>
              <a:t>=== NARRATOR SCRIPT ===</a:t>
            </a:r>
          </a:p>
          <a:p>
            <a:r>
              <a:t>هل تعلم أن كل دقيقة يُرفع أكثر من 500 ساعة فيديو على يوتيوب؟ وأن العالم ينتج يومياً 2.5 كوينتيليون بايت من البيانات؟ هذا الكم الهائل يتطلب منا عقلية جديدة للتعامل معه.</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narration_s05.mp3</a:t>
            </a:r>
          </a:p>
          <a:p/>
          <a:p>
            <a:r>
              <a:t>Layers:</a:t>
            </a:r>
          </a:p>
          <a:p>
            <a:r>
              <a:t>- base (default visible)</a:t>
            </a:r>
          </a:p>
          <a:p/>
          <a:p>
            <a:r>
              <a:t>Triggers:</a:t>
            </a:r>
          </a:p>
          <a:p>
            <a:r>
              <a:t>1. Animate bullets one at a time (Fade entrance, 0.3s delay)</a:t>
            </a:r>
          </a:p>
          <a:p>
            <a:r>
              <a:t>2. Play media narration_s05 when timeline starts</a:t>
            </a:r>
          </a:p>
          <a:p/>
          <a:p>
            <a:r>
              <a:t>=== NARRATOR SCRIPT ===</a:t>
            </a:r>
          </a:p>
          <a:p>
            <a:r>
              <a:t>نحن نعيش في عالم تُنتج فيه كميات هائلة من البيانات كل ثانية. التغريدات التي نكتبها والصور التي نشاركها وحتى عمليات التسوق الإلكتروني — كلها تولّد بيانات. من يفهم هذه البيانات ويتعامل معها بذكاء يستطيع اتخاذ قرارات أفضل.</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click-reveal</a:t>
            </a:r>
          </a:p>
          <a:p>
            <a:r>
              <a:t>Duration: learner-paced</a:t>
            </a:r>
          </a:p>
          <a:p/>
          <a:p>
            <a:r>
              <a:t>Layers:</a:t>
            </a:r>
          </a:p>
          <a:p>
            <a:r>
              <a:t>- base (default visible) — contains tab buttons</a:t>
            </a:r>
          </a:p>
          <a:p>
            <a:r>
              <a:t>- detail_1: التعرف على البيانات</a:t>
            </a:r>
          </a:p>
          <a:p>
            <a:r>
              <a:t>- detail_2: التعلم من البيانات</a:t>
            </a:r>
          </a:p>
          <a:p>
            <a:r>
              <a:t>- detail_3: التواصل بالبيانات</a:t>
            </a:r>
          </a:p>
          <a:p>
            <a:r>
              <a:t>- completion: أحسنت! لقد استكشفت جميع مكونات عقلية البيانات</a:t>
            </a:r>
          </a:p>
          <a:p/>
          <a:p>
            <a:r>
              <a:t>States:</a:t>
            </a:r>
          </a:p>
          <a:p>
            <a:r>
              <a:t>- btn_tab1: [Normal, Hover, Visited]</a:t>
            </a:r>
          </a:p>
          <a:p>
            <a:r>
              <a:t>- btn_tab2: [Normal, Hover, Visited]</a:t>
            </a:r>
          </a:p>
          <a:p>
            <a:r>
              <a:t>- btn_tab3: [Normal, Hover, Visited]</a:t>
            </a:r>
          </a:p>
          <a:p/>
          <a:p>
            <a:r>
              <a:t>Triggers:</a:t>
            </a:r>
          </a:p>
          <a:p>
            <a:r>
              <a:t>1. Show layer detail_1 when user clicks btn_tab1, Set state to Visited, Add 1 to clickCount</a:t>
            </a:r>
          </a:p>
          <a:p>
            <a:r>
              <a:t>2. Show layer detail_2 when user clicks btn_tab2, Set state to Visited, Add 1 to clickCount</a:t>
            </a:r>
          </a:p>
          <a:p>
            <a:r>
              <a:t>3. Show layer detail_3 when user clicks btn_tab3, Set state to Visited, Add 1 to clickCount</a:t>
            </a:r>
          </a:p>
          <a:p>
            <a:r>
              <a:t>4. Show layer completion when clickCount &gt;= 3</a:t>
            </a:r>
          </a:p>
          <a:p/>
          <a:p>
            <a:r>
              <a:t>Variables:</a:t>
            </a:r>
          </a:p>
          <a:p>
            <a:r>
              <a:t>- clickCount (Number, default 0): tracks revealed tabs</a:t>
            </a:r>
          </a:p>
          <a:p/>
          <a:p>
            <a:r>
              <a:t>=== STORYLINE INSTRUCTIONS ===</a:t>
            </a:r>
          </a:p>
          <a:p>
            <a:r>
              <a:t>Slide Type: Click to Reveal</a:t>
            </a:r>
          </a:p>
          <a:p>
            <a:r>
              <a:t>Items: btn_reveal_1, btn_reveal_2, btn_reveal_3</a:t>
            </a:r>
          </a:p>
          <a:p/>
          <a:p>
            <a:r>
              <a:t>=== LAYER INSTRUCTIONS ===</a:t>
            </a:r>
          </a:p>
          <a:p>
            <a:r>
              <a:t>Layer 1: Show content when btn_reveal_1 clicked — التعرف على البيانات</a:t>
            </a:r>
          </a:p>
          <a:p>
            <a:r>
              <a:t>Layer 2: Show content when btn_reveal_2 clicked — التعلم من البيانات</a:t>
            </a:r>
          </a:p>
          <a:p>
            <a:r>
              <a:t>Layer 3: Show content when btn_reveal_3 clicked — التواصل بالبيانات</a:t>
            </a:r>
          </a:p>
          <a:p/>
          <a:p>
            <a:r>
              <a:t>=== CONTENT ===</a:t>
            </a:r>
          </a:p>
          <a:p>
            <a:r>
              <a:t>btn_reveal_1 (التعرف على البيانات): رؤية البيانات في كل مكان حولنا والتعرف على مصادرها المتعددة — من وسائل التواصل الاجتماعي إلى أجهزة الاستشعار</a:t>
            </a:r>
          </a:p>
          <a:p>
            <a:r>
              <a:t>btn_reveal_2 (التعلم من البيانات): استخدام البيانات لاكتشاف الأنماط وتحسين القرارات — مثل تحليل بيانات المبيعات لتحديد المنتجات الأكثر طلباً</a:t>
            </a:r>
          </a:p>
          <a:p>
            <a:r>
              <a:t>btn_reveal_3 (التواصل بالبيانات): تحويل الأرقام والبيانات إلى رسائل مفهومة يمكن مشاركتها مع الآخرين بوضوح باستخدام الرسوم البيانية والإنفوجرافيك</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narration_s07.mp3</a:t>
            </a:r>
          </a:p>
          <a:p/>
          <a:p>
            <a:r>
              <a:t>Layers:</a:t>
            </a:r>
          </a:p>
          <a:p>
            <a:r>
              <a:t>- base (default visible)</a:t>
            </a:r>
          </a:p>
          <a:p/>
          <a:p>
            <a:r>
              <a:t>Triggers:</a:t>
            </a:r>
          </a:p>
          <a:p>
            <a:r>
              <a:t>1. Staggered Grow/Shrink entrance for each icon card (0.3s delay)</a:t>
            </a:r>
          </a:p>
          <a:p>
            <a:r>
              <a:t>2. Play media narration_s07 when timeline starts</a:t>
            </a:r>
          </a:p>
          <a:p/>
          <a:p>
            <a:r>
              <a:t>=== NARRATOR SCRIPT ===</a:t>
            </a:r>
          </a:p>
          <a:p>
            <a:r>
              <a:t>عقلية البيانات ليست مفهوماً نظرياً فقط — بل هي جزء من حياتك اليومية. عندما تتصفح وسائل التواصل الاجتماعي أو تتسوق إلكترونياً أو تستخدم ساعتك الذكية — كلها أمثلة على توليد واستخدام البيانات.</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narration_s09.mp3</a:t>
            </a:r>
          </a:p>
          <a:p/>
          <a:p>
            <a:r>
              <a:t>Layers:</a:t>
            </a:r>
          </a:p>
          <a:p>
            <a:r>
              <a:t>- base (default visible)</a:t>
            </a:r>
          </a:p>
          <a:p/>
          <a:p>
            <a:r>
              <a:t>Triggers:</a:t>
            </a:r>
          </a:p>
          <a:p>
            <a:r>
              <a:t>1. Sequential Fade entrance for bullets</a:t>
            </a:r>
          </a:p>
          <a:p>
            <a:r>
              <a:t>2. Play media narration_s09 when timeline starts</a:t>
            </a:r>
          </a:p>
          <a:p/>
          <a:p>
            <a:r>
              <a:t>=== NARRATOR SCRIPT ===</a:t>
            </a:r>
          </a:p>
          <a:p>
            <a:r>
              <a:t>البيانات الضخمة هي مجموعات من البيانات الكبيرة جداً التي لا يمكن التعامل معها بالأدوات التقليدية. تتميز بثلاث خصائص رئيسية نسميها نموذج 3V.</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narration_s10.mp3</a:t>
            </a:r>
          </a:p>
          <a:p/>
          <a:p>
            <a:r>
              <a:t>Layers:</a:t>
            </a:r>
          </a:p>
          <a:p>
            <a:r>
              <a:t>- base (default visible)</a:t>
            </a:r>
          </a:p>
          <a:p/>
          <a:p>
            <a:r>
              <a:t>Triggers:</a:t>
            </a:r>
          </a:p>
          <a:p>
            <a:r>
              <a:t>1. Staggered Wipe entrance from right for each step card (0.4s delay)</a:t>
            </a:r>
          </a:p>
          <a:p>
            <a:r>
              <a:t>2. Animate connecting arrows after cards appear</a:t>
            </a:r>
          </a:p>
          <a:p/>
          <a:p>
            <a:r>
              <a:t>=== NARRATOR SCRIPT ===</a:t>
            </a:r>
          </a:p>
          <a:p>
            <a:r>
              <a:t>خصائص البيانات الضخمة تُلخّص في ثلاثة أبعاد. الأول هو الحجم: الكمية الهائلة من البيانات. الثاني هو السرعة: سرعة إنشاء البيانات ومعالجتها. والثالث هو التنوع: أشكال مختلفة من البيانات.</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Quiz - Multiple Choice</a:t>
            </a:r>
          </a:p>
          <a:p>
            <a:r>
              <a:t>Correct Answer: ب (opt_b)</a:t>
            </a:r>
          </a:p>
          <a:p>
            <a:r>
              <a:t>Feedback (Correct): احسنت! الاجابة صحيحة</a:t>
            </a:r>
          </a:p>
          <a:p>
            <a:r>
              <a:t>Feedback (Incorrect): الاجابة غير صحيحة، حاول مرة اخرى</a:t>
            </a:r>
          </a:p>
          <a:p>
            <a:r>
              <a:t>Points: 10</a:t>
            </a:r>
          </a:p>
          <a:p>
            <a:r>
              <a:t>Attempts: 2</a:t>
            </a:r>
          </a:p>
          <a:p/>
          <a:p>
            <a:r>
              <a:t>=== FREEFORM SETUP ===</a:t>
            </a:r>
          </a:p>
          <a:p>
            <a:r>
              <a:t>1. Insert &gt; Convert to Freeform &gt; Pick One</a:t>
            </a:r>
          </a:p>
          <a:p>
            <a:r>
              <a:t>2. Assign opt_a, opt_b, opt_c, opt_d as choices</a:t>
            </a:r>
          </a:p>
          <a:p>
            <a:r>
              <a:t>3. Set opt_b as correct answer</a:t>
            </a:r>
          </a:p>
          <a:p>
            <a:r>
              <a:t>4. btn_check triggers submit</a:t>
            </a:r>
          </a:p>
          <a:p/>
          <a:p>
            <a:r>
              <a:t>=== NARRATOR SCRIPT ===</a:t>
            </a:r>
          </a:p>
          <a:p>
            <a:r>
              <a:t>أي من التالي مثال على خاصية السرعة (Velocity) في البيانات الضخمة؟</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narration_s12.mp3</a:t>
            </a:r>
          </a:p>
          <a:p/>
          <a:p>
            <a:r>
              <a:t>Layers:</a:t>
            </a:r>
          </a:p>
          <a:p>
            <a:r>
              <a:t>- base (default visible)</a:t>
            </a:r>
          </a:p>
          <a:p/>
          <a:p>
            <a:r>
              <a:t>Triggers:</a:t>
            </a:r>
          </a:p>
          <a:p>
            <a:r>
              <a:t>1. Staggered Grow entrance for each icon card (0.3s delay)</a:t>
            </a:r>
          </a:p>
          <a:p/>
          <a:p>
            <a:r>
              <a:t>=== NARRATOR SCRIPT ===</a:t>
            </a:r>
          </a:p>
          <a:p>
            <a:r>
              <a:t>البيانات الضخمة تُحوّل الصناعات في مختلف المجالات. في عالم الأعمال تستخدم أمازون بيانات المشتريات لتقديم توصيات مخصصة. وفي مجال الصحة الساعات الذكية تراقب نبضات القلب. كما تستخدم المدن الذكية البيانات لإدارة حركة المرور.</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Drag and Drop - Ordering</a:t>
            </a:r>
          </a:p>
          <a:p>
            <a:r>
              <a:t>Correct Order:</a:t>
            </a:r>
          </a:p>
          <a:p>
            <a:r>
              <a:t>drag_item_1 → drop_zone_1: الأعمال</a:t>
            </a:r>
          </a:p>
          <a:p>
            <a:r>
              <a:t>drag_item_2 → drop_zone_2: الصحة</a:t>
            </a:r>
          </a:p>
          <a:p>
            <a:r>
              <a:t>drag_item_3 → drop_zone_3: المدن الذكية</a:t>
            </a:r>
          </a:p>
          <a:p>
            <a:r>
              <a:t>drag_item_4 → drop_zone_4: البحث العلمي</a:t>
            </a:r>
          </a:p>
          <a:p/>
          <a:p>
            <a:r>
              <a:t>=== FREEFORM SETUP ===</a:t>
            </a:r>
          </a:p>
          <a:p>
            <a:r>
              <a:t>1. Insert &gt; Convert to Freeform &gt; Drag and Drop</a:t>
            </a:r>
          </a:p>
          <a:p>
            <a:r>
              <a:t>2. Match drag_item shapes to drop_zone shapes</a:t>
            </a:r>
          </a:p>
          <a:p>
            <a:r>
              <a:t>3. Set correct order as shown above</a:t>
            </a:r>
          </a:p>
          <a:p/>
          <a:p>
            <a:r>
              <a:t>=== NARRATOR SCRIPT ===</a:t>
            </a:r>
          </a:p>
          <a:p>
            <a:r>
              <a:t>صنّف كل تطبيق في المجال المناسب</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narration_s14.mp3</a:t>
            </a:r>
          </a:p>
          <a:p/>
          <a:p>
            <a:r>
              <a:t>Layers:</a:t>
            </a:r>
          </a:p>
          <a:p>
            <a:r>
              <a:t>- base (default visible)</a:t>
            </a:r>
          </a:p>
          <a:p/>
          <a:p>
            <a:r>
              <a:t>Triggers:</a:t>
            </a:r>
          </a:p>
          <a:p>
            <a:r>
              <a:t>1. Fade entrance with slight scale-up for quote text</a:t>
            </a:r>
          </a:p>
          <a:p/>
          <a:p>
            <a:r>
              <a:t>=== NARRATOR SCRIPT ===</a:t>
            </a:r>
          </a:p>
          <a:p>
            <a:r>
              <a:t>البيانات الخاطئة تقود إلى قرارات خاطئة. هذا المبدأ الأساسي في علم البيانات يعني أن ضمان جودة البيانات ليس ترفاً بل هو ضرورة. في القسم التالي سنتعرف على أبعاد جودة البيانات.</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narration_s16.mp3</a:t>
            </a:r>
          </a:p>
          <a:p/>
          <a:p>
            <a:r>
              <a:t>Layers:</a:t>
            </a:r>
          </a:p>
          <a:p>
            <a:r>
              <a:t>- base (default visible)</a:t>
            </a:r>
          </a:p>
          <a:p/>
          <a:p>
            <a:r>
              <a:t>Triggers:</a:t>
            </a:r>
          </a:p>
          <a:p>
            <a:r>
              <a:t>1. Fly In from Right for bullets (RTL)</a:t>
            </a:r>
          </a:p>
          <a:p/>
          <a:p>
            <a:r>
              <a:t>=== NARRATOR SCRIPT ===</a:t>
            </a:r>
          </a:p>
          <a:p>
            <a:r>
              <a:t>لماذا جودة البيانات مهمة؟ تخيّل أن نظام تسجيل الدرجات يحتوي على أخطاء. النتيجة ستكون قرارات غير عادلة تؤثر على مستقبل الطلاب. لذلك نقيس جودة البيانات بأربعة أبعاد رئيسية.</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click-reveal</a:t>
            </a:r>
          </a:p>
          <a:p>
            <a:r>
              <a:t>Duration: learner-paced</a:t>
            </a:r>
          </a:p>
          <a:p/>
          <a:p>
            <a:r>
              <a:t>Layers:</a:t>
            </a:r>
          </a:p>
          <a:p>
            <a:r>
              <a:t>- base (default visible) — contains 4 tab buttons</a:t>
            </a:r>
          </a:p>
          <a:p>
            <a:r>
              <a:t>- detail_1: الدقة</a:t>
            </a:r>
          </a:p>
          <a:p>
            <a:r>
              <a:t>- detail_2: الاكتمال</a:t>
            </a:r>
          </a:p>
          <a:p>
            <a:r>
              <a:t>- detail_3: الاتساق</a:t>
            </a:r>
          </a:p>
          <a:p>
            <a:r>
              <a:t>- detail_4: التوقيت</a:t>
            </a:r>
          </a:p>
          <a:p>
            <a:r>
              <a:t>- completion: أحسنت! لقد تعرفت على جميع أبعاد جودة البيانات</a:t>
            </a:r>
          </a:p>
          <a:p/>
          <a:p>
            <a:r>
              <a:t>States:</a:t>
            </a:r>
          </a:p>
          <a:p>
            <a:r>
              <a:t>- btn_tab1-4: [Normal, Hover, Visited]</a:t>
            </a:r>
          </a:p>
          <a:p/>
          <a:p>
            <a:r>
              <a:t>Triggers:</a:t>
            </a:r>
          </a:p>
          <a:p>
            <a:r>
              <a:t>1-4. Show layer detail_N when user clicks btn_tabN, Set state to Visited, Add 1 to clickCount</a:t>
            </a:r>
          </a:p>
          <a:p>
            <a:r>
              <a:t>5. Show layer completion when clickCount &gt;= 4</a:t>
            </a:r>
          </a:p>
          <a:p/>
          <a:p>
            <a:r>
              <a:t>Variables:</a:t>
            </a:r>
          </a:p>
          <a:p>
            <a:r>
              <a:t>- clickCount (Number, default 0)</a:t>
            </a:r>
          </a:p>
          <a:p/>
          <a:p>
            <a:r>
              <a:t>=== STORYLINE INSTRUCTIONS ===</a:t>
            </a:r>
          </a:p>
          <a:p>
            <a:r>
              <a:t>Slide Type: Click to Reveal</a:t>
            </a:r>
          </a:p>
          <a:p>
            <a:r>
              <a:t>Items: btn_reveal_1, btn_reveal_2, btn_reveal_3, btn_reveal_4</a:t>
            </a:r>
          </a:p>
          <a:p/>
          <a:p>
            <a:r>
              <a:t>=== LAYER INSTRUCTIONS ===</a:t>
            </a:r>
          </a:p>
          <a:p>
            <a:r>
              <a:t>Layer 1: Show content when btn_reveal_1 clicked — الدقة (Accuracy)</a:t>
            </a:r>
          </a:p>
          <a:p>
            <a:r>
              <a:t>Layer 2: Show content when btn_reveal_2 clicked — الاكتمال (Completeness)</a:t>
            </a:r>
          </a:p>
          <a:p>
            <a:r>
              <a:t>Layer 3: Show content when btn_reveal_3 clicked — الاتساق (Consistency)</a:t>
            </a:r>
          </a:p>
          <a:p>
            <a:r>
              <a:t>Layer 4: Show content when btn_reveal_4 clicked — التوقيت (Timeliness)</a:t>
            </a:r>
          </a:p>
          <a:p/>
          <a:p>
            <a:r>
              <a:t>=== CONTENT ===</a:t>
            </a:r>
          </a:p>
          <a:p>
            <a:r>
              <a:t>btn_reveal_1 (الدقة (Accuracy)): هل البيانات صحيحة؟ — مثال: تسجيل درجة الطالب 95 بدلاً من 59 يؤدي إلى قرار ترقية خاطئ</a:t>
            </a:r>
          </a:p>
          <a:p>
            <a:r>
              <a:t>btn_reveal_2 (الاكتمال (Completeness)): هل جميع القيم مُدخلة؟ — مثال: بيانات حضور ناقصة لبعض الطلاب تعطي صورة غير مكتملة عن الانضباط</a:t>
            </a:r>
          </a:p>
          <a:p>
            <a:r>
              <a:t>btn_reveal_3 (الاتساق (Consistency)): هل تنسيق البيانات موحّد؟ — مثال: كتابة التاريخ بصيغة 01/02/2025 مرة وبصيغة 1 فبراير مرة أخرى</a:t>
            </a:r>
          </a:p>
          <a:p>
            <a:r>
              <a:t>btn_reveal_4 (التوقيت (Timeliness)): هل البيانات مُحدّثة؟ — مثال: استخدام بيانات مبيعات العام الماضي للتخطيط لهذا العام قد يكون مُضللاً</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p>
            <a:r>
              <a:t>Layers:</a:t>
            </a:r>
          </a:p>
          <a:p>
            <a:r>
              <a:t>- base (default visible)</a:t>
            </a:r>
          </a:p>
          <a:p/>
          <a:p>
            <a:r>
              <a:t>Triggers:</a:t>
            </a:r>
          </a:p>
          <a:p>
            <a:r>
              <a:t>1. Right column (high quality) appears first with green accent</a:t>
            </a:r>
          </a:p>
          <a:p>
            <a:r>
              <a:t>2. Left column (low quality) appears second with red accent</a:t>
            </a:r>
          </a:p>
          <a:p/>
          <a:p>
            <a:r>
              <a:t>=== NARRATOR SCRIPT ===</a:t>
            </a:r>
          </a:p>
          <a:p>
            <a:r>
              <a:t>لنقارن بين البيانات عالية الجودة والبيانات منخفضة الجودة. البيانات عالية الجودة تتميز بالدقة والاكتمال والاتساق والتحديث المستمر. بينما البيانات منخفضة الجودة تعاني من أخطاء الإدخال والحقول الفارغة.</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Drag and Drop - Ordering</a:t>
            </a:r>
          </a:p>
          <a:p>
            <a:r>
              <a:t>Correct Order:</a:t>
            </a:r>
          </a:p>
          <a:p>
            <a:r>
              <a:t>drag_item_1 → drop_zone_1: الدقة</a:t>
            </a:r>
          </a:p>
          <a:p>
            <a:r>
              <a:t>drag_item_2 → drop_zone_2: الاكتمال</a:t>
            </a:r>
          </a:p>
          <a:p>
            <a:r>
              <a:t>drag_item_3 → drop_zone_3: الاتساق</a:t>
            </a:r>
          </a:p>
          <a:p>
            <a:r>
              <a:t>drag_item_4 → drop_zone_4: التوقيت</a:t>
            </a:r>
          </a:p>
          <a:p/>
          <a:p>
            <a:r>
              <a:t>=== FREEFORM SETUP ===</a:t>
            </a:r>
          </a:p>
          <a:p>
            <a:r>
              <a:t>1. Insert &gt; Convert to Freeform &gt; Drag and Drop</a:t>
            </a:r>
          </a:p>
          <a:p>
            <a:r>
              <a:t>2. Match drag_item shapes to drop_zone shapes</a:t>
            </a:r>
          </a:p>
          <a:p>
            <a:r>
              <a:t>3. Set correct order as shown above</a:t>
            </a:r>
          </a:p>
          <a:p/>
          <a:p>
            <a:r>
              <a:t>=== NARRATOR SCRIPT ===</a:t>
            </a:r>
          </a:p>
          <a:p>
            <a:r>
              <a:t>طابق كل مثال مع بُعد جودة البيانات المناسب</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Quiz - Multiple Choice</a:t>
            </a:r>
          </a:p>
          <a:p>
            <a:r>
              <a:t>Correct Answer: د (opt_d)</a:t>
            </a:r>
          </a:p>
          <a:p>
            <a:r>
              <a:t>Feedback (Correct): احسنت! الاجابة صحيحة</a:t>
            </a:r>
          </a:p>
          <a:p>
            <a:r>
              <a:t>Feedback (Incorrect): الاجابة غير صحيحة، حاول مرة اخرى</a:t>
            </a:r>
          </a:p>
          <a:p>
            <a:r>
              <a:t>Points: 10</a:t>
            </a:r>
          </a:p>
          <a:p>
            <a:r>
              <a:t>Attempts: 2</a:t>
            </a:r>
          </a:p>
          <a:p/>
          <a:p>
            <a:r>
              <a:t>=== FREEFORM SETUP ===</a:t>
            </a:r>
          </a:p>
          <a:p>
            <a:r>
              <a:t>1. Insert &gt; Convert to Freeform &gt; Pick One</a:t>
            </a:r>
          </a:p>
          <a:p>
            <a:r>
              <a:t>2. Assign opt_a, opt_b, opt_c, opt_d as choices</a:t>
            </a:r>
          </a:p>
          <a:p>
            <a:r>
              <a:t>3. Set opt_d as correct answer</a:t>
            </a:r>
          </a:p>
          <a:p>
            <a:r>
              <a:t>4. btn_check triggers submit</a:t>
            </a:r>
          </a:p>
          <a:p/>
          <a:p>
            <a:r>
              <a:t>=== NARRATOR SCRIPT ===</a:t>
            </a:r>
          </a:p>
          <a:p>
            <a:r>
              <a:t>شركة تستخدم بيانات مبيعات العام الماضي لتخطيط حملة تسويقية جديدة. أي بُعد جودة يتأثر سلباً؟</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p>
            <a:r>
              <a:t>Triggers:</a:t>
            </a:r>
          </a:p>
          <a:p>
            <a:r>
              <a:t>1. Right column (effective) first with green accent</a:t>
            </a:r>
          </a:p>
          <a:p>
            <a:r>
              <a:t>2. Left column (poor) second with red accent</a:t>
            </a:r>
          </a:p>
          <a:p/>
          <a:p>
            <a:r>
              <a:t>=== NARRATOR SCRIPT ===</a:t>
            </a:r>
          </a:p>
          <a:p>
            <a:r>
              <a:t>ما الفرق بين التواصل الفعال والتواصل الضعيف بالبيانات؟ التواصل الفعال يستخدم مخططات بسيطة وألوان متناسقة. القاعدة الذهبية: كلما كان العرض أبسط كان أوضح.</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static-content</a:t>
            </a:r>
          </a:p>
          <a:p>
            <a:r>
              <a:t>Duration: learner-paced</a:t>
            </a:r>
          </a:p>
          <a:p>
            <a:r>
              <a:t>Audio: narration_s23.mp3</a:t>
            </a:r>
          </a:p>
          <a:p/>
          <a:p>
            <a:r>
              <a:t>Triggers:</a:t>
            </a:r>
          </a:p>
          <a:p>
            <a:r>
              <a:t>1. Staggered Fade entrance for cards (0.3s delay)</a:t>
            </a:r>
          </a:p>
          <a:p>
            <a:r>
              <a:t>2. Hover state with slight scale-up on each card</a:t>
            </a:r>
          </a:p>
          <a:p/>
          <a:p>
            <a:r>
              <a:t>=== NARRATOR SCRIPT ===</a:t>
            </a:r>
          </a:p>
          <a:p>
            <a:r>
              <a:t>هناك تقنيتان رئيسيتان تغذيان البيانات الضخمة. الأولى هي إنترنت الأشياء حيث أصبحت الأجهزة اليومية متصلة بالإنترنت وتولّد بيانات مستمرة. والثانية هي شبكات الجيل الخامس التي توفر سرعات فائقة.</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scenario</a:t>
            </a:r>
          </a:p>
          <a:p>
            <a:r>
              <a:t>Duration: learner-paced</a:t>
            </a:r>
          </a:p>
          <a:p/>
          <a:p>
            <a:r>
              <a:t>Layers:</a:t>
            </a:r>
          </a:p>
          <a:p>
            <a:r>
              <a:t>- base (default visible) — situation + choice buttons</a:t>
            </a:r>
          </a:p>
          <a:p>
            <a:r>
              <a:t>- consequence_a: وافقت على جميع الصلاحيات — الآن التطبيق يمكنه الوصول لبياناتك الشخصية رغم أنه مجرد آلة حاسبة! بياناتك قد تُستخدم للإعلانات الموجهة.</a:t>
            </a:r>
          </a:p>
          <a:p>
            <a:r>
              <a:t>- consequence_b: أحسنت! رفضت الصلاحيات غير الضرورية. آلة حاسبة لا تحتاج لجهات اتصالك أو موقعك. هذا هو السلوك الأمثل.</a:t>
            </a:r>
          </a:p>
          <a:p>
            <a:r>
              <a:t>- consequence_c: حذفت التطبيق. خيار آمن لكنه متطرف — كان بإمكانك الاستفادة من التطبيق مع رفض الصلاحيات غير الضرورية.</a:t>
            </a:r>
          </a:p>
          <a:p>
            <a:r>
              <a:t>- reflection: القاعدة الذهبية: لا تمنح التطبيقات صلاحيات أكثر مما تحتاج.</a:t>
            </a:r>
          </a:p>
          <a:p/>
          <a:p>
            <a:r>
              <a:t>States:</a:t>
            </a:r>
          </a:p>
          <a:p>
            <a:r>
              <a:t>- btn_choice_a/b/c: [Normal, Hover, Selected]</a:t>
            </a:r>
          </a:p>
          <a:p/>
          <a:p>
            <a:r>
              <a:t>Triggers:</a:t>
            </a:r>
          </a:p>
          <a:p>
            <a:r>
              <a:t>1-3. Show consequence layer when user clicks choice button</a:t>
            </a:r>
          </a:p>
          <a:p>
            <a:r>
              <a:t>4. Show reflection from any consequence layer</a:t>
            </a:r>
          </a:p>
          <a:p>
            <a:r>
              <a:t>5. IF lastChoice = B: Add 10 to scenarioScore</a:t>
            </a:r>
          </a:p>
          <a:p/>
          <a:p>
            <a:r>
              <a:t>Best Choice: B — رفض الصلاحيات غير الضرورية</a:t>
            </a:r>
          </a:p>
          <a:p/>
          <a:p>
            <a:r>
              <a:t>Variables:</a:t>
            </a:r>
          </a:p>
          <a:p>
            <a:r>
              <a:t>- lastChoice (Text, default "")</a:t>
            </a:r>
          </a:p>
          <a:p>
            <a:r>
              <a:t>- scenarioScore (Number, default 0)</a:t>
            </a:r>
          </a:p>
          <a:p/>
          <a:p>
            <a:r>
              <a:t>=== STORYLINE INSTRUCTIONS ===</a:t>
            </a:r>
          </a:p>
          <a:p>
            <a:r>
              <a:t>Slide Type: Branching Scenario</a:t>
            </a:r>
          </a:p>
          <a:p>
            <a:r>
              <a:t>Correct Choice: btn_choice_1 (Choice 2)</a:t>
            </a:r>
          </a:p>
          <a:p>
            <a:r>
              <a:t>Choice Buttons: btn_choice_0, btn_choice_1, btn_choice_2</a:t>
            </a:r>
          </a:p>
          <a:p/>
          <a:p>
            <a:r>
              <a:t>=== LAYER SETUP ===</a:t>
            </a:r>
          </a:p>
          <a:p>
            <a:r>
              <a:t>Layer 'outcome_0': Shows feedback when btn_choice_0 clicked</a:t>
            </a:r>
          </a:p>
          <a:p>
            <a:r>
              <a:t>Layer 'outcome_1': Shows feedback when btn_choice_1 clicked</a:t>
            </a:r>
          </a:p>
          <a:p>
            <a:r>
              <a:t>Layer 'outcome_2': Shows feedback when btn_choice_2 clicked</a:t>
            </a:r>
          </a:p>
          <a:p/>
          <a:p>
            <a:r>
              <a:t>=== TRIGGER SETUP ===</a:t>
            </a:r>
          </a:p>
          <a:p>
            <a:r>
              <a:t>Trigger 1: Show layer 'outcome_0' when user clicks btn_choice_0 [INCORRECT]</a:t>
            </a:r>
          </a:p>
          <a:p>
            <a:r>
              <a:t>Trigger 2: Show layer 'outcome_1' when user clicks btn_choice_1 [CORRECT]</a:t>
            </a:r>
          </a:p>
          <a:p>
            <a:r>
              <a:t>Trigger 3: Show layer 'outcome_2' when user clicks btn_choice_2 [INCORRECT]</a:t>
            </a:r>
          </a:p>
          <a:p/>
          <a:p>
            <a:r>
              <a:t>=== FEEDBACK CONTENT ===</a:t>
            </a:r>
          </a:p>
          <a:p>
            <a:r>
              <a:t>outcome_1 (Correct): احسنت! هذا هو القرار الصحيح.</a:t>
            </a:r>
          </a:p>
          <a:p>
            <a:r>
              <a:t>outcome_0 (Incorrect): هذا ليس القرار الأفضل. حاول مرة أخرى.</a:t>
            </a:r>
          </a:p>
          <a:p>
            <a:r>
              <a:t>outcome_2 (Incorrect): هذا ليس القرار الأفضل. حاول مرة أخرى.</a:t>
            </a:r>
          </a:p>
          <a:p/>
          <a:p>
            <a:r>
              <a:t>=== NARRATOR SCRIPT ===</a:t>
            </a:r>
          </a:p>
          <a:p>
            <a:r>
              <a:t>أنت تستخدم تطبيقاً جديداً على هاتفك. عند التسجيل، يطلب التطبيق صلاحية الوصول إلى جهات الاتصال والموقع الجغرافي والصور. التطبيق هو تطبيق آلة حاسبة بسيط. ماذا تفعل؟</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INSTRUCTIONS ===</a:t>
            </a:r>
          </a:p>
          <a:p>
            <a:r>
              <a:t>Slide Type: Quiz - Multiple Choice</a:t>
            </a:r>
          </a:p>
          <a:p>
            <a:r>
              <a:t>Correct Answer: ب (opt_b)</a:t>
            </a:r>
          </a:p>
          <a:p>
            <a:r>
              <a:t>Feedback (Correct): احسنت! الاجابة صحيحة</a:t>
            </a:r>
          </a:p>
          <a:p>
            <a:r>
              <a:t>Feedback (Incorrect): الاجابة غير صحيحة، حاول مرة اخرى</a:t>
            </a:r>
          </a:p>
          <a:p>
            <a:r>
              <a:t>Points: 10</a:t>
            </a:r>
          </a:p>
          <a:p>
            <a:r>
              <a:t>Attempts: 2</a:t>
            </a:r>
          </a:p>
          <a:p/>
          <a:p>
            <a:r>
              <a:t>=== FREEFORM SETUP ===</a:t>
            </a:r>
          </a:p>
          <a:p>
            <a:r>
              <a:t>1. Insert &gt; Convert to Freeform &gt; Pick One</a:t>
            </a:r>
          </a:p>
          <a:p>
            <a:r>
              <a:t>2. Assign opt_a, opt_b, opt_c, opt_d as choices</a:t>
            </a:r>
          </a:p>
          <a:p>
            <a:r>
              <a:t>3. Set opt_b as correct answer</a:t>
            </a:r>
          </a:p>
          <a:p>
            <a:r>
              <a:t>4. btn_check triggers submit</a:t>
            </a:r>
          </a:p>
          <a:p/>
          <a:p>
            <a:r>
              <a:t>=== NARRATOR SCRIPT ===</a:t>
            </a:r>
          </a:p>
          <a:p>
            <a:r>
              <a:t>أي مما يلي أفضل طريقة للتواصل الفعال بالبيانات مع فريق العمل؟</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 STORYLINE BLUEPRINT ===</a:t>
            </a:r>
          </a:p>
          <a:p>
            <a:r>
              <a:t>Slide Type: dropdown-matching</a:t>
            </a:r>
          </a:p>
          <a:p>
            <a:r>
              <a:t>Duration: learner-paced</a:t>
            </a:r>
          </a:p>
          <a:p/>
          <a:p>
            <a:r>
              <a:t>Layers:</a:t>
            </a:r>
          </a:p>
          <a:p>
            <a:r>
              <a:t>- base — 4 rows with dropdown menus</a:t>
            </a:r>
          </a:p>
          <a:p>
            <a:r>
              <a:t>- feedback_correct: أحسنت! جميع المطابقات صحيحة</a:t>
            </a:r>
          </a:p>
          <a:p>
            <a:r>
              <a:t>- feedback_incorrect: حاول مرة أخرى</a:t>
            </a:r>
          </a:p>
          <a:p/>
          <a:p>
            <a:r>
              <a:t>Correct Answers:</a:t>
            </a:r>
          </a:p>
          <a:p>
            <a:r>
              <a:t>- عقلية البيانات → أسلوب للتعامل مع المشكلات والفرص باستخدام البيانات</a:t>
            </a:r>
          </a:p>
          <a:p>
            <a:r>
              <a:t>- البيانات الضخمة → مجموعات بيانات كبيرة جداً تتميز بالحجم والسرعة والتنوع</a:t>
            </a:r>
          </a:p>
          <a:p>
            <a:r>
              <a:t>- جودة البيانات → مدى صحة البيانات واكتمالها واتساقها وتحديثها</a:t>
            </a:r>
          </a:p>
          <a:p>
            <a:r>
              <a:t>- إنترنت الأشياء → أجهزة يومية متصلة بالإنترنت تولّد بيانات مستمرة</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grpSp>
        <p:nvGrpSpPr>
          <p:cNvPr id="16" name="Google Shape;16;p10"/>
          <p:cNvGrpSpPr/>
          <p:nvPr/>
        </p:nvGrpSpPr>
        <p:grpSpPr>
          <a:xfrm flipH="1">
            <a:off x="0" y="0"/>
            <a:ext cx="12192000" cy="6857999"/>
            <a:chOff x="0" y="0"/>
            <a:chExt cx="12192000" cy="6857999"/>
          </a:xfrm>
        </p:grpSpPr>
        <p:pic>
          <p:nvPicPr>
            <p:cNvPr id="17" name="Google Shape;17;p10"/>
            <p:cNvPicPr preferRelativeResize="0"/>
            <p:nvPr/>
          </p:nvPicPr>
          <p:blipFill rotWithShape="1">
            <a:blip r:embed="rId2">
              <a:alphaModFix/>
            </a:blip>
            <a:srcRect b="0" l="0" r="0" t="0"/>
            <a:stretch/>
          </p:blipFill>
          <p:spPr>
            <a:xfrm>
              <a:off x="0" y="0"/>
              <a:ext cx="12192000" cy="6857999"/>
            </a:xfrm>
            <a:prstGeom prst="rect">
              <a:avLst/>
            </a:prstGeom>
            <a:noFill/>
            <a:ln>
              <a:noFill/>
            </a:ln>
          </p:spPr>
        </p:pic>
        <p:pic>
          <p:nvPicPr>
            <p:cNvPr id="18" name="Google Shape;18;p10"/>
            <p:cNvPicPr preferRelativeResize="0"/>
            <p:nvPr/>
          </p:nvPicPr>
          <p:blipFill rotWithShape="1">
            <a:blip r:embed="rId3">
              <a:alphaModFix/>
            </a:blip>
            <a:srcRect b="0" l="0" r="0" t="0"/>
            <a:stretch/>
          </p:blipFill>
          <p:spPr>
            <a:xfrm flipH="1">
              <a:off x="2500158" y="962015"/>
              <a:ext cx="1612381" cy="1248719"/>
            </a:xfrm>
            <a:prstGeom prst="rect">
              <a:avLst/>
            </a:prstGeom>
            <a:noFill/>
            <a:ln>
              <a:noFill/>
            </a:ln>
          </p:spPr>
        </p:pic>
        <p:cxnSp>
          <p:nvCxnSpPr>
            <p:cNvPr id="19" name="Google Shape;19;p10"/>
            <p:cNvCxnSpPr/>
            <p:nvPr/>
          </p:nvCxnSpPr>
          <p:spPr>
            <a:xfrm rot="10800000">
              <a:off x="2500158" y="4048125"/>
              <a:ext cx="1538442" cy="0"/>
            </a:xfrm>
            <a:prstGeom prst="straightConnector1">
              <a:avLst/>
            </a:prstGeom>
            <a:noFill/>
            <a:ln cap="rnd" cmpd="sng" w="19050">
              <a:solidFill>
                <a:srgbClr val="2D588C"/>
              </a:solidFill>
              <a:prstDash val="solid"/>
              <a:miter lim="800000"/>
              <a:headEnd len="sm" w="sm" type="none"/>
              <a:tailEnd len="sm" w="sm" type="none"/>
            </a:ln>
          </p:spPr>
        </p:cxnSp>
      </p:gr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pic>
        <p:nvPicPr>
          <p:cNvPr id="21" name="Google Shape;21;p11"/>
          <p:cNvPicPr preferRelativeResize="0"/>
          <p:nvPr/>
        </p:nvPicPr>
        <p:blipFill rotWithShape="1">
          <a:blip r:embed="rId2">
            <a:alphaModFix/>
          </a:blip>
          <a:srcRect b="0" l="0" r="0" t="0"/>
          <a:stretch/>
        </p:blipFill>
        <p:spPr>
          <a:xfrm>
            <a:off x="0" y="0"/>
            <a:ext cx="12192000" cy="6858000"/>
          </a:xfrm>
          <a:prstGeom prst="rect">
            <a:avLst/>
          </a:prstGeom>
          <a:noFill/>
          <a:ln>
            <a:noFill/>
          </a:ln>
        </p:spPr>
      </p:pic>
      <p:pic>
        <p:nvPicPr>
          <p:cNvPr id="22" name="Google Shape;22;p11"/>
          <p:cNvPicPr preferRelativeResize="0"/>
          <p:nvPr/>
        </p:nvPicPr>
        <p:blipFill rotWithShape="1">
          <a:blip r:embed="rId3">
            <a:alphaModFix/>
          </a:blip>
          <a:srcRect b="0" l="15304" r="15305" t="0"/>
          <a:stretch/>
        </p:blipFill>
        <p:spPr>
          <a:xfrm>
            <a:off x="1803400" y="0"/>
            <a:ext cx="8585200" cy="1007706"/>
          </a:xfrm>
          <a:prstGeom prst="rect">
            <a:avLst/>
          </a:prstGeom>
          <a:noFill/>
          <a:ln>
            <a:noFill/>
          </a:ln>
        </p:spPr>
      </p:pic>
      <p:pic>
        <p:nvPicPr>
          <p:cNvPr id="23" name="Google Shape;23;p11"/>
          <p:cNvPicPr preferRelativeResize="0"/>
          <p:nvPr/>
        </p:nvPicPr>
        <p:blipFill rotWithShape="1">
          <a:blip r:embed="rId4">
            <a:alphaModFix/>
          </a:blip>
          <a:srcRect b="0" l="0" r="0" t="0"/>
          <a:stretch/>
        </p:blipFill>
        <p:spPr>
          <a:xfrm flipH="1">
            <a:off x="0" y="6023222"/>
            <a:ext cx="12192000" cy="853440"/>
          </a:xfrm>
          <a:prstGeom prst="rect">
            <a:avLst/>
          </a:prstGeom>
          <a:noFill/>
          <a:ln>
            <a:noFill/>
          </a:ln>
        </p:spPr>
      </p:pic>
      <p:pic>
        <p:nvPicPr>
          <p:cNvPr id="24" name="Google Shape;24;p11"/>
          <p:cNvPicPr preferRelativeResize="0"/>
          <p:nvPr/>
        </p:nvPicPr>
        <p:blipFill rotWithShape="1">
          <a:blip r:embed="rId5">
            <a:alphaModFix/>
          </a:blip>
          <a:srcRect b="0" l="0" r="0" t="0"/>
          <a:stretch/>
        </p:blipFill>
        <p:spPr>
          <a:xfrm>
            <a:off x="371475" y="85756"/>
            <a:ext cx="709767" cy="549684"/>
          </a:xfrm>
          <a:prstGeom prst="rect">
            <a:avLst/>
          </a:prstGeom>
          <a:noFill/>
          <a:ln>
            <a:noFill/>
          </a:ln>
        </p:spPr>
      </p:pic>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8" name="Google Shape;2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9" name="Google Shape;59;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8"/>
          <p:cNvSpPr/>
          <p:nvPr>
            <p:ph idx="2" type="pic"/>
          </p:nvPr>
        </p:nvSpPr>
        <p:spPr>
          <a:xfrm>
            <a:off x="5183188" y="987425"/>
            <a:ext cx="6172200" cy="4873625"/>
          </a:xfrm>
          <a:prstGeom prst="rect">
            <a:avLst/>
          </a:prstGeom>
          <a:noFill/>
          <a:ln>
            <a:noFill/>
          </a:ln>
        </p:spPr>
      </p:sp>
      <p:sp>
        <p:nvSpPr>
          <p:cNvPr id="66" name="Google Shape;66;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7" name="Google Shape;6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ar-J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200" u="none" cap="none" strike="noStrike">
                <a:solidFill>
                  <a:srgbClr val="757575"/>
                </a:solidFill>
                <a:latin typeface="Arial"/>
                <a:ea typeface="Arial"/>
                <a:cs typeface="Arial"/>
                <a:sym typeface="Arial"/>
              </a:defRPr>
            </a:lvl1pPr>
            <a:lvl2pPr indent="0" lvl="1" marL="0" marR="0" rtl="0" algn="l">
              <a:spcBef>
                <a:spcPts val="0"/>
              </a:spcBef>
              <a:buNone/>
              <a:defRPr b="0" i="0" sz="1200" u="none" cap="none" strike="noStrike">
                <a:solidFill>
                  <a:srgbClr val="757575"/>
                </a:solidFill>
                <a:latin typeface="Arial"/>
                <a:ea typeface="Arial"/>
                <a:cs typeface="Arial"/>
                <a:sym typeface="Arial"/>
              </a:defRPr>
            </a:lvl2pPr>
            <a:lvl3pPr indent="0" lvl="2" marL="0" marR="0" rtl="0" algn="l">
              <a:spcBef>
                <a:spcPts val="0"/>
              </a:spcBef>
              <a:buNone/>
              <a:defRPr b="0" i="0" sz="1200" u="none" cap="none" strike="noStrike">
                <a:solidFill>
                  <a:srgbClr val="757575"/>
                </a:solidFill>
                <a:latin typeface="Arial"/>
                <a:ea typeface="Arial"/>
                <a:cs typeface="Arial"/>
                <a:sym typeface="Arial"/>
              </a:defRPr>
            </a:lvl3pPr>
            <a:lvl4pPr indent="0" lvl="3" marL="0" marR="0" rtl="0" algn="l">
              <a:spcBef>
                <a:spcPts val="0"/>
              </a:spcBef>
              <a:buNone/>
              <a:defRPr b="0" i="0" sz="1200" u="none" cap="none" strike="noStrike">
                <a:solidFill>
                  <a:srgbClr val="757575"/>
                </a:solidFill>
                <a:latin typeface="Arial"/>
                <a:ea typeface="Arial"/>
                <a:cs typeface="Arial"/>
                <a:sym typeface="Arial"/>
              </a:defRPr>
            </a:lvl4pPr>
            <a:lvl5pPr indent="0" lvl="4" marL="0" marR="0" rtl="0" algn="l">
              <a:spcBef>
                <a:spcPts val="0"/>
              </a:spcBef>
              <a:buNone/>
              <a:defRPr b="0" i="0" sz="1200" u="none" cap="none" strike="noStrike">
                <a:solidFill>
                  <a:srgbClr val="757575"/>
                </a:solidFill>
                <a:latin typeface="Arial"/>
                <a:ea typeface="Arial"/>
                <a:cs typeface="Arial"/>
                <a:sym typeface="Arial"/>
              </a:defRPr>
            </a:lvl5pPr>
            <a:lvl6pPr indent="0" lvl="5" marL="0" marR="0" rtl="0" algn="l">
              <a:spcBef>
                <a:spcPts val="0"/>
              </a:spcBef>
              <a:buNone/>
              <a:defRPr b="0" i="0" sz="1200" u="none" cap="none" strike="noStrike">
                <a:solidFill>
                  <a:srgbClr val="757575"/>
                </a:solidFill>
                <a:latin typeface="Arial"/>
                <a:ea typeface="Arial"/>
                <a:cs typeface="Arial"/>
                <a:sym typeface="Arial"/>
              </a:defRPr>
            </a:lvl6pPr>
            <a:lvl7pPr indent="0" lvl="6" marL="0" marR="0" rtl="0" algn="l">
              <a:spcBef>
                <a:spcPts val="0"/>
              </a:spcBef>
              <a:buNone/>
              <a:defRPr b="0" i="0" sz="1200" u="none" cap="none" strike="noStrike">
                <a:solidFill>
                  <a:srgbClr val="757575"/>
                </a:solidFill>
                <a:latin typeface="Arial"/>
                <a:ea typeface="Arial"/>
                <a:cs typeface="Arial"/>
                <a:sym typeface="Arial"/>
              </a:defRPr>
            </a:lvl7pPr>
            <a:lvl8pPr indent="0" lvl="7" marL="0" marR="0" rtl="0" algn="l">
              <a:spcBef>
                <a:spcPts val="0"/>
              </a:spcBef>
              <a:buNone/>
              <a:defRPr b="0" i="0" sz="1200" u="none" cap="none" strike="noStrike">
                <a:solidFill>
                  <a:srgbClr val="757575"/>
                </a:solidFill>
                <a:latin typeface="Arial"/>
                <a:ea typeface="Arial"/>
                <a:cs typeface="Arial"/>
                <a:sym typeface="Arial"/>
              </a:defRPr>
            </a:lvl8pPr>
            <a:lvl9pPr indent="0" lvl="8" marL="0" marR="0" rtl="0" algn="l">
              <a:spcBef>
                <a:spcPts val="0"/>
              </a:spcBef>
              <a:buNone/>
              <a:defRPr b="0" i="0" sz="1200" u="none" cap="none" strike="noStrike">
                <a:solidFill>
                  <a:srgbClr val="757575"/>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ar-JO"/>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xml"/><Relationship Id="rId5"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6.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0.jpg"/><Relationship Id="rId4"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2.jpg"/><Relationship Id="rId4"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3.jpg"/><Relationship Id="rId4"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15.jpg"/><Relationship Id="rId4"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6.jpg"/><Relationship Id="rId4"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18.jpg"/><Relationship Id="rId4" Type="http://schemas.openxmlformats.org/officeDocument/2006/relationships/image" Target="../media/image19.jpg"/><Relationship Id="rId5"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20.jpg"/><Relationship Id="rId4"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المحاضرة التفاعلية:</a:t>
            </a:r>
          </a:p>
        </p:txBody>
      </p:sp>
      <p:sp>
        <p:nvSpPr>
          <p:cNvPr id="3" name="txt_institution"/>
          <p:cNvSpPr txBox="1"/>
          <p:nvPr/>
        </p:nvSpPr>
        <p:spPr>
          <a:xfrm>
            <a:off x="6096000" y="3198167"/>
            <a:ext cx="5181600" cy="461665"/>
          </a:xfrm>
          <a:prstGeom prst="rect">
            <a:avLst/>
          </a:prstGeom>
          <a:noFill/>
        </p:spPr>
        <p:txBody>
          <a:bodyPr wrap="square" lIns="90000" rIns="90000" tIns="46800" bIns="46800">
            <a:spAutoFit/>
          </a:bodyPr>
          <a:lstStyle/>
          <a:p>
            <a:pPr algn="ctr" rtl="1">
              <a:lnSpc>
                <a:spcPct val="130000"/>
              </a:lnSpc>
            </a:pPr>
            <a:r>
              <a:rPr sz="2400" b="0" lang="ar-JO">
                <a:solidFill>
                  <a:srgbClr val="2D588C"/>
                </a:solidFill>
                <a:cs typeface="Tajawal ExtraBold"/>
                <a:latin typeface="Tajawal ExtraBold"/>
                <a:ea typeface="Tajawal ExtraBold"/>
              </a:rPr>
              <a:t>جامعة نجران - كلية علوم الحاسب ونظم المعلومات</a:t>
            </a:r>
          </a:p>
        </p:txBody>
      </p:sp>
      <p:sp>
        <p:nvSpPr>
          <p:cNvPr id="4" name="txt_title"/>
          <p:cNvSpPr txBox="1"/>
          <p:nvPr/>
        </p:nvSpPr>
        <p:spPr>
          <a:xfrm>
            <a:off x="6096000" y="4257368"/>
            <a:ext cx="5181600" cy="1077218"/>
          </a:xfrm>
          <a:prstGeom prst="rect">
            <a:avLst/>
          </a:prstGeom>
          <a:noFill/>
        </p:spPr>
        <p:txBody>
          <a:bodyPr wrap="square" lIns="90000" rIns="90000" tIns="46800" bIns="46800">
            <a:spAutoFit/>
          </a:bodyPr>
          <a:lstStyle/>
          <a:p>
            <a:pPr algn="ctr" rtl="1"/>
            <a:r>
              <a:rPr sz="2400" b="0" lang="ar-JO">
                <a:solidFill>
                  <a:srgbClr val="2D588C"/>
                </a:solidFill>
                <a:cs typeface="Tajawal ExtraBold"/>
                <a:latin typeface="Tajawal ExtraBold"/>
                <a:ea typeface="Tajawal ExtraBold"/>
              </a:rPr>
              <a:t>المحاضرة التفاعلية:</a:t>
            </a:r>
          </a:p>
          <a:p>
            <a:pPr algn="ctr" rtl="1"/>
            <a:r>
              <a:rPr sz="2000" b="0" lang="ar-JO">
                <a:solidFill>
                  <a:srgbClr val="262626"/>
                </a:solidFill>
                <a:cs typeface="Tajawal ExtraBold"/>
                <a:latin typeface="Tajawal ExtraBold"/>
                <a:ea typeface="Tajawal ExtraBold"/>
              </a:rPr>
              <a:t>عقلية البيانات: التعلم والتواصل باستخدام البيانات</a:t>
            </a:r>
          </a:p>
        </p:txBody>
      </p:sp>
      <p:sp>
        <p:nvSpPr>
          <p:cNvPr id="5" name="btn_start">
            <a:hlinkClick action="ppaction://hlinksldjump" r:id="rId5"/>
          </p:cNvPr>
          <p:cNvSpPr/>
          <p:nvPr/>
        </p:nvSpPr>
        <p:spPr>
          <a:xfrm>
            <a:off x="7398084" y="5599525"/>
            <a:ext cx="2773680" cy="665193"/>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lIns="90000" rIns="90000" tIns="46800" bIns="46800"/>
          <a:lstStyle/>
          <a:p>
            <a:pPr algn="ctr" rtl="1"/>
            <a:r>
              <a:rPr sz="2000" b="0" lang="ar-JO">
                <a:solidFill>
                  <a:srgbClr val="FFFFFF"/>
                </a:solidFill>
                <a:cs typeface="Tajawal"/>
                <a:latin typeface="Tajawal"/>
                <a:ea typeface="Tajawal"/>
              </a:rPr>
              <a:t>ابدأ المحاضرة</a:t>
            </a:r>
          </a:p>
        </p:txBody>
      </p:sp>
      <p:pic>
        <p:nvPicPr>
          <p:cNvPr id="6" name="icon_play" descr="play_icon.png"/>
          <p:cNvPicPr>
            <a:picLocks noChangeAspect="1"/>
          </p:cNvPicPr>
          <p:nvPr/>
        </p:nvPicPr>
        <p:blipFill>
          <a:blip r:embed="rId2"/>
          <a:stretch>
            <a:fillRect/>
          </a:stretch>
        </p:blipFill>
        <p:spPr>
          <a:xfrm>
            <a:off x="9476078" y="5599525"/>
            <a:ext cx="619211" cy="657317"/>
          </a:xfrm>
          <a:prstGeom prst="rect">
            <a:avLst/>
          </a:prstGeom>
        </p:spPr>
      </p:pic>
      <p:pic>
        <p:nvPicPr>
          <p:cNvPr id="7" name="icon_hand" descr="hand_cursor.png"/>
          <p:cNvPicPr>
            <a:picLocks noChangeAspect="1"/>
          </p:cNvPicPr>
          <p:nvPr/>
        </p:nvPicPr>
        <p:blipFill>
          <a:blip r:embed="rId3"/>
          <a:stretch>
            <a:fillRect/>
          </a:stretch>
        </p:blipFill>
        <p:spPr>
          <a:xfrm>
            <a:off x="7570916" y="5888428"/>
            <a:ext cx="724001" cy="7525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الأهداف التعليمية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الأهداف التعليمية</a:t>
            </a:r>
          </a:p>
        </p:txBody>
      </p:sp>
      <p:sp>
        <p:nvSpPr>
          <p:cNvPr id="6" name="txt_obj_intro"/>
          <p:cNvSpPr txBox="1"/>
          <p:nvPr/>
        </p:nvSpPr>
        <p:spPr>
          <a:xfrm>
            <a:off x="6280654" y="1830945"/>
            <a:ext cx="5361940" cy="369332"/>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Medium"/>
                <a:latin typeface="Tajawal Medium"/>
                <a:ea typeface="Tajawal Medium"/>
              </a:rPr>
              <a:t>يتوقع منك في نهاية هذه المحاضرة أن تكون قادرًا على:</a:t>
            </a:r>
          </a:p>
        </p:txBody>
      </p:sp>
      <p:pic>
        <p:nvPicPr>
          <p:cNvPr id="7" name="bg_obj_1" descr="objective_row.png"/>
          <p:cNvPicPr>
            <a:picLocks noChangeAspect="1"/>
          </p:cNvPicPr>
          <p:nvPr/>
        </p:nvPicPr>
        <p:blipFill>
          <a:blip r:embed="rId3"/>
          <a:stretch>
            <a:fillRect/>
          </a:stretch>
        </p:blipFill>
        <p:spPr>
          <a:xfrm>
            <a:off x="612770" y="2315612"/>
            <a:ext cx="11029824" cy="600002"/>
          </a:xfrm>
          <a:prstGeom prst="rect">
            <a:avLst/>
          </a:prstGeom>
        </p:spPr>
      </p:pic>
      <p:pic>
        <p:nvPicPr>
          <p:cNvPr id="8" name="icon_obj_1" descr="target_icon.png"/>
          <p:cNvPicPr>
            <a:picLocks noChangeAspect="1"/>
          </p:cNvPicPr>
          <p:nvPr/>
        </p:nvPicPr>
        <p:blipFill>
          <a:blip r:embed="rId4"/>
          <a:stretch>
            <a:fillRect/>
          </a:stretch>
        </p:blipFill>
        <p:spPr>
          <a:xfrm>
            <a:off x="10922693" y="2315612"/>
            <a:ext cx="703228" cy="600002"/>
          </a:xfrm>
          <a:prstGeom prst="rect">
            <a:avLst/>
          </a:prstGeom>
        </p:spPr>
      </p:pic>
      <p:sp>
        <p:nvSpPr>
          <p:cNvPr id="9" name="txt_obj_1"/>
          <p:cNvSpPr txBox="1"/>
          <p:nvPr/>
        </p:nvSpPr>
        <p:spPr>
          <a:xfrm>
            <a:off x="1462617" y="2446336"/>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يُعرّف المتعلم مفهوم عقلية البيانات وأهميتها في العصر الرقمي</a:t>
            </a:r>
          </a:p>
        </p:txBody>
      </p:sp>
      <p:pic>
        <p:nvPicPr>
          <p:cNvPr id="10" name="bg_obj_2" descr="objective_row.png"/>
          <p:cNvPicPr>
            <a:picLocks noChangeAspect="1"/>
          </p:cNvPicPr>
          <p:nvPr/>
        </p:nvPicPr>
        <p:blipFill>
          <a:blip r:embed="rId3"/>
          <a:stretch>
            <a:fillRect/>
          </a:stretch>
        </p:blipFill>
        <p:spPr>
          <a:xfrm>
            <a:off x="612770" y="3161708"/>
            <a:ext cx="11029824" cy="600002"/>
          </a:xfrm>
          <a:prstGeom prst="rect">
            <a:avLst/>
          </a:prstGeom>
        </p:spPr>
      </p:pic>
      <p:pic>
        <p:nvPicPr>
          <p:cNvPr id="11" name="icon_obj_2" descr="target_icon.png"/>
          <p:cNvPicPr>
            <a:picLocks noChangeAspect="1"/>
          </p:cNvPicPr>
          <p:nvPr/>
        </p:nvPicPr>
        <p:blipFill>
          <a:blip r:embed="rId4"/>
          <a:stretch>
            <a:fillRect/>
          </a:stretch>
        </p:blipFill>
        <p:spPr>
          <a:xfrm>
            <a:off x="10922693" y="3161708"/>
            <a:ext cx="703228" cy="600002"/>
          </a:xfrm>
          <a:prstGeom prst="rect">
            <a:avLst/>
          </a:prstGeom>
        </p:spPr>
      </p:pic>
      <p:sp>
        <p:nvSpPr>
          <p:cNvPr id="12" name="txt_obj_2"/>
          <p:cNvSpPr txBox="1"/>
          <p:nvPr/>
        </p:nvSpPr>
        <p:spPr>
          <a:xfrm>
            <a:off x="1462617" y="3292432"/>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يُحدد المتعلم خصائص البيانات الضخمة (الحجم والسرعة والتنوع)</a:t>
            </a:r>
          </a:p>
        </p:txBody>
      </p:sp>
      <p:pic>
        <p:nvPicPr>
          <p:cNvPr id="13" name="bg_obj_3" descr="objective_row.png"/>
          <p:cNvPicPr>
            <a:picLocks noChangeAspect="1"/>
          </p:cNvPicPr>
          <p:nvPr/>
        </p:nvPicPr>
        <p:blipFill>
          <a:blip r:embed="rId3"/>
          <a:stretch>
            <a:fillRect/>
          </a:stretch>
        </p:blipFill>
        <p:spPr>
          <a:xfrm>
            <a:off x="612770" y="4007804"/>
            <a:ext cx="11029824" cy="600002"/>
          </a:xfrm>
          <a:prstGeom prst="rect">
            <a:avLst/>
          </a:prstGeom>
        </p:spPr>
      </p:pic>
      <p:pic>
        <p:nvPicPr>
          <p:cNvPr id="14" name="icon_obj_3" descr="target_icon.png"/>
          <p:cNvPicPr>
            <a:picLocks noChangeAspect="1"/>
          </p:cNvPicPr>
          <p:nvPr/>
        </p:nvPicPr>
        <p:blipFill>
          <a:blip r:embed="rId4"/>
          <a:stretch>
            <a:fillRect/>
          </a:stretch>
        </p:blipFill>
        <p:spPr>
          <a:xfrm>
            <a:off x="10922693" y="4007804"/>
            <a:ext cx="703228" cy="600002"/>
          </a:xfrm>
          <a:prstGeom prst="rect">
            <a:avLst/>
          </a:prstGeom>
        </p:spPr>
      </p:pic>
      <p:sp>
        <p:nvSpPr>
          <p:cNvPr id="15" name="txt_obj_3"/>
          <p:cNvSpPr txBox="1"/>
          <p:nvPr/>
        </p:nvSpPr>
        <p:spPr>
          <a:xfrm>
            <a:off x="1462617" y="4138528"/>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يُحلل المتعلم أبعاد جودة البيانات (الدقة والاكتمال والاتساق والتوقيت)</a:t>
            </a:r>
          </a:p>
        </p:txBody>
      </p:sp>
      <p:pic>
        <p:nvPicPr>
          <p:cNvPr id="16" name="bg_obj_4" descr="objective_row.png"/>
          <p:cNvPicPr>
            <a:picLocks noChangeAspect="1"/>
          </p:cNvPicPr>
          <p:nvPr/>
        </p:nvPicPr>
        <p:blipFill>
          <a:blip r:embed="rId3"/>
          <a:stretch>
            <a:fillRect/>
          </a:stretch>
        </p:blipFill>
        <p:spPr>
          <a:xfrm>
            <a:off x="612770" y="4853900"/>
            <a:ext cx="11029824" cy="600002"/>
          </a:xfrm>
          <a:prstGeom prst="rect">
            <a:avLst/>
          </a:prstGeom>
        </p:spPr>
      </p:pic>
      <p:pic>
        <p:nvPicPr>
          <p:cNvPr id="17" name="icon_obj_4" descr="target_icon.png"/>
          <p:cNvPicPr>
            <a:picLocks noChangeAspect="1"/>
          </p:cNvPicPr>
          <p:nvPr/>
        </p:nvPicPr>
        <p:blipFill>
          <a:blip r:embed="rId4"/>
          <a:stretch>
            <a:fillRect/>
          </a:stretch>
        </p:blipFill>
        <p:spPr>
          <a:xfrm>
            <a:off x="10922693" y="4853900"/>
            <a:ext cx="703228" cy="600002"/>
          </a:xfrm>
          <a:prstGeom prst="rect">
            <a:avLst/>
          </a:prstGeom>
        </p:spPr>
      </p:pic>
      <p:sp>
        <p:nvSpPr>
          <p:cNvPr id="18" name="txt_obj_4"/>
          <p:cNvSpPr txBox="1"/>
          <p:nvPr/>
        </p:nvSpPr>
        <p:spPr>
          <a:xfrm>
            <a:off x="1462617" y="4984624"/>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يُقيّم المتعلم أساليب التواصل الفعال باستخدام البيانات</a:t>
            </a:r>
          </a:p>
        </p:txBody>
      </p:sp>
      <p:pic>
        <p:nvPicPr>
          <p:cNvPr id="19" name="bg_obj_5" descr="objective_row.png"/>
          <p:cNvPicPr>
            <a:picLocks noChangeAspect="1"/>
          </p:cNvPicPr>
          <p:nvPr/>
        </p:nvPicPr>
        <p:blipFill>
          <a:blip r:embed="rId3"/>
          <a:stretch>
            <a:fillRect/>
          </a:stretch>
        </p:blipFill>
        <p:spPr>
          <a:xfrm>
            <a:off x="612770" y="5699996"/>
            <a:ext cx="11029824" cy="600002"/>
          </a:xfrm>
          <a:prstGeom prst="rect">
            <a:avLst/>
          </a:prstGeom>
        </p:spPr>
      </p:pic>
      <p:pic>
        <p:nvPicPr>
          <p:cNvPr id="20" name="icon_obj_5" descr="target_icon.png"/>
          <p:cNvPicPr>
            <a:picLocks noChangeAspect="1"/>
          </p:cNvPicPr>
          <p:nvPr/>
        </p:nvPicPr>
        <p:blipFill>
          <a:blip r:embed="rId4"/>
          <a:stretch>
            <a:fillRect/>
          </a:stretch>
        </p:blipFill>
        <p:spPr>
          <a:xfrm>
            <a:off x="10922693" y="5699996"/>
            <a:ext cx="703228" cy="600002"/>
          </a:xfrm>
          <a:prstGeom prst="rect">
            <a:avLst/>
          </a:prstGeom>
        </p:spPr>
      </p:pic>
      <p:sp>
        <p:nvSpPr>
          <p:cNvPr id="21" name="txt_obj_5"/>
          <p:cNvSpPr txBox="1"/>
          <p:nvPr/>
        </p:nvSpPr>
        <p:spPr>
          <a:xfrm>
            <a:off x="1462617" y="5830720"/>
            <a:ext cx="9443403" cy="338554"/>
          </a:xfrm>
          <a:prstGeom prst="rect">
            <a:avLst/>
          </a:prstGeom>
          <a:noFill/>
        </p:spPr>
        <p:txBody>
          <a:bodyPr wrap="square" lIns="90000" rIns="90000" tIns="46800" bIns="46800">
            <a:spAutoFit/>
          </a:bodyPr>
          <a:lstStyle/>
          <a:p>
            <a:pPr algn="r" rtl="1">
              <a:lnSpc>
                <a:spcPct val="130000"/>
              </a:lnSpc>
            </a:pPr>
            <a:r>
              <a:rPr sz="1800" b="0" lang="ar-JO">
                <a:solidFill>
                  <a:srgbClr val="333333"/>
                </a:solidFill>
                <a:cs typeface="Tajawal"/>
                <a:latin typeface="Tajawal"/>
                <a:ea typeface="Tajawal"/>
              </a:rPr>
              <a:t>أن يناقش المتعلم قضايا الخصوصية والأخلاقيات المتعلقة بالبيانات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هل تعلم؟</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هل تعلم؟</a:t>
            </a:r>
          </a:p>
        </p:txBody>
      </p:sp>
      <p:sp>
        <p:nvSpPr>
          <p:cNvPr id="6" name="bg_depth_wash"/>
          <p:cNvSpPr/>
          <p:nvPr/>
        </p:nvSpPr>
        <p:spPr>
          <a:xfrm>
            <a:off x="6432000" y="-1080000"/>
            <a:ext cx="7200000" cy="5040000"/>
          </a:xfrm>
          <a:prstGeom prst="ellipse">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_stat_1"/>
          <p:cNvSpPr/>
          <p:nvPr/>
        </p:nvSpPr>
        <p:spPr>
          <a:xfrm>
            <a:off x="900000" y="1980000"/>
            <a:ext cx="3180000" cy="3060000"/>
          </a:xfrm>
          <a:prstGeom prst="roundRect">
            <a:avLst>
              <a:gd name="adj" fmla="val 4000"/>
            </a:avLst>
          </a:prstGeom>
          <a:solidFill>
            <a:srgbClr val="FFFFFF"/>
          </a:solidFill>
          <a:ln w="1270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cent_stat_1"/>
          <p:cNvSpPr/>
          <p:nvPr/>
        </p:nvSpPr>
        <p:spPr>
          <a:xfrm>
            <a:off x="900000" y="1980000"/>
            <a:ext cx="3180000" cy="180000"/>
          </a:xfrm>
          <a:prstGeom prst="rect">
            <a:avLst/>
          </a:prstGeom>
          <a:ln>
            <a:noFill/>
          </a:ln>
          <a:gradFill>
            <a:gsLst>
              <a:gs pos="0">
                <a:srgbClr val="2D588C"/>
              </a:gs>
              <a:gs pos="100000">
                <a:srgbClr val="5580B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xt_stat_1_number"/>
          <p:cNvSpPr txBox="1"/>
          <p:nvPr/>
        </p:nvSpPr>
        <p:spPr>
          <a:xfrm>
            <a:off x="1080000" y="2448000"/>
            <a:ext cx="2820000" cy="900000"/>
          </a:xfrm>
          <a:prstGeom prst="rect">
            <a:avLst/>
          </a:prstGeom>
          <a:noFill/>
          <a:effectLst>
            <a:glow rad="76200">
              <a:srgbClr val="2D588C">
                <a:alpha val="25000"/>
              </a:srgbClr>
            </a:glow>
          </a:effectLst>
        </p:spPr>
        <p:txBody>
          <a:bodyPr wrap="none" lIns="90000" rIns="90000" tIns="46800" bIns="46800">
            <a:noAutofit/>
          </a:bodyPr>
          <a:lstStyle/>
          <a:p>
            <a:pPr algn="ctr" rtl="1">
              <a:lnSpc>
                <a:spcPct val="110000"/>
              </a:lnSpc>
            </a:pPr>
            <a:r>
              <a:rPr sz="4800" b="0" lang="ar-JO">
                <a:solidFill>
                  <a:srgbClr val="2D588C"/>
                </a:solidFill>
                <a:cs typeface="Tajawal ExtraBold"/>
                <a:latin typeface="Tajawal ExtraBold"/>
                <a:ea typeface="Tajawal ExtraBold"/>
              </a:rPr>
              <a:t>500+</a:t>
            </a:r>
          </a:p>
        </p:txBody>
      </p:sp>
      <p:sp>
        <p:nvSpPr>
          <p:cNvPr id="10" name="icon_trend_1"/>
          <p:cNvSpPr txBox="1"/>
          <p:nvPr/>
        </p:nvSpPr>
        <p:spPr>
          <a:xfrm>
            <a:off x="1080000" y="3348000"/>
            <a:ext cx="2820000" cy="360000"/>
          </a:xfrm>
          <a:prstGeom prst="rect">
            <a:avLst/>
          </a:prstGeom>
          <a:noFill/>
        </p:spPr>
        <p:txBody>
          <a:bodyPr wrap="none" lIns="90000" rIns="90000" tIns="46800" bIns="46800">
            <a:noAutofit/>
          </a:bodyPr>
          <a:lstStyle/>
          <a:p>
            <a:pPr algn="ctr" rtl="1">
              <a:lnSpc>
                <a:spcPct val="130000"/>
              </a:lnSpc>
            </a:pPr>
            <a:r>
              <a:rPr sz="2400" b="0" lang="ar-JO">
                <a:solidFill>
                  <a:srgbClr val="4CAF50"/>
                </a:solidFill>
                <a:cs typeface="Tajawal ExtraBold"/>
                <a:latin typeface="Tajawal ExtraBold"/>
                <a:ea typeface="Tajawal ExtraBold"/>
              </a:rPr>
              <a:t>↑</a:t>
            </a:r>
          </a:p>
        </p:txBody>
      </p:sp>
      <p:sp>
        <p:nvSpPr>
          <p:cNvPr id="11" name="txt_stat_1_label"/>
          <p:cNvSpPr txBox="1"/>
          <p:nvPr/>
        </p:nvSpPr>
        <p:spPr>
          <a:xfrm>
            <a:off x="1008000" y="3780000"/>
            <a:ext cx="2964000" cy="540000"/>
          </a:xfrm>
          <a:prstGeom prst="rect">
            <a:avLst/>
          </a:prstGeom>
          <a:noFill/>
        </p:spPr>
        <p:txBody>
          <a:bodyPr wrap="square" lIns="90000" rIns="90000" tIns="46800" bIns="46800">
            <a:noAutofit/>
          </a:bodyPr>
          <a:lstStyle/>
          <a:p>
            <a:pPr algn="ctr" rtl="1"/>
            <a:r>
              <a:rPr sz="1600" b="0" lang="ar-JO">
                <a:solidFill>
                  <a:srgbClr val="333333"/>
                </a:solidFill>
                <a:cs typeface="Tajawal Medium"/>
                <a:latin typeface="Tajawal Medium"/>
                <a:ea typeface="Tajawal Medium"/>
              </a:rPr>
              <a:t>ساعة فيديو كل دقيقة</a:t>
            </a:r>
          </a:p>
        </p:txBody>
      </p:sp>
      <p:sp>
        <p:nvSpPr>
          <p:cNvPr id="12" name="txt_stat_1_desc"/>
          <p:cNvSpPr txBox="1"/>
          <p:nvPr/>
        </p:nvSpPr>
        <p:spPr>
          <a:xfrm>
            <a:off x="1008000" y="4428000"/>
            <a:ext cx="2964000" cy="540000"/>
          </a:xfrm>
          <a:prstGeom prst="rect">
            <a:avLst/>
          </a:prstGeom>
          <a:noFill/>
        </p:spPr>
        <p:txBody>
          <a:bodyPr wrap="square" lIns="90000" rIns="90000" tIns="46800" bIns="46800">
            <a:noAutofit/>
          </a:bodyPr>
          <a:lstStyle/>
          <a:p>
            <a:pPr algn="ctr" rtl="1"/>
            <a:r>
              <a:rPr sz="1200" b="0" lang="ar-JO">
                <a:solidFill>
                  <a:srgbClr val="6B6B6B"/>
                </a:solidFill>
                <a:cs typeface="Tajawal"/>
                <a:latin typeface="Tajawal"/>
                <a:ea typeface="Tajawal"/>
              </a:rPr>
              <a:t>يُرفع على يوتيوب</a:t>
            </a:r>
          </a:p>
        </p:txBody>
      </p:sp>
      <p:sp>
        <p:nvSpPr>
          <p:cNvPr id="13" name="card_stat_2"/>
          <p:cNvSpPr/>
          <p:nvPr/>
        </p:nvSpPr>
        <p:spPr>
          <a:xfrm>
            <a:off x="4440000" y="1980000"/>
            <a:ext cx="3180000" cy="3060000"/>
          </a:xfrm>
          <a:prstGeom prst="roundRect">
            <a:avLst>
              <a:gd name="adj" fmla="val 4000"/>
            </a:avLst>
          </a:prstGeom>
          <a:solidFill>
            <a:srgbClr val="FFFFFF"/>
          </a:solidFill>
          <a:ln w="1270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ccent_stat_2"/>
          <p:cNvSpPr/>
          <p:nvPr/>
        </p:nvSpPr>
        <p:spPr>
          <a:xfrm>
            <a:off x="4440000" y="1980000"/>
            <a:ext cx="3180000" cy="180000"/>
          </a:xfrm>
          <a:prstGeom prst="rect">
            <a:avLst/>
          </a:prstGeom>
          <a:ln>
            <a:noFill/>
          </a:ln>
          <a:gradFill>
            <a:gsLst>
              <a:gs pos="0">
                <a:srgbClr val="156082"/>
              </a:gs>
              <a:gs pos="100000">
                <a:srgbClr val="3D88A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tat_2_number"/>
          <p:cNvSpPr txBox="1"/>
          <p:nvPr/>
        </p:nvSpPr>
        <p:spPr>
          <a:xfrm>
            <a:off x="4620000" y="2448000"/>
            <a:ext cx="2820000" cy="900000"/>
          </a:xfrm>
          <a:prstGeom prst="rect">
            <a:avLst/>
          </a:prstGeom>
          <a:noFill/>
          <a:effectLst>
            <a:glow rad="76200">
              <a:srgbClr val="156082">
                <a:alpha val="25000"/>
              </a:srgbClr>
            </a:glow>
          </a:effectLst>
        </p:spPr>
        <p:txBody>
          <a:bodyPr wrap="none" lIns="90000" rIns="90000" tIns="46800" bIns="46800">
            <a:noAutofit/>
          </a:bodyPr>
          <a:lstStyle/>
          <a:p>
            <a:pPr algn="ctr" rtl="1">
              <a:lnSpc>
                <a:spcPct val="110000"/>
              </a:lnSpc>
            </a:pPr>
            <a:r>
              <a:rPr sz="4800" b="0" lang="ar-JO">
                <a:solidFill>
                  <a:srgbClr val="156082"/>
                </a:solidFill>
                <a:cs typeface="Tajawal ExtraBold"/>
                <a:latin typeface="Tajawal ExtraBold"/>
                <a:ea typeface="Tajawal ExtraBold"/>
              </a:rPr>
              <a:t>2.5</a:t>
            </a:r>
          </a:p>
        </p:txBody>
      </p:sp>
      <p:sp>
        <p:nvSpPr>
          <p:cNvPr id="16" name="icon_trend_2"/>
          <p:cNvSpPr txBox="1"/>
          <p:nvPr/>
        </p:nvSpPr>
        <p:spPr>
          <a:xfrm>
            <a:off x="4620000" y="3348000"/>
            <a:ext cx="2820000" cy="360000"/>
          </a:xfrm>
          <a:prstGeom prst="rect">
            <a:avLst/>
          </a:prstGeom>
          <a:noFill/>
        </p:spPr>
        <p:txBody>
          <a:bodyPr wrap="none" lIns="90000" rIns="90000" tIns="46800" bIns="46800">
            <a:noAutofit/>
          </a:bodyPr>
          <a:lstStyle/>
          <a:p>
            <a:pPr algn="ctr" rtl="1">
              <a:lnSpc>
                <a:spcPct val="130000"/>
              </a:lnSpc>
            </a:pPr>
            <a:r>
              <a:rPr sz="2400" b="0" lang="ar-JO">
                <a:solidFill>
                  <a:srgbClr val="4CAF50"/>
                </a:solidFill>
                <a:cs typeface="Tajawal ExtraBold"/>
                <a:latin typeface="Tajawal ExtraBold"/>
                <a:ea typeface="Tajawal ExtraBold"/>
              </a:rPr>
              <a:t>↑</a:t>
            </a:r>
          </a:p>
        </p:txBody>
      </p:sp>
      <p:sp>
        <p:nvSpPr>
          <p:cNvPr id="17" name="txt_stat_2_label"/>
          <p:cNvSpPr txBox="1"/>
          <p:nvPr/>
        </p:nvSpPr>
        <p:spPr>
          <a:xfrm>
            <a:off x="4548000" y="3780000"/>
            <a:ext cx="2964000" cy="540000"/>
          </a:xfrm>
          <a:prstGeom prst="rect">
            <a:avLst/>
          </a:prstGeom>
          <a:noFill/>
        </p:spPr>
        <p:txBody>
          <a:bodyPr wrap="square" lIns="90000" rIns="90000" tIns="46800" bIns="46800">
            <a:noAutofit/>
          </a:bodyPr>
          <a:lstStyle/>
          <a:p>
            <a:pPr algn="ctr" rtl="1"/>
            <a:r>
              <a:rPr sz="1600" b="0" lang="ar-JO">
                <a:solidFill>
                  <a:srgbClr val="333333"/>
                </a:solidFill>
                <a:cs typeface="Tajawal Medium"/>
                <a:latin typeface="Tajawal Medium"/>
                <a:ea typeface="Tajawal Medium"/>
              </a:rPr>
              <a:t>كوينتيليون بايت يومياً</a:t>
            </a:r>
          </a:p>
        </p:txBody>
      </p:sp>
      <p:sp>
        <p:nvSpPr>
          <p:cNvPr id="18" name="txt_stat_2_desc"/>
          <p:cNvSpPr txBox="1"/>
          <p:nvPr/>
        </p:nvSpPr>
        <p:spPr>
          <a:xfrm>
            <a:off x="4548000" y="4428000"/>
            <a:ext cx="2964000" cy="540000"/>
          </a:xfrm>
          <a:prstGeom prst="rect">
            <a:avLst/>
          </a:prstGeom>
          <a:noFill/>
        </p:spPr>
        <p:txBody>
          <a:bodyPr wrap="square" lIns="90000" rIns="90000" tIns="46800" bIns="46800">
            <a:noAutofit/>
          </a:bodyPr>
          <a:lstStyle/>
          <a:p>
            <a:pPr algn="ctr" rtl="1"/>
            <a:r>
              <a:rPr sz="1200" b="0" lang="ar-JO">
                <a:solidFill>
                  <a:srgbClr val="6B6B6B"/>
                </a:solidFill>
                <a:cs typeface="Tajawal"/>
                <a:latin typeface="Tajawal"/>
                <a:ea typeface="Tajawal"/>
              </a:rPr>
              <a:t>حجم البيانات المُنتجة عالمياً</a:t>
            </a:r>
          </a:p>
        </p:txBody>
      </p:sp>
      <p:sp>
        <p:nvSpPr>
          <p:cNvPr id="19" name="card_stat_3"/>
          <p:cNvSpPr/>
          <p:nvPr/>
        </p:nvSpPr>
        <p:spPr>
          <a:xfrm>
            <a:off x="7980000" y="1980000"/>
            <a:ext cx="3180000" cy="3060000"/>
          </a:xfrm>
          <a:prstGeom prst="roundRect">
            <a:avLst>
              <a:gd name="adj" fmla="val 4000"/>
            </a:avLst>
          </a:prstGeom>
          <a:solidFill>
            <a:srgbClr val="FFFFFF"/>
          </a:solidFill>
          <a:ln w="1270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ccent_stat_3"/>
          <p:cNvSpPr/>
          <p:nvPr/>
        </p:nvSpPr>
        <p:spPr>
          <a:xfrm>
            <a:off x="7980000" y="1980000"/>
            <a:ext cx="3180000" cy="180000"/>
          </a:xfrm>
          <a:prstGeom prst="rect">
            <a:avLst/>
          </a:prstGeom>
          <a:ln>
            <a:noFill/>
          </a:ln>
          <a:gradFill>
            <a:gsLst>
              <a:gs pos="0">
                <a:srgbClr val="009688"/>
              </a:gs>
              <a:gs pos="100000">
                <a:srgbClr val="28BEB0"/>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xt_stat_3_number"/>
          <p:cNvSpPr txBox="1"/>
          <p:nvPr/>
        </p:nvSpPr>
        <p:spPr>
          <a:xfrm>
            <a:off x="8160000" y="2448000"/>
            <a:ext cx="2820000" cy="900000"/>
          </a:xfrm>
          <a:prstGeom prst="rect">
            <a:avLst/>
          </a:prstGeom>
          <a:noFill/>
          <a:effectLst>
            <a:glow rad="76200">
              <a:srgbClr val="009688">
                <a:alpha val="25000"/>
              </a:srgbClr>
            </a:glow>
          </a:effectLst>
        </p:spPr>
        <p:txBody>
          <a:bodyPr wrap="none" lIns="90000" rIns="90000" tIns="46800" bIns="46800">
            <a:noAutofit/>
          </a:bodyPr>
          <a:lstStyle/>
          <a:p>
            <a:pPr algn="ctr" rtl="1">
              <a:lnSpc>
                <a:spcPct val="110000"/>
              </a:lnSpc>
            </a:pPr>
            <a:r>
              <a:rPr sz="4800" b="0" lang="ar-JO">
                <a:solidFill>
                  <a:srgbClr val="009688"/>
                </a:solidFill>
                <a:cs typeface="Tajawal ExtraBold"/>
                <a:latin typeface="Tajawal ExtraBold"/>
                <a:ea typeface="Tajawal ExtraBold"/>
              </a:rPr>
              <a:t>4.9B</a:t>
            </a:r>
          </a:p>
        </p:txBody>
      </p:sp>
      <p:sp>
        <p:nvSpPr>
          <p:cNvPr id="22" name="icon_trend_3"/>
          <p:cNvSpPr txBox="1"/>
          <p:nvPr/>
        </p:nvSpPr>
        <p:spPr>
          <a:xfrm>
            <a:off x="8160000" y="3348000"/>
            <a:ext cx="2820000" cy="360000"/>
          </a:xfrm>
          <a:prstGeom prst="rect">
            <a:avLst/>
          </a:prstGeom>
          <a:noFill/>
        </p:spPr>
        <p:txBody>
          <a:bodyPr wrap="none" lIns="90000" rIns="90000" tIns="46800" bIns="46800">
            <a:noAutofit/>
          </a:bodyPr>
          <a:lstStyle/>
          <a:p>
            <a:pPr algn="ctr" rtl="1">
              <a:lnSpc>
                <a:spcPct val="130000"/>
              </a:lnSpc>
            </a:pPr>
            <a:r>
              <a:rPr sz="2400" b="0" lang="ar-JO">
                <a:solidFill>
                  <a:srgbClr val="4CAF50"/>
                </a:solidFill>
                <a:cs typeface="Tajawal ExtraBold"/>
                <a:latin typeface="Tajawal ExtraBold"/>
                <a:ea typeface="Tajawal ExtraBold"/>
              </a:rPr>
              <a:t>↑</a:t>
            </a:r>
          </a:p>
        </p:txBody>
      </p:sp>
      <p:sp>
        <p:nvSpPr>
          <p:cNvPr id="23" name="txt_stat_3_label"/>
          <p:cNvSpPr txBox="1"/>
          <p:nvPr/>
        </p:nvSpPr>
        <p:spPr>
          <a:xfrm>
            <a:off x="8088000" y="3780000"/>
            <a:ext cx="2964000" cy="540000"/>
          </a:xfrm>
          <a:prstGeom prst="rect">
            <a:avLst/>
          </a:prstGeom>
          <a:noFill/>
        </p:spPr>
        <p:txBody>
          <a:bodyPr wrap="square" lIns="90000" rIns="90000" tIns="46800" bIns="46800">
            <a:noAutofit/>
          </a:bodyPr>
          <a:lstStyle/>
          <a:p>
            <a:pPr algn="ctr" rtl="1"/>
            <a:r>
              <a:rPr sz="1600" b="0" lang="ar-JO">
                <a:solidFill>
                  <a:srgbClr val="333333"/>
                </a:solidFill>
                <a:cs typeface="Tajawal Medium"/>
                <a:latin typeface="Tajawal Medium"/>
                <a:ea typeface="Tajawal Medium"/>
              </a:rPr>
              <a:t>مستخدم إنترنت</a:t>
            </a:r>
          </a:p>
        </p:txBody>
      </p:sp>
      <p:sp>
        <p:nvSpPr>
          <p:cNvPr id="24" name="txt_stat_3_desc"/>
          <p:cNvSpPr txBox="1"/>
          <p:nvPr/>
        </p:nvSpPr>
        <p:spPr>
          <a:xfrm>
            <a:off x="8088000" y="4428000"/>
            <a:ext cx="2964000" cy="540000"/>
          </a:xfrm>
          <a:prstGeom prst="rect">
            <a:avLst/>
          </a:prstGeom>
          <a:noFill/>
        </p:spPr>
        <p:txBody>
          <a:bodyPr wrap="square" lIns="90000" rIns="90000" tIns="46800" bIns="46800">
            <a:noAutofit/>
          </a:bodyPr>
          <a:lstStyle/>
          <a:p>
            <a:pPr algn="ctr" rtl="1"/>
            <a:r>
              <a:rPr sz="1200" b="0" lang="ar-JO">
                <a:solidFill>
                  <a:srgbClr val="6B6B6B"/>
                </a:solidFill>
                <a:cs typeface="Tajawal"/>
                <a:latin typeface="Tajawal"/>
                <a:ea typeface="Tajawal"/>
              </a:rPr>
              <a:t>يولّدون بيانات كل ثانية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مقدمة عن عقلية البيانات</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22_090852.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مقدمة عن عقلية البيانات</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كيف نفكر ونتعلم ونتواصل باستخدام البيانات</a:t>
            </a:r>
          </a:p>
        </p:txBody>
      </p:sp>
      <p:sp>
        <p:nvSpPr>
          <p:cNvPr id="16" name="dot_section_1"/>
          <p:cNvSpPr/>
          <p:nvPr/>
        </p:nvSpPr>
        <p:spPr>
          <a:xfrm>
            <a:off x="5088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700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276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t_section_4"/>
          <p:cNvSpPr/>
          <p:nvPr/>
        </p:nvSpPr>
        <p:spPr>
          <a:xfrm>
            <a:off x="6852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نحن نعيش في عالم البيانات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نحن نعيش في عالم البيانات</a:t>
            </a:r>
          </a:p>
        </p:txBody>
      </p:sp>
      <p:pic>
        <p:nvPicPr>
          <p:cNvPr id="6" name="img_content" descr="img_20260222_090908.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كل ثانية تُنتَج كميات هائلة من البيانات حول العالم</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التغريدات والصور والتسوق الإلكتروني كلها تولّد بيانات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البيانات أصبحت جزءاً لا يتجزأ من حياتنا اليومية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من يفهم البيانات يتخذ قرارات أفضل ويحقق نتائج أعلى</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ما هي عقلية البيانات؟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ما هي عقلية البيانات؟</a:t>
            </a:r>
          </a:p>
        </p:txBody>
      </p:sp>
      <p:sp>
        <p:nvSpPr>
          <p:cNvPr id="6" name="txt_instruction"/>
          <p:cNvSpPr txBox="1"/>
          <p:nvPr/>
        </p:nvSpPr>
        <p:spPr>
          <a:xfrm>
            <a:off x="900000" y="1620000"/>
            <a:ext cx="1044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Medium"/>
                <a:latin typeface="Tajawal Medium"/>
                <a:ea typeface="Tajawal Medium"/>
              </a:rPr>
              <a:t>انقر على كل عنصر لاكتشاف مكونات عقلية البيانات</a:t>
            </a:r>
          </a:p>
        </p:txBody>
      </p:sp>
      <p:sp>
        <p:nvSpPr>
          <p:cNvPr id="7" name="btn_reveal_1"/>
          <p:cNvSpPr/>
          <p:nvPr/>
        </p:nvSpPr>
        <p:spPr>
          <a:xfrm>
            <a:off x="900000" y="2520000"/>
            <a:ext cx="3300000" cy="900000"/>
          </a:xfrm>
          <a:prstGeom prst="roundRect">
            <a:avLst>
              <a:gd name="adj" fmla="val 8000"/>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التعرف على البيانات</a:t>
            </a:r>
          </a:p>
        </p:txBody>
      </p:sp>
      <p:sp>
        <p:nvSpPr>
          <p:cNvPr id="8" name="btn_reveal_2"/>
          <p:cNvSpPr/>
          <p:nvPr/>
        </p:nvSpPr>
        <p:spPr>
          <a:xfrm>
            <a:off x="4380000" y="2520000"/>
            <a:ext cx="330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التعلم من البيانات</a:t>
            </a:r>
          </a:p>
        </p:txBody>
      </p:sp>
      <p:sp>
        <p:nvSpPr>
          <p:cNvPr id="9" name="btn_reveal_3"/>
          <p:cNvSpPr/>
          <p:nvPr/>
        </p:nvSpPr>
        <p:spPr>
          <a:xfrm>
            <a:off x="7860000" y="2520000"/>
            <a:ext cx="330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التواصل بالبيانات</a:t>
            </a:r>
          </a:p>
        </p:txBody>
      </p:sp>
      <p:sp>
        <p:nvSpPr>
          <p:cNvPr id="10" name="bg_reveal_desc"/>
          <p:cNvSpPr/>
          <p:nvPr/>
        </p:nvSpPr>
        <p:spPr>
          <a:xfrm>
            <a:off x="900000" y="3780000"/>
            <a:ext cx="10260000" cy="1800000"/>
          </a:xfrm>
          <a:prstGeom prst="roundRect">
            <a:avLst/>
          </a:prstGeom>
          <a:solidFill>
            <a:srgbClr val="E3F2FD"/>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ccent_desc_bar"/>
          <p:cNvSpPr/>
          <p:nvPr/>
        </p:nvSpPr>
        <p:spPr>
          <a:xfrm>
            <a:off x="10980000" y="3780000"/>
            <a:ext cx="144000" cy="1800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t_reveal_desc"/>
          <p:cNvSpPr txBox="1"/>
          <p:nvPr/>
        </p:nvSpPr>
        <p:spPr>
          <a:xfrm>
            <a:off x="1080000" y="3960000"/>
            <a:ext cx="9900000" cy="14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رؤية البيانات في كل مكان حولنا والتعرف على مصادرها المتعددة — من وسائل التواصل الاجتماعي إلى أجهزة الاستشعار</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عقلية البيانات في حياتك اليومية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عقلية البيانات في حياتك اليومية</a:t>
            </a:r>
          </a:p>
        </p:txBody>
      </p:sp>
      <p:sp>
        <p:nvSpPr>
          <p:cNvPr id="6" name="bg_depth_wash"/>
          <p:cNvSpPr/>
          <p:nvPr/>
        </p:nvSpPr>
        <p:spPr>
          <a:xfrm>
            <a:off x="6432000" y="-1080000"/>
            <a:ext cx="7200000" cy="5040000"/>
          </a:xfrm>
          <a:prstGeom prst="ellipse">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_grid_1"/>
          <p:cNvSpPr/>
          <p:nvPr/>
        </p:nvSpPr>
        <p:spPr>
          <a:xfrm>
            <a:off x="6174000" y="1800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cent_grid_1"/>
          <p:cNvSpPr/>
          <p:nvPr/>
        </p:nvSpPr>
        <p:spPr>
          <a:xfrm>
            <a:off x="6174000" y="1800000"/>
            <a:ext cx="4986000" cy="108000"/>
          </a:xfrm>
          <a:prstGeom prst="rect">
            <a:avLst/>
          </a:prstGeom>
          <a:ln>
            <a:noFill/>
          </a:ln>
          <a:gradFill>
            <a:gsLst>
              <a:gs pos="0">
                <a:srgbClr val="FF9800"/>
              </a:gs>
              <a:gs pos="100000">
                <a:srgbClr val="FFC028"/>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xt_grid_1_icon"/>
          <p:cNvSpPr txBox="1"/>
          <p:nvPr/>
        </p:nvSpPr>
        <p:spPr>
          <a:xfrm>
            <a:off x="6282000" y="2016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circle</a:t>
            </a:r>
          </a:p>
        </p:txBody>
      </p:sp>
      <p:sp>
        <p:nvSpPr>
          <p:cNvPr id="10" name="txt_grid_1_label"/>
          <p:cNvSpPr txBox="1"/>
          <p:nvPr/>
        </p:nvSpPr>
        <p:spPr>
          <a:xfrm>
            <a:off x="6282000" y="2664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وسائل التواصل</a:t>
            </a:r>
          </a:p>
        </p:txBody>
      </p:sp>
      <p:sp>
        <p:nvSpPr>
          <p:cNvPr id="11" name="txt_grid_1_desc"/>
          <p:cNvSpPr txBox="1"/>
          <p:nvPr/>
        </p:nvSpPr>
        <p:spPr>
          <a:xfrm>
            <a:off x="6282000" y="3096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التغريدات والمنشورات تولّد بيانات عن اهتماماتك</a:t>
            </a:r>
          </a:p>
        </p:txBody>
      </p:sp>
      <p:sp>
        <p:nvSpPr>
          <p:cNvPr id="12" name="card_grid_2"/>
          <p:cNvSpPr/>
          <p:nvPr/>
        </p:nvSpPr>
        <p:spPr>
          <a:xfrm>
            <a:off x="900000" y="1800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ccent_grid_2"/>
          <p:cNvSpPr/>
          <p:nvPr/>
        </p:nvSpPr>
        <p:spPr>
          <a:xfrm>
            <a:off x="900000" y="1800000"/>
            <a:ext cx="4986000" cy="108000"/>
          </a:xfrm>
          <a:prstGeom prst="rect">
            <a:avLst/>
          </a:prstGeom>
          <a:ln>
            <a:noFill/>
          </a:ln>
          <a:gradFill>
            <a:gsLst>
              <a:gs pos="0">
                <a:srgbClr val="4A7AAE"/>
              </a:gs>
              <a:gs pos="100000">
                <a:srgbClr val="72A2D6"/>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t_grid_2_icon"/>
          <p:cNvSpPr txBox="1"/>
          <p:nvPr/>
        </p:nvSpPr>
        <p:spPr>
          <a:xfrm>
            <a:off x="1008000" y="2016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hexagon</a:t>
            </a:r>
          </a:p>
        </p:txBody>
      </p:sp>
      <p:sp>
        <p:nvSpPr>
          <p:cNvPr id="15" name="txt_grid_2_label"/>
          <p:cNvSpPr txBox="1"/>
          <p:nvPr/>
        </p:nvSpPr>
        <p:spPr>
          <a:xfrm>
            <a:off x="1008000" y="2664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التسوق الإلكتروني</a:t>
            </a:r>
          </a:p>
        </p:txBody>
      </p:sp>
      <p:sp>
        <p:nvSpPr>
          <p:cNvPr id="16" name="txt_grid_2_desc"/>
          <p:cNvSpPr txBox="1"/>
          <p:nvPr/>
        </p:nvSpPr>
        <p:spPr>
          <a:xfrm>
            <a:off x="1008000" y="3096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كل عملية شراء تُنتج بيانات تُستخدم في التوصيات</a:t>
            </a:r>
          </a:p>
        </p:txBody>
      </p:sp>
      <p:sp>
        <p:nvSpPr>
          <p:cNvPr id="17" name="card_grid_3"/>
          <p:cNvSpPr/>
          <p:nvPr/>
        </p:nvSpPr>
        <p:spPr>
          <a:xfrm>
            <a:off x="6174000" y="4068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ccent_grid_3"/>
          <p:cNvSpPr/>
          <p:nvPr/>
        </p:nvSpPr>
        <p:spPr>
          <a:xfrm>
            <a:off x="6174000" y="4068000"/>
            <a:ext cx="4986000" cy="108000"/>
          </a:xfrm>
          <a:prstGeom prst="rect">
            <a:avLst/>
          </a:prstGeom>
          <a:ln>
            <a:noFill/>
          </a:ln>
          <a:gradFill>
            <a:gsLst>
              <a:gs pos="0">
                <a:srgbClr val="2D588C"/>
              </a:gs>
              <a:gs pos="100000">
                <a:srgbClr val="5580B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t_grid_3_icon"/>
          <p:cNvSpPr txBox="1"/>
          <p:nvPr/>
        </p:nvSpPr>
        <p:spPr>
          <a:xfrm>
            <a:off x="6282000" y="4284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diamond</a:t>
            </a:r>
          </a:p>
        </p:txBody>
      </p:sp>
      <p:sp>
        <p:nvSpPr>
          <p:cNvPr id="20" name="txt_grid_3_label"/>
          <p:cNvSpPr txBox="1"/>
          <p:nvPr/>
        </p:nvSpPr>
        <p:spPr>
          <a:xfrm>
            <a:off x="6282000" y="4932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الصحة واللياقة</a:t>
            </a:r>
          </a:p>
        </p:txBody>
      </p:sp>
      <p:sp>
        <p:nvSpPr>
          <p:cNvPr id="21" name="txt_grid_3_desc"/>
          <p:cNvSpPr txBox="1"/>
          <p:nvPr/>
        </p:nvSpPr>
        <p:spPr>
          <a:xfrm>
            <a:off x="6282000" y="5364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الساعات الذكية تتابع خطواتك ونبضات قلبك</a:t>
            </a:r>
          </a:p>
        </p:txBody>
      </p:sp>
      <p:sp>
        <p:nvSpPr>
          <p:cNvPr id="22" name="card_grid_4"/>
          <p:cNvSpPr/>
          <p:nvPr/>
        </p:nvSpPr>
        <p:spPr>
          <a:xfrm>
            <a:off x="900000" y="4068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ccent_grid_4"/>
          <p:cNvSpPr/>
          <p:nvPr/>
        </p:nvSpPr>
        <p:spPr>
          <a:xfrm>
            <a:off x="900000" y="4068000"/>
            <a:ext cx="4986000" cy="108000"/>
          </a:xfrm>
          <a:prstGeom prst="rect">
            <a:avLst/>
          </a:prstGeom>
          <a:ln>
            <a:noFill/>
          </a:ln>
          <a:gradFill>
            <a:gsLst>
              <a:gs pos="0">
                <a:srgbClr val="156082"/>
              </a:gs>
              <a:gs pos="100000">
                <a:srgbClr val="3D88A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xt_grid_4_icon"/>
          <p:cNvSpPr txBox="1"/>
          <p:nvPr/>
        </p:nvSpPr>
        <p:spPr>
          <a:xfrm>
            <a:off x="1008000" y="4284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circle</a:t>
            </a:r>
          </a:p>
        </p:txBody>
      </p:sp>
      <p:sp>
        <p:nvSpPr>
          <p:cNvPr id="25" name="txt_grid_4_label"/>
          <p:cNvSpPr txBox="1"/>
          <p:nvPr/>
        </p:nvSpPr>
        <p:spPr>
          <a:xfrm>
            <a:off x="1008000" y="4932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التنقل والمواصلات</a:t>
            </a:r>
          </a:p>
        </p:txBody>
      </p:sp>
      <p:sp>
        <p:nvSpPr>
          <p:cNvPr id="26" name="txt_grid_4_desc"/>
          <p:cNvSpPr txBox="1"/>
          <p:nvPr/>
        </p:nvSpPr>
        <p:spPr>
          <a:xfrm>
            <a:off x="1008000" y="5364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تطبيقات الخرائط تحلل بيانات المرور لتختار أفضل طريق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البيانات الضخمة</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22_090923.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البيانات الضخمة</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الخصائص الرئيسية والتحديات</a:t>
            </a:r>
          </a:p>
        </p:txBody>
      </p:sp>
      <p:sp>
        <p:nvSpPr>
          <p:cNvPr id="16" name="dot_section_1"/>
          <p:cNvSpPr/>
          <p:nvPr/>
        </p:nvSpPr>
        <p:spPr>
          <a:xfrm>
            <a:off x="5124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664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276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t_section_4"/>
          <p:cNvSpPr/>
          <p:nvPr/>
        </p:nvSpPr>
        <p:spPr>
          <a:xfrm>
            <a:off x="6852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ما هي البيانات الضخمة؟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ما هي البيانات الضخمة؟</a:t>
            </a:r>
          </a:p>
        </p:txBody>
      </p:sp>
      <p:pic>
        <p:nvPicPr>
          <p:cNvPr id="6" name="img_content" descr="img_20260222_090941.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مجموعات بيانات ضخمة جداً لا يمكن التعامل معها بالأدوات التقليدية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تتميز بثلاث خصائص رئيسية تُعرف بنموذج 3V</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فيسبوك وحده يولّد تيرابايتات من البيانات يومياً</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تحتاج إلى تقنيات متقدمة لتخزينها ومعالجتها وتحليلها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خصائص البيانات الضخمة (3V)</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خصائص البيانات الضخمة (3V)</a:t>
            </a:r>
          </a:p>
        </p:txBody>
      </p:sp>
      <p:sp>
        <p:nvSpPr>
          <p:cNvPr id="6" name="bg_depth_wash"/>
          <p:cNvSpPr/>
          <p:nvPr/>
        </p:nvSpPr>
        <p:spPr>
          <a:xfrm>
            <a:off x="6432000" y="-1080000"/>
            <a:ext cx="7200000" cy="5040000"/>
          </a:xfrm>
          <a:prstGeom prst="ellipse">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_step_1"/>
          <p:cNvSpPr/>
          <p:nvPr/>
        </p:nvSpPr>
        <p:spPr>
          <a:xfrm>
            <a:off x="8088000" y="1980000"/>
            <a:ext cx="3252000" cy="1800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cent_step_1"/>
          <p:cNvSpPr/>
          <p:nvPr/>
        </p:nvSpPr>
        <p:spPr>
          <a:xfrm>
            <a:off x="8088000" y="1980000"/>
            <a:ext cx="3252000" cy="180000"/>
          </a:xfrm>
          <a:prstGeom prst="rect">
            <a:avLst/>
          </a:prstGeom>
          <a:ln>
            <a:noFill/>
          </a:ln>
          <a:gradFill>
            <a:gsLst>
              <a:gs pos="0">
                <a:srgbClr val="009688"/>
              </a:gs>
              <a:gs pos="100000">
                <a:srgbClr val="28BEB0"/>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num_step_1"/>
          <p:cNvSpPr/>
          <p:nvPr/>
        </p:nvSpPr>
        <p:spPr>
          <a:xfrm>
            <a:off x="9462000" y="2268000"/>
            <a:ext cx="503999" cy="503999"/>
          </a:xfrm>
          <a:prstGeom prst="ellipse">
            <a:avLst/>
          </a:prstGeom>
          <a:solidFill>
            <a:srgbClr val="009688"/>
          </a:solidFill>
          <a:ln>
            <a:noFill/>
          </a:ln>
          <a:effectLst>
            <a:glow rad="76200">
              <a:srgbClr val="009688">
                <a:alpha val="30000"/>
              </a:srgbClr>
            </a:glow>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0" lang="ar-JO">
                <a:solidFill>
                  <a:srgbClr val="FFFFFF"/>
                </a:solidFill>
                <a:cs typeface="Tajawal ExtraBold"/>
                <a:latin typeface="Tajawal ExtraBold"/>
                <a:ea typeface="Tajawal ExtraBold"/>
              </a:rPr>
              <a:t>1</a:t>
            </a:r>
          </a:p>
        </p:txBody>
      </p:sp>
      <p:sp>
        <p:nvSpPr>
          <p:cNvPr id="10" name="txt_step_1_label"/>
          <p:cNvSpPr txBox="1"/>
          <p:nvPr/>
        </p:nvSpPr>
        <p:spPr>
          <a:xfrm>
            <a:off x="8196000" y="2843999"/>
            <a:ext cx="3036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الحجم (Volume)</a:t>
            </a:r>
          </a:p>
        </p:txBody>
      </p:sp>
      <p:sp>
        <p:nvSpPr>
          <p:cNvPr id="11" name="txt_step_1_desc"/>
          <p:cNvSpPr txBox="1"/>
          <p:nvPr/>
        </p:nvSpPr>
        <p:spPr>
          <a:xfrm>
            <a:off x="8196000" y="3275999"/>
            <a:ext cx="3036000" cy="46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كميات هائلة — يوتيوب يستقبل 500+ ساعة فيديو كل دقيقة</a:t>
            </a:r>
          </a:p>
        </p:txBody>
      </p:sp>
      <p:sp>
        <p:nvSpPr>
          <p:cNvPr id="12" name="arrow_1_2"/>
          <p:cNvSpPr/>
          <p:nvPr/>
        </p:nvSpPr>
        <p:spPr>
          <a:xfrm rot="10800000">
            <a:off x="7656000" y="2736000"/>
            <a:ext cx="432000" cy="288000"/>
          </a:xfrm>
          <a:prstGeom prst="notchedRightArrow">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card_step_2"/>
          <p:cNvSpPr/>
          <p:nvPr/>
        </p:nvSpPr>
        <p:spPr>
          <a:xfrm>
            <a:off x="4404000" y="1980000"/>
            <a:ext cx="3252000" cy="1800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ccent_step_2"/>
          <p:cNvSpPr/>
          <p:nvPr/>
        </p:nvSpPr>
        <p:spPr>
          <a:xfrm>
            <a:off x="4404000" y="1980000"/>
            <a:ext cx="3252000" cy="180000"/>
          </a:xfrm>
          <a:prstGeom prst="rect">
            <a:avLst/>
          </a:prstGeom>
          <a:ln>
            <a:noFill/>
          </a:ln>
          <a:gradFill>
            <a:gsLst>
              <a:gs pos="0">
                <a:srgbClr val="FF9800"/>
              </a:gs>
              <a:gs pos="100000">
                <a:srgbClr val="FFC028"/>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um_step_2"/>
          <p:cNvSpPr/>
          <p:nvPr/>
        </p:nvSpPr>
        <p:spPr>
          <a:xfrm>
            <a:off x="5778000" y="2268000"/>
            <a:ext cx="503999" cy="503999"/>
          </a:xfrm>
          <a:prstGeom prst="ellipse">
            <a:avLst/>
          </a:prstGeom>
          <a:solidFill>
            <a:srgbClr val="FF9800"/>
          </a:solidFill>
          <a:ln>
            <a:noFill/>
          </a:ln>
          <a:effectLst>
            <a:glow rad="76200">
              <a:srgbClr val="FF9800">
                <a:alpha val="30000"/>
              </a:srgbClr>
            </a:glow>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0" lang="ar-JO">
                <a:solidFill>
                  <a:srgbClr val="FFFFFF"/>
                </a:solidFill>
                <a:cs typeface="Tajawal ExtraBold"/>
                <a:latin typeface="Tajawal ExtraBold"/>
                <a:ea typeface="Tajawal ExtraBold"/>
              </a:rPr>
              <a:t>2</a:t>
            </a:r>
          </a:p>
        </p:txBody>
      </p:sp>
      <p:sp>
        <p:nvSpPr>
          <p:cNvPr id="16" name="txt_step_2_label"/>
          <p:cNvSpPr txBox="1"/>
          <p:nvPr/>
        </p:nvSpPr>
        <p:spPr>
          <a:xfrm>
            <a:off x="4512000" y="2843999"/>
            <a:ext cx="3036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السرعة (Velocity)</a:t>
            </a:r>
          </a:p>
        </p:txBody>
      </p:sp>
      <p:sp>
        <p:nvSpPr>
          <p:cNvPr id="17" name="txt_step_2_desc"/>
          <p:cNvSpPr txBox="1"/>
          <p:nvPr/>
        </p:nvSpPr>
        <p:spPr>
          <a:xfrm>
            <a:off x="4512000" y="3275999"/>
            <a:ext cx="3036000" cy="46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سرعة فائقة — ملايين رسائل واتساب كل ثانية</a:t>
            </a:r>
          </a:p>
        </p:txBody>
      </p:sp>
      <p:sp>
        <p:nvSpPr>
          <p:cNvPr id="18" name="arrow_2_3"/>
          <p:cNvSpPr/>
          <p:nvPr/>
        </p:nvSpPr>
        <p:spPr>
          <a:xfrm rot="10800000">
            <a:off x="3972000" y="2736000"/>
            <a:ext cx="432000" cy="288000"/>
          </a:xfrm>
          <a:prstGeom prst="notchedRightArrow">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ard_step_3"/>
          <p:cNvSpPr/>
          <p:nvPr/>
        </p:nvSpPr>
        <p:spPr>
          <a:xfrm>
            <a:off x="720000" y="1980000"/>
            <a:ext cx="3252000" cy="1800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ccent_step_3"/>
          <p:cNvSpPr/>
          <p:nvPr/>
        </p:nvSpPr>
        <p:spPr>
          <a:xfrm>
            <a:off x="720000" y="1980000"/>
            <a:ext cx="3252000" cy="180000"/>
          </a:xfrm>
          <a:prstGeom prst="rect">
            <a:avLst/>
          </a:prstGeom>
          <a:ln>
            <a:noFill/>
          </a:ln>
          <a:gradFill>
            <a:gsLst>
              <a:gs pos="0">
                <a:srgbClr val="4A7AAE"/>
              </a:gs>
              <a:gs pos="100000">
                <a:srgbClr val="72A2D6"/>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num_step_3"/>
          <p:cNvSpPr/>
          <p:nvPr/>
        </p:nvSpPr>
        <p:spPr>
          <a:xfrm>
            <a:off x="2094000" y="2268000"/>
            <a:ext cx="503999" cy="503999"/>
          </a:xfrm>
          <a:prstGeom prst="ellipse">
            <a:avLst/>
          </a:prstGeom>
          <a:solidFill>
            <a:srgbClr val="4A7AAE"/>
          </a:solidFill>
          <a:ln>
            <a:noFill/>
          </a:ln>
          <a:effectLst>
            <a:glow rad="76200">
              <a:srgbClr val="4A7AAE">
                <a:alpha val="30000"/>
              </a:srgbClr>
            </a:glow>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0" lang="ar-JO">
                <a:solidFill>
                  <a:srgbClr val="FFFFFF"/>
                </a:solidFill>
                <a:cs typeface="Tajawal ExtraBold"/>
                <a:latin typeface="Tajawal ExtraBold"/>
                <a:ea typeface="Tajawal ExtraBold"/>
              </a:rPr>
              <a:t>3</a:t>
            </a:r>
          </a:p>
        </p:txBody>
      </p:sp>
      <p:sp>
        <p:nvSpPr>
          <p:cNvPr id="22" name="txt_step_3_label"/>
          <p:cNvSpPr txBox="1"/>
          <p:nvPr/>
        </p:nvSpPr>
        <p:spPr>
          <a:xfrm>
            <a:off x="828000" y="2843999"/>
            <a:ext cx="3036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التنوع (Variety)</a:t>
            </a:r>
          </a:p>
        </p:txBody>
      </p:sp>
      <p:sp>
        <p:nvSpPr>
          <p:cNvPr id="23" name="txt_step_3_desc"/>
          <p:cNvSpPr txBox="1"/>
          <p:nvPr/>
        </p:nvSpPr>
        <p:spPr>
          <a:xfrm>
            <a:off x="828000" y="3275999"/>
            <a:ext cx="3036000" cy="46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أشكال متعددة — نصوص وصور وفيديو وبيانات مستشعرات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أي من التالي مثال على خاصية ال</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اختيار من متعدد</a:t>
            </a:r>
          </a:p>
        </p:txBody>
      </p:sp>
      <p:pic>
        <p:nvPicPr>
          <p:cNvPr id="6" name="img_quiz" descr="img_20260222_091007.png"/>
          <p:cNvPicPr>
            <a:picLocks noChangeAspect="1"/>
          </p:cNvPicPr>
          <p:nvPr/>
        </p:nvPicPr>
        <p:blipFill>
          <a:blip r:embed="rId3"/>
          <a:stretch>
            <a:fillRect/>
          </a:stretch>
        </p:blipFill>
        <p:spPr>
          <a:xfrm>
            <a:off x="720000" y="1652727"/>
            <a:ext cx="2520000" cy="1374545"/>
          </a:xfrm>
          <a:prstGeom prst="rect">
            <a:avLst/>
          </a:prstGeom>
        </p:spPr>
      </p:pic>
      <p:sp>
        <p:nvSpPr>
          <p:cNvPr id="7" name="txt_question"/>
          <p:cNvSpPr txBox="1"/>
          <p:nvPr/>
        </p:nvSpPr>
        <p:spPr>
          <a:xfrm>
            <a:off x="3600000" y="1800000"/>
            <a:ext cx="7560000" cy="720000"/>
          </a:xfrm>
          <a:prstGeom prst="rect">
            <a:avLst/>
          </a:prstGeom>
          <a:noFill/>
        </p:spPr>
        <p:txBody>
          <a:bodyPr wrap="square" lIns="90000" rIns="90000" tIns="46800" bIns="46800">
            <a:noAutofit/>
          </a:bodyPr>
          <a:lstStyle/>
          <a:p>
            <a:pPr algn="r" rtl="1">
              <a:lnSpc>
                <a:spcPct val="130000"/>
              </a:lnSpc>
            </a:pPr>
            <a:r>
              <a:rPr sz="2400" b="0" lang="ar-JO">
                <a:solidFill>
                  <a:srgbClr val="333333"/>
                </a:solidFill>
                <a:cs typeface="Tajawal ExtraBold"/>
                <a:latin typeface="Tajawal ExtraBold"/>
                <a:ea typeface="Tajawal ExtraBold"/>
              </a:rPr>
              <a:t>أي من التالي مثال على خاصية السرعة (Velocity) في البيانات الضخمة؟</a:t>
            </a:r>
          </a:p>
        </p:txBody>
      </p:sp>
      <p:sp>
        <p:nvSpPr>
          <p:cNvPr id="8" name="bg_opt_a"/>
          <p:cNvSpPr/>
          <p:nvPr/>
        </p:nvSpPr>
        <p:spPr>
          <a:xfrm>
            <a:off x="900000" y="2664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pt_a"/>
          <p:cNvSpPr/>
          <p:nvPr/>
        </p:nvSpPr>
        <p:spPr>
          <a:xfrm>
            <a:off x="10260000" y="2736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أ</a:t>
            </a:r>
          </a:p>
        </p:txBody>
      </p:sp>
      <p:sp>
        <p:nvSpPr>
          <p:cNvPr id="10" name="txt_opt_a"/>
          <p:cNvSpPr txBox="1"/>
          <p:nvPr/>
        </p:nvSpPr>
        <p:spPr>
          <a:xfrm>
            <a:off x="1080000" y="2700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تخزين ملايين الصور على خوادم سحابية</a:t>
            </a:r>
          </a:p>
        </p:txBody>
      </p:sp>
      <p:sp>
        <p:nvSpPr>
          <p:cNvPr id="11" name="bg_opt_b"/>
          <p:cNvSpPr/>
          <p:nvPr/>
        </p:nvSpPr>
        <p:spPr>
          <a:xfrm>
            <a:off x="900000" y="3456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pt_b"/>
          <p:cNvSpPr/>
          <p:nvPr/>
        </p:nvSpPr>
        <p:spPr>
          <a:xfrm>
            <a:off x="10260000" y="3528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ب</a:t>
            </a:r>
          </a:p>
        </p:txBody>
      </p:sp>
      <p:sp>
        <p:nvSpPr>
          <p:cNvPr id="13" name="txt_opt_b"/>
          <p:cNvSpPr txBox="1"/>
          <p:nvPr/>
        </p:nvSpPr>
        <p:spPr>
          <a:xfrm>
            <a:off x="1080000" y="3492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معالجة معاملات بطاقات الائتمان لحظياً لاكتشاف الاحتيال</a:t>
            </a:r>
          </a:p>
        </p:txBody>
      </p:sp>
      <p:sp>
        <p:nvSpPr>
          <p:cNvPr id="14" name="bg_opt_c"/>
          <p:cNvSpPr/>
          <p:nvPr/>
        </p:nvSpPr>
        <p:spPr>
          <a:xfrm>
            <a:off x="900000" y="4248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pt_c"/>
          <p:cNvSpPr/>
          <p:nvPr/>
        </p:nvSpPr>
        <p:spPr>
          <a:xfrm>
            <a:off x="1026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ج</a:t>
            </a:r>
          </a:p>
        </p:txBody>
      </p:sp>
      <p:sp>
        <p:nvSpPr>
          <p:cNvPr id="16" name="txt_opt_c"/>
          <p:cNvSpPr txBox="1"/>
          <p:nvPr/>
        </p:nvSpPr>
        <p:spPr>
          <a:xfrm>
            <a:off x="1080000" y="4284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جمع بيانات من نصوص وصور وفيديو معاً</a:t>
            </a:r>
          </a:p>
        </p:txBody>
      </p:sp>
      <p:sp>
        <p:nvSpPr>
          <p:cNvPr id="17" name="bg_opt_d"/>
          <p:cNvSpPr/>
          <p:nvPr/>
        </p:nvSpPr>
        <p:spPr>
          <a:xfrm>
            <a:off x="900000" y="5040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t_d"/>
          <p:cNvSpPr/>
          <p:nvPr/>
        </p:nvSpPr>
        <p:spPr>
          <a:xfrm>
            <a:off x="10260000" y="5112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د</a:t>
            </a:r>
          </a:p>
        </p:txBody>
      </p:sp>
      <p:sp>
        <p:nvSpPr>
          <p:cNvPr id="19" name="txt_opt_d"/>
          <p:cNvSpPr txBox="1"/>
          <p:nvPr/>
        </p:nvSpPr>
        <p:spPr>
          <a:xfrm>
            <a:off x="1080000" y="5076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أرشفة سجلات المرضى في المستشفيات</a:t>
            </a:r>
          </a:p>
        </p:txBody>
      </p:sp>
      <p:sp>
        <p:nvSpPr>
          <p:cNvPr id="20" name="btn_check"/>
          <p:cNvSpPr/>
          <p:nvPr/>
        </p:nvSpPr>
        <p:spPr>
          <a:xfrm>
            <a:off x="3600000" y="5760000"/>
            <a:ext cx="3600000" cy="576000"/>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2200" b="0" lang="ar-JO">
                <a:solidFill>
                  <a:srgbClr val="FFFFFF"/>
                </a:solidFill>
                <a:cs typeface="Tajawal ExtraBold"/>
                <a:latin typeface="Tajawal ExtraBold"/>
                <a:ea typeface="Tajawal ExtraBold"/>
              </a:rPr>
              <a:t>تحقق من الإجابة</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البيانات تُحوّل الصناعات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البيانات تُحوّل الصناعات</a:t>
            </a:r>
          </a:p>
        </p:txBody>
      </p:sp>
      <p:sp>
        <p:nvSpPr>
          <p:cNvPr id="6" name="bg_depth_wash"/>
          <p:cNvSpPr/>
          <p:nvPr/>
        </p:nvSpPr>
        <p:spPr>
          <a:xfrm>
            <a:off x="6432000" y="-1080000"/>
            <a:ext cx="7200000" cy="5040000"/>
          </a:xfrm>
          <a:prstGeom prst="ellipse">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_grid_1"/>
          <p:cNvSpPr/>
          <p:nvPr/>
        </p:nvSpPr>
        <p:spPr>
          <a:xfrm>
            <a:off x="6174000" y="1800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cent_grid_1"/>
          <p:cNvSpPr/>
          <p:nvPr/>
        </p:nvSpPr>
        <p:spPr>
          <a:xfrm>
            <a:off x="6174000" y="1800000"/>
            <a:ext cx="4986000" cy="108000"/>
          </a:xfrm>
          <a:prstGeom prst="rect">
            <a:avLst/>
          </a:prstGeom>
          <a:ln>
            <a:noFill/>
          </a:ln>
          <a:gradFill>
            <a:gsLst>
              <a:gs pos="0">
                <a:srgbClr val="2D588C"/>
              </a:gs>
              <a:gs pos="100000">
                <a:srgbClr val="5580B4"/>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xt_grid_1_icon"/>
          <p:cNvSpPr txBox="1"/>
          <p:nvPr/>
        </p:nvSpPr>
        <p:spPr>
          <a:xfrm>
            <a:off x="6282000" y="2016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hexagon</a:t>
            </a:r>
          </a:p>
        </p:txBody>
      </p:sp>
      <p:sp>
        <p:nvSpPr>
          <p:cNvPr id="10" name="txt_grid_1_label"/>
          <p:cNvSpPr txBox="1"/>
          <p:nvPr/>
        </p:nvSpPr>
        <p:spPr>
          <a:xfrm>
            <a:off x="6282000" y="2664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الأعمال</a:t>
            </a:r>
          </a:p>
        </p:txBody>
      </p:sp>
      <p:sp>
        <p:nvSpPr>
          <p:cNvPr id="11" name="txt_grid_1_desc"/>
          <p:cNvSpPr txBox="1"/>
          <p:nvPr/>
        </p:nvSpPr>
        <p:spPr>
          <a:xfrm>
            <a:off x="6282000" y="3096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أمازون تحلل بيانات المشتريات لتقديم توصيات مخصصة</a:t>
            </a:r>
          </a:p>
        </p:txBody>
      </p:sp>
      <p:sp>
        <p:nvSpPr>
          <p:cNvPr id="12" name="card_grid_2"/>
          <p:cNvSpPr/>
          <p:nvPr/>
        </p:nvSpPr>
        <p:spPr>
          <a:xfrm>
            <a:off x="900000" y="1800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ccent_grid_2"/>
          <p:cNvSpPr/>
          <p:nvPr/>
        </p:nvSpPr>
        <p:spPr>
          <a:xfrm>
            <a:off x="900000" y="1800000"/>
            <a:ext cx="4986000" cy="108000"/>
          </a:xfrm>
          <a:prstGeom prst="rect">
            <a:avLst/>
          </a:prstGeom>
          <a:ln>
            <a:noFill/>
          </a:ln>
          <a:gradFill>
            <a:gsLst>
              <a:gs pos="0">
                <a:srgbClr val="156082"/>
              </a:gs>
              <a:gs pos="100000">
                <a:srgbClr val="3D88AA"/>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t_grid_2_icon"/>
          <p:cNvSpPr txBox="1"/>
          <p:nvPr/>
        </p:nvSpPr>
        <p:spPr>
          <a:xfrm>
            <a:off x="1008000" y="2016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circle</a:t>
            </a:r>
          </a:p>
        </p:txBody>
      </p:sp>
      <p:sp>
        <p:nvSpPr>
          <p:cNvPr id="15" name="txt_grid_2_label"/>
          <p:cNvSpPr txBox="1"/>
          <p:nvPr/>
        </p:nvSpPr>
        <p:spPr>
          <a:xfrm>
            <a:off x="1008000" y="2664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الصحة</a:t>
            </a:r>
          </a:p>
        </p:txBody>
      </p:sp>
      <p:sp>
        <p:nvSpPr>
          <p:cNvPr id="16" name="txt_grid_2_desc"/>
          <p:cNvSpPr txBox="1"/>
          <p:nvPr/>
        </p:nvSpPr>
        <p:spPr>
          <a:xfrm>
            <a:off x="1008000" y="3096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الساعات الذكية تراقب نبض القلب وتكشف المشكلات الصحية</a:t>
            </a:r>
          </a:p>
        </p:txBody>
      </p:sp>
      <p:sp>
        <p:nvSpPr>
          <p:cNvPr id="17" name="card_grid_3"/>
          <p:cNvSpPr/>
          <p:nvPr/>
        </p:nvSpPr>
        <p:spPr>
          <a:xfrm>
            <a:off x="6174000" y="4068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ccent_grid_3"/>
          <p:cNvSpPr/>
          <p:nvPr/>
        </p:nvSpPr>
        <p:spPr>
          <a:xfrm>
            <a:off x="6174000" y="4068000"/>
            <a:ext cx="4986000" cy="108000"/>
          </a:xfrm>
          <a:prstGeom prst="rect">
            <a:avLst/>
          </a:prstGeom>
          <a:ln>
            <a:noFill/>
          </a:ln>
          <a:gradFill>
            <a:gsLst>
              <a:gs pos="0">
                <a:srgbClr val="009688"/>
              </a:gs>
              <a:gs pos="100000">
                <a:srgbClr val="28BEB0"/>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t_grid_3_icon"/>
          <p:cNvSpPr txBox="1"/>
          <p:nvPr/>
        </p:nvSpPr>
        <p:spPr>
          <a:xfrm>
            <a:off x="6282000" y="4284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diamond</a:t>
            </a:r>
          </a:p>
        </p:txBody>
      </p:sp>
      <p:sp>
        <p:nvSpPr>
          <p:cNvPr id="20" name="txt_grid_3_label"/>
          <p:cNvSpPr txBox="1"/>
          <p:nvPr/>
        </p:nvSpPr>
        <p:spPr>
          <a:xfrm>
            <a:off x="6282000" y="4932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المدن الذكية</a:t>
            </a:r>
          </a:p>
        </p:txBody>
      </p:sp>
      <p:sp>
        <p:nvSpPr>
          <p:cNvPr id="21" name="txt_grid_3_desc"/>
          <p:cNvSpPr txBox="1"/>
          <p:nvPr/>
        </p:nvSpPr>
        <p:spPr>
          <a:xfrm>
            <a:off x="6282000" y="5364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أنظمة ذكية تدير حركة المرور وتقلل الازدحام</a:t>
            </a:r>
          </a:p>
        </p:txBody>
      </p:sp>
      <p:sp>
        <p:nvSpPr>
          <p:cNvPr id="22" name="card_grid_4"/>
          <p:cNvSpPr/>
          <p:nvPr/>
        </p:nvSpPr>
        <p:spPr>
          <a:xfrm>
            <a:off x="900000" y="4068000"/>
            <a:ext cx="4986000" cy="2052000"/>
          </a:xfrm>
          <a:prstGeom prst="roundRect">
            <a:avLst>
              <a:gd name="adj" fmla="val 4000"/>
            </a:avLst>
          </a:prstGeom>
          <a:solidFill>
            <a:srgbClr val="F5F7FA"/>
          </a:solidFill>
          <a:ln w="6350">
            <a:solidFill>
              <a:srgbClr val="E0E5EC"/>
            </a:solidFill>
          </a:ln>
          <a:effectLst>
            <a:outerShdw blurRad="25400" dist="38100" dir="2700000" rotWithShape="0">
              <a:srgbClr val="000000">
                <a:alpha val="9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ccent_grid_4"/>
          <p:cNvSpPr/>
          <p:nvPr/>
        </p:nvSpPr>
        <p:spPr>
          <a:xfrm>
            <a:off x="900000" y="4068000"/>
            <a:ext cx="4986000" cy="108000"/>
          </a:xfrm>
          <a:prstGeom prst="rect">
            <a:avLst/>
          </a:prstGeom>
          <a:ln>
            <a:noFill/>
          </a:ln>
          <a:gradFill>
            <a:gsLst>
              <a:gs pos="0">
                <a:srgbClr val="FF9800"/>
              </a:gs>
              <a:gs pos="100000">
                <a:srgbClr val="FFC028"/>
              </a:gs>
            </a:gsLst>
            <a:lin ang="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xt_grid_4_icon"/>
          <p:cNvSpPr txBox="1"/>
          <p:nvPr/>
        </p:nvSpPr>
        <p:spPr>
          <a:xfrm>
            <a:off x="1008000" y="4284000"/>
            <a:ext cx="4770000" cy="648000"/>
          </a:xfrm>
          <a:prstGeom prst="rect">
            <a:avLst/>
          </a:prstGeom>
          <a:noFill/>
        </p:spPr>
        <p:txBody>
          <a:bodyPr wrap="none" lIns="90000" rIns="90000" tIns="46800" bIns="46800">
            <a:noAutofit/>
          </a:bodyPr>
          <a:lstStyle/>
          <a:p>
            <a:pPr algn="ctr" rtl="1">
              <a:lnSpc>
                <a:spcPct val="130000"/>
              </a:lnSpc>
            </a:pPr>
            <a:r>
              <a:rPr sz="3200" b="0" lang="ar-JO">
                <a:solidFill>
                  <a:srgbClr val="333333"/>
                </a:solidFill>
                <a:cs typeface="Tajawal"/>
                <a:latin typeface="Tajawal"/>
                <a:ea typeface="Tajawal"/>
              </a:rPr>
              <a:t>hexagon</a:t>
            </a:r>
          </a:p>
        </p:txBody>
      </p:sp>
      <p:sp>
        <p:nvSpPr>
          <p:cNvPr id="25" name="txt_grid_4_label"/>
          <p:cNvSpPr txBox="1"/>
          <p:nvPr/>
        </p:nvSpPr>
        <p:spPr>
          <a:xfrm>
            <a:off x="1008000" y="4932000"/>
            <a:ext cx="4770000" cy="432000"/>
          </a:xfrm>
          <a:prstGeom prst="rect">
            <a:avLst/>
          </a:prstGeom>
          <a:noFill/>
        </p:spPr>
        <p:txBody>
          <a:bodyPr wrap="square" lIns="90000" rIns="90000" tIns="46800" bIns="46800">
            <a:noAutofit/>
          </a:bodyPr>
          <a:lstStyle/>
          <a:p>
            <a:pPr algn="ctr" rtl="1"/>
            <a:r>
              <a:rPr sz="1400" b="0" lang="ar-JO">
                <a:solidFill>
                  <a:srgbClr val="333333"/>
                </a:solidFill>
                <a:cs typeface="Tajawal ExtraBold"/>
                <a:latin typeface="Tajawal ExtraBold"/>
                <a:ea typeface="Tajawal ExtraBold"/>
              </a:rPr>
              <a:t>البحث العلمي</a:t>
            </a:r>
          </a:p>
        </p:txBody>
      </p:sp>
      <p:sp>
        <p:nvSpPr>
          <p:cNvPr id="26" name="txt_grid_4_desc"/>
          <p:cNvSpPr txBox="1"/>
          <p:nvPr/>
        </p:nvSpPr>
        <p:spPr>
          <a:xfrm>
            <a:off x="1008000" y="5364000"/>
            <a:ext cx="4770000" cy="648000"/>
          </a:xfrm>
          <a:prstGeom prst="rect">
            <a:avLst/>
          </a:prstGeom>
          <a:noFill/>
        </p:spPr>
        <p:txBody>
          <a:bodyPr wrap="square" lIns="90000" rIns="90000" tIns="46800" bIns="46800">
            <a:noAutofit/>
          </a:bodyPr>
          <a:lstStyle/>
          <a:p>
            <a:pPr algn="ctr" rtl="1"/>
            <a:r>
              <a:rPr sz="1100" b="0" lang="ar-JO">
                <a:solidFill>
                  <a:srgbClr val="6B6B6B"/>
                </a:solidFill>
                <a:cs typeface="Tajawal"/>
                <a:latin typeface="Tajawal"/>
                <a:ea typeface="Tajawal"/>
              </a:rPr>
              <a:t>تحليل الجينات والبيانات الطبية لاكتشاف علاجات جديدة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سحب وإفلات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سحب وترتيب</a:t>
            </a:r>
          </a:p>
        </p:txBody>
      </p:sp>
      <p:sp>
        <p:nvSpPr>
          <p:cNvPr id="6" name="txt_question"/>
          <p:cNvSpPr txBox="1"/>
          <p:nvPr/>
        </p:nvSpPr>
        <p:spPr>
          <a:xfrm>
            <a:off x="900000" y="1800000"/>
            <a:ext cx="10440000" cy="720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ExtraBold"/>
                <a:latin typeface="Tajawal ExtraBold"/>
                <a:ea typeface="Tajawal ExtraBold"/>
              </a:rPr>
              <a:t>صنّف كل تطبيق في المجال المناسب</a:t>
            </a:r>
          </a:p>
        </p:txBody>
      </p:sp>
      <p:sp>
        <p:nvSpPr>
          <p:cNvPr id="7" name="txt_instruction"/>
          <p:cNvSpPr txBox="1"/>
          <p:nvPr/>
        </p:nvSpPr>
        <p:spPr>
          <a:xfrm>
            <a:off x="900000" y="2520000"/>
            <a:ext cx="10440000" cy="432000"/>
          </a:xfrm>
          <a:prstGeom prst="rect">
            <a:avLst/>
          </a:prstGeom>
          <a:noFill/>
        </p:spPr>
        <p:txBody>
          <a:bodyPr wrap="square" lIns="90000" rIns="90000" tIns="46800" bIns="46800">
            <a:noAutofit/>
          </a:bodyPr>
          <a:lstStyle/>
          <a:p>
            <a:pPr algn="r" rtl="1">
              <a:lnSpc>
                <a:spcPct val="130000"/>
              </a:lnSpc>
            </a:pPr>
            <a:r>
              <a:rPr sz="1800" b="0" lang="ar-JO">
                <a:solidFill>
                  <a:srgbClr val="156082"/>
                </a:solidFill>
                <a:cs typeface="Tajawal Medium"/>
                <a:latin typeface="Tajawal Medium"/>
                <a:ea typeface="Tajawal Medium"/>
              </a:rPr>
              <a:t>اسحب العناصر التالية إلى الترتيب الصحيح</a:t>
            </a:r>
          </a:p>
        </p:txBody>
      </p:sp>
      <p:sp>
        <p:nvSpPr>
          <p:cNvPr id="8" name="drag_item_1"/>
          <p:cNvSpPr/>
          <p:nvPr/>
        </p:nvSpPr>
        <p:spPr>
          <a:xfrm>
            <a:off x="900000" y="306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توصيات المنتجات للمتسوقين</a:t>
            </a:r>
          </a:p>
        </p:txBody>
      </p:sp>
      <p:sp>
        <p:nvSpPr>
          <p:cNvPr id="9" name="icon_grip_1"/>
          <p:cNvSpPr txBox="1"/>
          <p:nvPr/>
        </p:nvSpPr>
        <p:spPr>
          <a:xfrm>
            <a:off x="972000" y="313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0" name="drag_item_2"/>
          <p:cNvSpPr/>
          <p:nvPr/>
        </p:nvSpPr>
        <p:spPr>
          <a:xfrm>
            <a:off x="900000" y="390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مراقبة نبضات القلب بالساعة الذكية</a:t>
            </a:r>
          </a:p>
        </p:txBody>
      </p:sp>
      <p:sp>
        <p:nvSpPr>
          <p:cNvPr id="11" name="icon_grip_2"/>
          <p:cNvSpPr txBox="1"/>
          <p:nvPr/>
        </p:nvSpPr>
        <p:spPr>
          <a:xfrm>
            <a:off x="972000" y="397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2" name="drag_item_3"/>
          <p:cNvSpPr/>
          <p:nvPr/>
        </p:nvSpPr>
        <p:spPr>
          <a:xfrm>
            <a:off x="900000" y="474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إدارة إشارات المرور تلقائياً</a:t>
            </a:r>
          </a:p>
        </p:txBody>
      </p:sp>
      <p:sp>
        <p:nvSpPr>
          <p:cNvPr id="13" name="icon_grip_3"/>
          <p:cNvSpPr txBox="1"/>
          <p:nvPr/>
        </p:nvSpPr>
        <p:spPr>
          <a:xfrm>
            <a:off x="972000" y="481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4" name="drag_item_4"/>
          <p:cNvSpPr/>
          <p:nvPr/>
        </p:nvSpPr>
        <p:spPr>
          <a:xfrm>
            <a:off x="900000" y="558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تحليل الجينات لاكتشاف الأمراض</a:t>
            </a:r>
          </a:p>
        </p:txBody>
      </p:sp>
      <p:sp>
        <p:nvSpPr>
          <p:cNvPr id="15" name="icon_grip_4"/>
          <p:cNvSpPr txBox="1"/>
          <p:nvPr/>
        </p:nvSpPr>
        <p:spPr>
          <a:xfrm>
            <a:off x="972000" y="565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6" name="drop_zone_1"/>
          <p:cNvSpPr/>
          <p:nvPr/>
        </p:nvSpPr>
        <p:spPr>
          <a:xfrm>
            <a:off x="6480000" y="306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17" name="Oval 16"/>
          <p:cNvSpPr/>
          <p:nvPr/>
        </p:nvSpPr>
        <p:spPr>
          <a:xfrm>
            <a:off x="10152000" y="315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1</a:t>
            </a:r>
          </a:p>
        </p:txBody>
      </p:sp>
      <p:sp>
        <p:nvSpPr>
          <p:cNvPr id="18" name="drop_zone_2"/>
          <p:cNvSpPr/>
          <p:nvPr/>
        </p:nvSpPr>
        <p:spPr>
          <a:xfrm>
            <a:off x="6480000" y="390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19" name="Oval 18"/>
          <p:cNvSpPr/>
          <p:nvPr/>
        </p:nvSpPr>
        <p:spPr>
          <a:xfrm>
            <a:off x="10152000" y="399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2</a:t>
            </a:r>
          </a:p>
        </p:txBody>
      </p:sp>
      <p:sp>
        <p:nvSpPr>
          <p:cNvPr id="20" name="drop_zone_3"/>
          <p:cNvSpPr/>
          <p:nvPr/>
        </p:nvSpPr>
        <p:spPr>
          <a:xfrm>
            <a:off x="6480000" y="474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21" name="Oval 20"/>
          <p:cNvSpPr/>
          <p:nvPr/>
        </p:nvSpPr>
        <p:spPr>
          <a:xfrm>
            <a:off x="10152000" y="483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3</a:t>
            </a:r>
          </a:p>
        </p:txBody>
      </p:sp>
      <p:sp>
        <p:nvSpPr>
          <p:cNvPr id="22" name="drop_zone_4"/>
          <p:cNvSpPr/>
          <p:nvPr/>
        </p:nvSpPr>
        <p:spPr>
          <a:xfrm>
            <a:off x="6480000" y="558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23" name="Oval 22"/>
          <p:cNvSpPr/>
          <p:nvPr/>
        </p:nvSpPr>
        <p:spPr>
          <a:xfrm>
            <a:off x="10152000" y="567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البيانات سلاح ذو حدين</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البيانات سلاح ذو حدين</a:t>
            </a:r>
          </a:p>
        </p:txBody>
      </p:sp>
      <p:sp>
        <p:nvSpPr>
          <p:cNvPr id="6" name="bg_depth_wash"/>
          <p:cNvSpPr/>
          <p:nvPr/>
        </p:nvSpPr>
        <p:spPr>
          <a:xfrm>
            <a:off x="2856000" y="1269000"/>
            <a:ext cx="6480000" cy="4320000"/>
          </a:xfrm>
          <a:prstGeom prst="ellipse">
            <a:avLst/>
          </a:prstGeom>
          <a:solidFill>
            <a:srgbClr val="F5F0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_quote_mark_right"/>
          <p:cNvSpPr txBox="1"/>
          <p:nvPr/>
        </p:nvSpPr>
        <p:spPr>
          <a:xfrm>
            <a:off x="7200000" y="1620000"/>
            <a:ext cx="2160000" cy="1440000"/>
          </a:xfrm>
          <a:prstGeom prst="rect">
            <a:avLst/>
          </a:prstGeom>
          <a:noFill/>
          <a:effectLst>
            <a:softEdge rad="101600"/>
          </a:effectLst>
        </p:spPr>
        <p:txBody>
          <a:bodyPr wrap="none" lIns="90000" rIns="90000" tIns="46800" bIns="46800">
            <a:noAutofit/>
          </a:bodyPr>
          <a:lstStyle/>
          <a:p>
            <a:pPr algn="ctr" rtl="1">
              <a:lnSpc>
                <a:spcPct val="130000"/>
              </a:lnSpc>
            </a:pPr>
            <a:r>
              <a:rPr sz="12000" b="0" lang="ar-JO">
                <a:solidFill>
                  <a:srgbClr val="E0E8F0"/>
                </a:solidFill>
                <a:cs typeface="Tajawal ExtraBold"/>
                <a:latin typeface="Tajawal ExtraBold"/>
                <a:ea typeface="Tajawal ExtraBold"/>
              </a:rPr>
              <a:t>»</a:t>
            </a:r>
          </a:p>
        </p:txBody>
      </p:sp>
      <p:sp>
        <p:nvSpPr>
          <p:cNvPr id="8" name="deco_quote_mark_left"/>
          <p:cNvSpPr txBox="1"/>
          <p:nvPr/>
        </p:nvSpPr>
        <p:spPr>
          <a:xfrm>
            <a:off x="2520000" y="3240000"/>
            <a:ext cx="2160000" cy="1440000"/>
          </a:xfrm>
          <a:prstGeom prst="rect">
            <a:avLst/>
          </a:prstGeom>
          <a:noFill/>
          <a:effectLst>
            <a:softEdge rad="101600"/>
          </a:effectLst>
        </p:spPr>
        <p:txBody>
          <a:bodyPr wrap="none" lIns="90000" rIns="90000" tIns="46800" bIns="46800">
            <a:noAutofit/>
          </a:bodyPr>
          <a:lstStyle/>
          <a:p>
            <a:pPr algn="ctr" rtl="1">
              <a:lnSpc>
                <a:spcPct val="130000"/>
              </a:lnSpc>
            </a:pPr>
            <a:r>
              <a:rPr sz="12000" b="0" lang="ar-JO">
                <a:solidFill>
                  <a:srgbClr val="E0E8F0"/>
                </a:solidFill>
                <a:cs typeface="Tajawal ExtraBold"/>
                <a:latin typeface="Tajawal ExtraBold"/>
                <a:ea typeface="Tajawal ExtraBold"/>
              </a:rPr>
              <a:t>«</a:t>
            </a:r>
          </a:p>
        </p:txBody>
      </p:sp>
      <p:sp>
        <p:nvSpPr>
          <p:cNvPr id="9" name="txt_quote"/>
          <p:cNvSpPr txBox="1"/>
          <p:nvPr/>
        </p:nvSpPr>
        <p:spPr>
          <a:xfrm>
            <a:off x="2136000" y="2160000"/>
            <a:ext cx="7920000" cy="1800000"/>
          </a:xfrm>
          <a:prstGeom prst="rect">
            <a:avLst/>
          </a:prstGeom>
          <a:noFill/>
        </p:spPr>
        <p:txBody>
          <a:bodyPr wrap="square" lIns="90000" rIns="90000" tIns="46800" bIns="46800">
            <a:noAutofit/>
          </a:bodyPr>
          <a:lstStyle/>
          <a:p>
            <a:pPr algn="ctr" rtl="1">
              <a:lnSpc>
                <a:spcPct val="150000"/>
              </a:lnSpc>
            </a:pPr>
            <a:r>
              <a:rPr sz="2600" b="0" lang="ar-JO">
                <a:solidFill>
                  <a:srgbClr val="1E3D63"/>
                </a:solidFill>
                <a:cs typeface="Tajawal Medium"/>
                <a:latin typeface="Tajawal Medium"/>
                <a:ea typeface="Tajawal Medium"/>
              </a:rPr>
              <a:t>البيانات الخاطئة تقود إلى قرارات خاطئة — ضمان جودة البيانات ليس ترفاً بل ضرورة</a:t>
            </a:r>
          </a:p>
        </p:txBody>
      </p:sp>
      <p:sp>
        <p:nvSpPr>
          <p:cNvPr id="10" name="txt_attribution"/>
          <p:cNvSpPr txBox="1"/>
          <p:nvPr/>
        </p:nvSpPr>
        <p:spPr>
          <a:xfrm>
            <a:off x="2136000" y="4140000"/>
            <a:ext cx="7920000" cy="540000"/>
          </a:xfrm>
          <a:prstGeom prst="rect">
            <a:avLst/>
          </a:prstGeom>
          <a:noFill/>
        </p:spPr>
        <p:txBody>
          <a:bodyPr wrap="none" lIns="90000" rIns="90000" tIns="46800" bIns="46800">
            <a:noAutofit/>
          </a:bodyPr>
          <a:lstStyle/>
          <a:p>
            <a:pPr algn="ctr" rtl="1"/>
            <a:r>
              <a:rPr sz="1400" b="0" lang="ar-JO">
                <a:solidFill>
                  <a:srgbClr val="6B6B6B"/>
                </a:solidFill>
                <a:cs typeface="Tajawal"/>
                <a:latin typeface="Tajawal"/>
                <a:ea typeface="Tajawal"/>
              </a:rPr>
              <a:t>— مبدأ أساسي في علم البيانات</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جودة البيانات</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22_091025.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جودة البيانات</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الأبعاد الأربعة لضمان بيانات موثوقة</a:t>
            </a:r>
          </a:p>
        </p:txBody>
      </p:sp>
      <p:sp>
        <p:nvSpPr>
          <p:cNvPr id="16" name="dot_section_1"/>
          <p:cNvSpPr/>
          <p:nvPr/>
        </p:nvSpPr>
        <p:spPr>
          <a:xfrm>
            <a:off x="5124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700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240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t_section_4"/>
          <p:cNvSpPr/>
          <p:nvPr/>
        </p:nvSpPr>
        <p:spPr>
          <a:xfrm>
            <a:off x="6852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لماذا جودة البيانات مهمة؟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narrow.png"/>
          <p:cNvPicPr>
            <a:picLocks noChangeAspect="1"/>
          </p:cNvPicPr>
          <p:nvPr/>
        </p:nvPicPr>
        <p:blipFill>
          <a:blip r:embed="rId2"/>
          <a:stretch>
            <a:fillRect/>
          </a:stretch>
        </p:blipFill>
        <p:spPr>
          <a:xfrm>
            <a:off x="4790969" y="898751"/>
            <a:ext cx="2610062" cy="695099"/>
          </a:xfrm>
          <a:prstGeom prst="rect">
            <a:avLst/>
          </a:prstGeom>
        </p:spPr>
      </p:pic>
      <p:sp>
        <p:nvSpPr>
          <p:cNvPr id="5" name="header_banner_text"/>
          <p:cNvSpPr txBox="1"/>
          <p:nvPr/>
        </p:nvSpPr>
        <p:spPr>
          <a:xfrm>
            <a:off x="4947367" y="1035917"/>
            <a:ext cx="2297266"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لماذا جودة البيانات مهمة؟</a:t>
            </a:r>
          </a:p>
        </p:txBody>
      </p:sp>
      <p:pic>
        <p:nvPicPr>
          <p:cNvPr id="6" name="img_content" descr="img_20260222_091046.png"/>
          <p:cNvPicPr>
            <a:picLocks noChangeAspect="1"/>
          </p:cNvPicPr>
          <p:nvPr/>
        </p:nvPicPr>
        <p:blipFill>
          <a:blip r:embed="rId3"/>
          <a:stretch>
            <a:fillRect/>
          </a:stretch>
        </p:blipFill>
        <p:spPr>
          <a:xfrm>
            <a:off x="900000" y="2716364"/>
            <a:ext cx="3240000" cy="1767272"/>
          </a:xfrm>
          <a:prstGeom prst="rect">
            <a:avLst/>
          </a:prstGeom>
        </p:spPr>
      </p:pic>
      <p:sp>
        <p:nvSpPr>
          <p:cNvPr id="7" name="bg_content_card"/>
          <p:cNvSpPr/>
          <p:nvPr/>
        </p:nvSpPr>
        <p:spPr>
          <a:xfrm>
            <a:off x="4500000" y="1692000"/>
            <a:ext cx="6840000" cy="4356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body"/>
          <p:cNvSpPr txBox="1"/>
          <p:nvPr/>
        </p:nvSpPr>
        <p:spPr>
          <a:xfrm>
            <a:off x="4680000" y="1800000"/>
            <a:ext cx="6480000" cy="414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البيانات الخاطئة تؤدي إلى قرارات خاطئة في جميع المجالات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غياب درجات بعض الطلاب يعني نتائج غير عادلة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جودة البيانات تُقاس بأربعة أبعاد رئيسية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2000" b="0" lang="ar-JO">
                <a:solidFill>
                  <a:srgbClr val="333333"/>
                </a:solidFill>
                <a:cs typeface="Tajawal"/>
                <a:latin typeface="Tajawal"/>
                <a:ea typeface="Tajawal"/>
              </a:rPr>
              <a:t>ضمان الجودة مسؤولية مشتركة بين جميع المستخدمين</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أبعاد جودة البيانات الأربعة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أبعاد جودة البيانات الأربعة</a:t>
            </a:r>
          </a:p>
        </p:txBody>
      </p:sp>
      <p:sp>
        <p:nvSpPr>
          <p:cNvPr id="6" name="txt_instruction"/>
          <p:cNvSpPr txBox="1"/>
          <p:nvPr/>
        </p:nvSpPr>
        <p:spPr>
          <a:xfrm>
            <a:off x="900000" y="1620000"/>
            <a:ext cx="1044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Medium"/>
                <a:latin typeface="Tajawal Medium"/>
                <a:ea typeface="Tajawal Medium"/>
              </a:rPr>
              <a:t>انقر على كل بُعد لمعرفة تفاصيله مع مثال واقعي</a:t>
            </a:r>
          </a:p>
        </p:txBody>
      </p:sp>
      <p:sp>
        <p:nvSpPr>
          <p:cNvPr id="7" name="btn_reveal_1"/>
          <p:cNvSpPr/>
          <p:nvPr/>
        </p:nvSpPr>
        <p:spPr>
          <a:xfrm>
            <a:off x="900000" y="2520000"/>
            <a:ext cx="2430000" cy="900000"/>
          </a:xfrm>
          <a:prstGeom prst="roundRect">
            <a:avLst>
              <a:gd name="adj" fmla="val 8000"/>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الدقة (Accuracy)</a:t>
            </a:r>
          </a:p>
        </p:txBody>
      </p:sp>
      <p:sp>
        <p:nvSpPr>
          <p:cNvPr id="8" name="btn_reveal_2"/>
          <p:cNvSpPr/>
          <p:nvPr/>
        </p:nvSpPr>
        <p:spPr>
          <a:xfrm>
            <a:off x="351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الاكتمال (Completeness)</a:t>
            </a:r>
          </a:p>
        </p:txBody>
      </p:sp>
      <p:sp>
        <p:nvSpPr>
          <p:cNvPr id="9" name="btn_reveal_3"/>
          <p:cNvSpPr/>
          <p:nvPr/>
        </p:nvSpPr>
        <p:spPr>
          <a:xfrm>
            <a:off x="612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الاتساق (Consistency)</a:t>
            </a:r>
          </a:p>
        </p:txBody>
      </p:sp>
      <p:sp>
        <p:nvSpPr>
          <p:cNvPr id="10" name="btn_reveal_4"/>
          <p:cNvSpPr/>
          <p:nvPr/>
        </p:nvSpPr>
        <p:spPr>
          <a:xfrm>
            <a:off x="8730000" y="2520000"/>
            <a:ext cx="2430000" cy="900000"/>
          </a:xfrm>
          <a:prstGeom prst="roundRect">
            <a:avLst>
              <a:gd name="adj" fmla="val 8000"/>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1800" b="0" lang="ar-JO">
                <a:solidFill>
                  <a:srgbClr val="FFFFFF"/>
                </a:solidFill>
                <a:cs typeface="Tajawal ExtraBold"/>
                <a:latin typeface="Tajawal ExtraBold"/>
                <a:ea typeface="Tajawal ExtraBold"/>
              </a:rPr>
              <a:t>التوقيت (Timeliness)</a:t>
            </a:r>
          </a:p>
        </p:txBody>
      </p:sp>
      <p:sp>
        <p:nvSpPr>
          <p:cNvPr id="11" name="bg_reveal_desc"/>
          <p:cNvSpPr/>
          <p:nvPr/>
        </p:nvSpPr>
        <p:spPr>
          <a:xfrm>
            <a:off x="900000" y="3780000"/>
            <a:ext cx="10260000" cy="1800000"/>
          </a:xfrm>
          <a:prstGeom prst="roundRect">
            <a:avLst/>
          </a:prstGeom>
          <a:solidFill>
            <a:srgbClr val="E3F2FD"/>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ccent_desc_bar"/>
          <p:cNvSpPr/>
          <p:nvPr/>
        </p:nvSpPr>
        <p:spPr>
          <a:xfrm>
            <a:off x="10980000" y="3780000"/>
            <a:ext cx="144000" cy="1800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reveal_desc"/>
          <p:cNvSpPr txBox="1"/>
          <p:nvPr/>
        </p:nvSpPr>
        <p:spPr>
          <a:xfrm>
            <a:off x="1080000" y="3960000"/>
            <a:ext cx="9900000" cy="14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هل البيانات صحيحة؟ — مثال: تسجيل درجة الطالب 95 بدلاً من 59 يؤدي إلى قرار ترقية خاطئ</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بيانات عالية مقابل منخفضة الجودة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بيانات عالية مقابل منخفضة الجودة</a:t>
            </a:r>
          </a:p>
        </p:txBody>
      </p:sp>
      <p:sp>
        <p:nvSpPr>
          <p:cNvPr id="6" name="bg_depth_wash"/>
          <p:cNvSpPr/>
          <p:nvPr/>
        </p:nvSpPr>
        <p:spPr>
          <a:xfrm>
            <a:off x="6432000" y="-1080000"/>
            <a:ext cx="7200000" cy="5040000"/>
          </a:xfrm>
          <a:prstGeom prst="ellipse">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_col_1"/>
          <p:cNvSpPr/>
          <p:nvPr/>
        </p:nvSpPr>
        <p:spPr>
          <a:xfrm>
            <a:off x="6210000" y="1800000"/>
            <a:ext cx="4950000" cy="3960000"/>
          </a:xfrm>
          <a:prstGeom prst="roundRect">
            <a:avLst>
              <a:gd name="adj" fmla="val 4000"/>
            </a:avLst>
          </a:prstGeom>
          <a:solidFill>
            <a:srgbClr val="FFFFFF"/>
          </a:solidFill>
          <a:ln w="12700">
            <a:solidFill>
              <a:srgbClr val="E0E5EC"/>
            </a:solidFill>
          </a:ln>
          <a:effectLst>
            <a:outerShdw blurRad="76200" dist="38100" dir="2700000" rotWithShape="0">
              <a:srgbClr val="000000">
                <a:alpha val="8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cent_col_1"/>
          <p:cNvSpPr/>
          <p:nvPr/>
        </p:nvSpPr>
        <p:spPr>
          <a:xfrm>
            <a:off x="6210000" y="1800000"/>
            <a:ext cx="4950000" cy="144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_col_1_header"/>
          <p:cNvSpPr/>
          <p:nvPr/>
        </p:nvSpPr>
        <p:spPr>
          <a:xfrm>
            <a:off x="6210000" y="1944000"/>
            <a:ext cx="4950000" cy="576000"/>
          </a:xfrm>
          <a:prstGeom prst="rect">
            <a:avLst/>
          </a:prstGeom>
          <a:ln>
            <a:noFill/>
          </a:ln>
          <a:gradFill>
            <a:gsLst>
              <a:gs pos="0">
                <a:srgbClr val="2D588C"/>
              </a:gs>
              <a:gs pos="100000">
                <a:srgbClr val="507BAF"/>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t_col_1_title"/>
          <p:cNvSpPr txBox="1"/>
          <p:nvPr/>
        </p:nvSpPr>
        <p:spPr>
          <a:xfrm>
            <a:off x="6390000" y="1944000"/>
            <a:ext cx="4590000" cy="576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ExtraBold"/>
                <a:latin typeface="Tajawal ExtraBold"/>
                <a:ea typeface="Tajawal ExtraBold"/>
              </a:rPr>
              <a:t>بيانات عالية الجودة</a:t>
            </a:r>
          </a:p>
        </p:txBody>
      </p:sp>
      <p:sp>
        <p:nvSpPr>
          <p:cNvPr id="11" name="txt_col_1_body"/>
          <p:cNvSpPr txBox="1"/>
          <p:nvPr/>
        </p:nvSpPr>
        <p:spPr>
          <a:xfrm>
            <a:off x="6318000" y="2628000"/>
            <a:ext cx="4734000" cy="306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درجات دقيقة ومطابقة للواقع</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جميع السجلات مكتملة بدون فجوات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تنسيق موحّد في جميع الحقول</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بيانات مُحدّثة بشكل دوري</a:t>
            </a:r>
          </a:p>
        </p:txBody>
      </p:sp>
      <p:sp>
        <p:nvSpPr>
          <p:cNvPr id="12" name="card_col_2"/>
          <p:cNvSpPr/>
          <p:nvPr/>
        </p:nvSpPr>
        <p:spPr>
          <a:xfrm>
            <a:off x="900000" y="1800000"/>
            <a:ext cx="4950000" cy="3960000"/>
          </a:xfrm>
          <a:prstGeom prst="roundRect">
            <a:avLst>
              <a:gd name="adj" fmla="val 4000"/>
            </a:avLst>
          </a:prstGeom>
          <a:solidFill>
            <a:srgbClr val="FFFFFF"/>
          </a:solidFill>
          <a:ln w="1270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ccent_col_2"/>
          <p:cNvSpPr/>
          <p:nvPr/>
        </p:nvSpPr>
        <p:spPr>
          <a:xfrm>
            <a:off x="900000" y="1800000"/>
            <a:ext cx="4950000" cy="144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g_col_2_header"/>
          <p:cNvSpPr/>
          <p:nvPr/>
        </p:nvSpPr>
        <p:spPr>
          <a:xfrm>
            <a:off x="900000" y="1944000"/>
            <a:ext cx="4950000" cy="576000"/>
          </a:xfrm>
          <a:prstGeom prst="rect">
            <a:avLst/>
          </a:prstGeom>
          <a:ln>
            <a:noFill/>
          </a:ln>
          <a:gradFill>
            <a:gsLst>
              <a:gs pos="0">
                <a:srgbClr val="009688"/>
              </a:gs>
              <a:gs pos="100000">
                <a:srgbClr val="23B9AB"/>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col_2_title"/>
          <p:cNvSpPr txBox="1"/>
          <p:nvPr/>
        </p:nvSpPr>
        <p:spPr>
          <a:xfrm>
            <a:off x="1080000" y="1944000"/>
            <a:ext cx="4590000" cy="576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ExtraBold"/>
                <a:latin typeface="Tajawal ExtraBold"/>
                <a:ea typeface="Tajawal ExtraBold"/>
              </a:rPr>
              <a:t>بيانات منخفضة الجودة</a:t>
            </a:r>
          </a:p>
        </p:txBody>
      </p:sp>
      <p:sp>
        <p:nvSpPr>
          <p:cNvPr id="16" name="txt_col_2_body"/>
          <p:cNvSpPr txBox="1"/>
          <p:nvPr/>
        </p:nvSpPr>
        <p:spPr>
          <a:xfrm>
            <a:off x="1008000" y="2628000"/>
            <a:ext cx="4734000" cy="306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أخطاء في إدخال الأرقام والبيانات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حقول فارغة وقيم مفقودة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تواريخ بصيغ مختلفة ومتناقضة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بيانات قديمة لم تُحدّث منذ أشهر</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سحب وإفلات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سحب وترتيب</a:t>
            </a:r>
          </a:p>
        </p:txBody>
      </p:sp>
      <p:sp>
        <p:nvSpPr>
          <p:cNvPr id="6" name="txt_question"/>
          <p:cNvSpPr txBox="1"/>
          <p:nvPr/>
        </p:nvSpPr>
        <p:spPr>
          <a:xfrm>
            <a:off x="900000" y="1800000"/>
            <a:ext cx="10440000" cy="720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ExtraBold"/>
                <a:latin typeface="Tajawal ExtraBold"/>
                <a:ea typeface="Tajawal ExtraBold"/>
              </a:rPr>
              <a:t>طابق كل مثال مع بُعد جودة البيانات المناسب</a:t>
            </a:r>
          </a:p>
        </p:txBody>
      </p:sp>
      <p:sp>
        <p:nvSpPr>
          <p:cNvPr id="7" name="txt_instruction"/>
          <p:cNvSpPr txBox="1"/>
          <p:nvPr/>
        </p:nvSpPr>
        <p:spPr>
          <a:xfrm>
            <a:off x="900000" y="2520000"/>
            <a:ext cx="10440000" cy="432000"/>
          </a:xfrm>
          <a:prstGeom prst="rect">
            <a:avLst/>
          </a:prstGeom>
          <a:noFill/>
        </p:spPr>
        <p:txBody>
          <a:bodyPr wrap="square" lIns="90000" rIns="90000" tIns="46800" bIns="46800">
            <a:noAutofit/>
          </a:bodyPr>
          <a:lstStyle/>
          <a:p>
            <a:pPr algn="r" rtl="1">
              <a:lnSpc>
                <a:spcPct val="130000"/>
              </a:lnSpc>
            </a:pPr>
            <a:r>
              <a:rPr sz="1800" b="0" lang="ar-JO">
                <a:solidFill>
                  <a:srgbClr val="156082"/>
                </a:solidFill>
                <a:cs typeface="Tajawal Medium"/>
                <a:latin typeface="Tajawal Medium"/>
                <a:ea typeface="Tajawal Medium"/>
              </a:rPr>
              <a:t>اسحب العناصر التالية إلى الترتيب الصحيح</a:t>
            </a:r>
          </a:p>
        </p:txBody>
      </p:sp>
      <p:sp>
        <p:nvSpPr>
          <p:cNvPr id="8" name="drag_item_1"/>
          <p:cNvSpPr/>
          <p:nvPr/>
        </p:nvSpPr>
        <p:spPr>
          <a:xfrm>
            <a:off x="900000" y="306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تسجيل درجة 95 بدلاً من 59</a:t>
            </a:r>
          </a:p>
        </p:txBody>
      </p:sp>
      <p:sp>
        <p:nvSpPr>
          <p:cNvPr id="9" name="icon_grip_1"/>
          <p:cNvSpPr txBox="1"/>
          <p:nvPr/>
        </p:nvSpPr>
        <p:spPr>
          <a:xfrm>
            <a:off x="972000" y="313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0" name="drag_item_2"/>
          <p:cNvSpPr/>
          <p:nvPr/>
        </p:nvSpPr>
        <p:spPr>
          <a:xfrm>
            <a:off x="900000" y="390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غياب بيانات حضور بعض الطلاب</a:t>
            </a:r>
          </a:p>
        </p:txBody>
      </p:sp>
      <p:sp>
        <p:nvSpPr>
          <p:cNvPr id="11" name="icon_grip_2"/>
          <p:cNvSpPr txBox="1"/>
          <p:nvPr/>
        </p:nvSpPr>
        <p:spPr>
          <a:xfrm>
            <a:off x="972000" y="397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2" name="drag_item_3"/>
          <p:cNvSpPr/>
          <p:nvPr/>
        </p:nvSpPr>
        <p:spPr>
          <a:xfrm>
            <a:off x="900000" y="474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كتابة التاريخ بصيغتين مختلفتين</a:t>
            </a:r>
          </a:p>
        </p:txBody>
      </p:sp>
      <p:sp>
        <p:nvSpPr>
          <p:cNvPr id="13" name="icon_grip_3"/>
          <p:cNvSpPr txBox="1"/>
          <p:nvPr/>
        </p:nvSpPr>
        <p:spPr>
          <a:xfrm>
            <a:off x="972000" y="481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4" name="drag_item_4"/>
          <p:cNvSpPr/>
          <p:nvPr/>
        </p:nvSpPr>
        <p:spPr>
          <a:xfrm>
            <a:off x="900000" y="5580000"/>
            <a:ext cx="4320000" cy="720000"/>
          </a:xfrm>
          <a:prstGeom prst="roundRect">
            <a:avLst/>
          </a:prstGeom>
          <a:solidFill>
            <a:srgbClr val="F5F7FA"/>
          </a:solidFill>
          <a:ln w="1905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90000" rIns="90000"/>
          <a:lstStyle/>
          <a:p>
            <a:pPr algn="ctr" rtl="1"/>
            <a:r>
              <a:rPr sz="2000" b="0" lang="ar-JO">
                <a:solidFill>
                  <a:srgbClr val="333333"/>
                </a:solidFill>
                <a:cs typeface="Tajawal"/>
                <a:latin typeface="Tajawal"/>
                <a:ea typeface="Tajawal"/>
              </a:rPr>
              <a:t>استخدام بيانات مبيعات قديمة للتخطيط</a:t>
            </a:r>
          </a:p>
        </p:txBody>
      </p:sp>
      <p:sp>
        <p:nvSpPr>
          <p:cNvPr id="15" name="icon_grip_4"/>
          <p:cNvSpPr txBox="1"/>
          <p:nvPr/>
        </p:nvSpPr>
        <p:spPr>
          <a:xfrm>
            <a:off x="972000" y="5652000"/>
            <a:ext cx="360000" cy="360000"/>
          </a:xfrm>
          <a:prstGeom prst="rect">
            <a:avLst/>
          </a:prstGeom>
          <a:noFill/>
        </p:spPr>
        <p:txBody>
          <a:bodyPr wrap="none" lIns="90000" rIns="90000" tIns="46800" bIns="46800">
            <a:spAutoFit/>
          </a:bodyPr>
          <a:lstStyle/>
          <a:p>
            <a:pPr algn="l" rtl="1"/>
            <a:r>
              <a:rPr sz="1400" b="0" lang="ar-JO">
                <a:solidFill>
                  <a:srgbClr val="6B6B6B"/>
                </a:solidFill>
                <a:cs typeface="Tajawal"/>
                <a:latin typeface="Tajawal"/>
                <a:ea typeface="Tajawal"/>
              </a:rPr>
              <a:t>☰</a:t>
            </a:r>
          </a:p>
        </p:txBody>
      </p:sp>
      <p:sp>
        <p:nvSpPr>
          <p:cNvPr id="16" name="drop_zone_1"/>
          <p:cNvSpPr/>
          <p:nvPr/>
        </p:nvSpPr>
        <p:spPr>
          <a:xfrm>
            <a:off x="6480000" y="306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17" name="Oval 16"/>
          <p:cNvSpPr/>
          <p:nvPr/>
        </p:nvSpPr>
        <p:spPr>
          <a:xfrm>
            <a:off x="10152000" y="315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1</a:t>
            </a:r>
          </a:p>
        </p:txBody>
      </p:sp>
      <p:sp>
        <p:nvSpPr>
          <p:cNvPr id="18" name="drop_zone_2"/>
          <p:cNvSpPr/>
          <p:nvPr/>
        </p:nvSpPr>
        <p:spPr>
          <a:xfrm>
            <a:off x="6480000" y="390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19" name="Oval 18"/>
          <p:cNvSpPr/>
          <p:nvPr/>
        </p:nvSpPr>
        <p:spPr>
          <a:xfrm>
            <a:off x="10152000" y="399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2</a:t>
            </a:r>
          </a:p>
        </p:txBody>
      </p:sp>
      <p:sp>
        <p:nvSpPr>
          <p:cNvPr id="20" name="drop_zone_3"/>
          <p:cNvSpPr/>
          <p:nvPr/>
        </p:nvSpPr>
        <p:spPr>
          <a:xfrm>
            <a:off x="6480000" y="474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21" name="Oval 20"/>
          <p:cNvSpPr/>
          <p:nvPr/>
        </p:nvSpPr>
        <p:spPr>
          <a:xfrm>
            <a:off x="10152000" y="483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3</a:t>
            </a:r>
          </a:p>
        </p:txBody>
      </p:sp>
      <p:sp>
        <p:nvSpPr>
          <p:cNvPr id="22" name="drop_zone_4"/>
          <p:cNvSpPr/>
          <p:nvPr/>
        </p:nvSpPr>
        <p:spPr>
          <a:xfrm>
            <a:off x="6480000" y="5580000"/>
            <a:ext cx="4320000" cy="720000"/>
          </a:xfrm>
          <a:prstGeom prst="roundRect">
            <a:avLst/>
          </a:prstGeom>
          <a:solidFill>
            <a:srgbClr val="FAFBFC"/>
          </a:solidFill>
          <a:ln w="19050">
            <a:solidFill>
              <a:srgbClr val="E0E5EC"/>
            </a:solidFill>
            <a:prstDash val="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1400" b="0" lang="ar-JO">
                <a:solidFill>
                  <a:srgbClr val="6B6B6B"/>
                </a:solidFill>
                <a:cs typeface="Tajawal"/>
                <a:latin typeface="Tajawal"/>
                <a:ea typeface="Tajawal"/>
              </a:rPr>
              <a:t>اسحب هنا</a:t>
            </a:r>
          </a:p>
        </p:txBody>
      </p:sp>
      <p:sp>
        <p:nvSpPr>
          <p:cNvPr id="23" name="Oval 22"/>
          <p:cNvSpPr/>
          <p:nvPr/>
        </p:nvSpPr>
        <p:spPr>
          <a:xfrm>
            <a:off x="10152000" y="567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شركة تستخدم بيانات مبيعات العا</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اختيار من متعدد</a:t>
            </a:r>
          </a:p>
        </p:txBody>
      </p:sp>
      <p:pic>
        <p:nvPicPr>
          <p:cNvPr id="6" name="img_quiz" descr="img_20260222_091100.png"/>
          <p:cNvPicPr>
            <a:picLocks noChangeAspect="1"/>
          </p:cNvPicPr>
          <p:nvPr/>
        </p:nvPicPr>
        <p:blipFill>
          <a:blip r:embed="rId3"/>
          <a:stretch>
            <a:fillRect/>
          </a:stretch>
        </p:blipFill>
        <p:spPr>
          <a:xfrm>
            <a:off x="720000" y="1652727"/>
            <a:ext cx="2520000" cy="1374545"/>
          </a:xfrm>
          <a:prstGeom prst="rect">
            <a:avLst/>
          </a:prstGeom>
        </p:spPr>
      </p:pic>
      <p:sp>
        <p:nvSpPr>
          <p:cNvPr id="7" name="txt_question"/>
          <p:cNvSpPr txBox="1"/>
          <p:nvPr/>
        </p:nvSpPr>
        <p:spPr>
          <a:xfrm>
            <a:off x="3600000" y="1800000"/>
            <a:ext cx="7560000" cy="720000"/>
          </a:xfrm>
          <a:prstGeom prst="rect">
            <a:avLst/>
          </a:prstGeom>
          <a:noFill/>
        </p:spPr>
        <p:txBody>
          <a:bodyPr wrap="square" lIns="90000" rIns="90000" tIns="46800" bIns="46800">
            <a:noAutofit/>
          </a:bodyPr>
          <a:lstStyle/>
          <a:p>
            <a:pPr algn="r" rtl="1">
              <a:lnSpc>
                <a:spcPct val="130000"/>
              </a:lnSpc>
            </a:pPr>
            <a:r>
              <a:rPr sz="2400" b="0" lang="ar-JO">
                <a:solidFill>
                  <a:srgbClr val="333333"/>
                </a:solidFill>
                <a:cs typeface="Tajawal ExtraBold"/>
                <a:latin typeface="Tajawal ExtraBold"/>
                <a:ea typeface="Tajawal ExtraBold"/>
              </a:rPr>
              <a:t>شركة تستخدم بيانات مبيعات العام الماضي لتخطيط حملة تسويقية جديدة. أي بُعد جودة يتأثر سلباً؟</a:t>
            </a:r>
          </a:p>
        </p:txBody>
      </p:sp>
      <p:sp>
        <p:nvSpPr>
          <p:cNvPr id="8" name="bg_opt_a"/>
          <p:cNvSpPr/>
          <p:nvPr/>
        </p:nvSpPr>
        <p:spPr>
          <a:xfrm>
            <a:off x="900000" y="2664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pt_a"/>
          <p:cNvSpPr/>
          <p:nvPr/>
        </p:nvSpPr>
        <p:spPr>
          <a:xfrm>
            <a:off x="10260000" y="2736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أ</a:t>
            </a:r>
          </a:p>
        </p:txBody>
      </p:sp>
      <p:sp>
        <p:nvSpPr>
          <p:cNvPr id="10" name="txt_opt_a"/>
          <p:cNvSpPr txBox="1"/>
          <p:nvPr/>
        </p:nvSpPr>
        <p:spPr>
          <a:xfrm>
            <a:off x="1080000" y="2700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الدقة — لأن البيانات قد تحتوي على أخطاء</a:t>
            </a:r>
          </a:p>
        </p:txBody>
      </p:sp>
      <p:sp>
        <p:nvSpPr>
          <p:cNvPr id="11" name="bg_opt_b"/>
          <p:cNvSpPr/>
          <p:nvPr/>
        </p:nvSpPr>
        <p:spPr>
          <a:xfrm>
            <a:off x="900000" y="3456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pt_b"/>
          <p:cNvSpPr/>
          <p:nvPr/>
        </p:nvSpPr>
        <p:spPr>
          <a:xfrm>
            <a:off x="10260000" y="3528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ب</a:t>
            </a:r>
          </a:p>
        </p:txBody>
      </p:sp>
      <p:sp>
        <p:nvSpPr>
          <p:cNvPr id="13" name="txt_opt_b"/>
          <p:cNvSpPr txBox="1"/>
          <p:nvPr/>
        </p:nvSpPr>
        <p:spPr>
          <a:xfrm>
            <a:off x="1080000" y="3492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الاكتمال — لأن بعض البيانات مفقودة</a:t>
            </a:r>
          </a:p>
        </p:txBody>
      </p:sp>
      <p:sp>
        <p:nvSpPr>
          <p:cNvPr id="14" name="bg_opt_c"/>
          <p:cNvSpPr/>
          <p:nvPr/>
        </p:nvSpPr>
        <p:spPr>
          <a:xfrm>
            <a:off x="900000" y="4248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pt_c"/>
          <p:cNvSpPr/>
          <p:nvPr/>
        </p:nvSpPr>
        <p:spPr>
          <a:xfrm>
            <a:off x="1026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ج</a:t>
            </a:r>
          </a:p>
        </p:txBody>
      </p:sp>
      <p:sp>
        <p:nvSpPr>
          <p:cNvPr id="16" name="txt_opt_c"/>
          <p:cNvSpPr txBox="1"/>
          <p:nvPr/>
        </p:nvSpPr>
        <p:spPr>
          <a:xfrm>
            <a:off x="1080000" y="4284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الاتساق — لأن التنسيقات مختلفة</a:t>
            </a:r>
          </a:p>
        </p:txBody>
      </p:sp>
      <p:sp>
        <p:nvSpPr>
          <p:cNvPr id="17" name="bg_opt_d"/>
          <p:cNvSpPr/>
          <p:nvPr/>
        </p:nvSpPr>
        <p:spPr>
          <a:xfrm>
            <a:off x="900000" y="5040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t_d"/>
          <p:cNvSpPr/>
          <p:nvPr/>
        </p:nvSpPr>
        <p:spPr>
          <a:xfrm>
            <a:off x="10260000" y="5112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د</a:t>
            </a:r>
          </a:p>
        </p:txBody>
      </p:sp>
      <p:sp>
        <p:nvSpPr>
          <p:cNvPr id="19" name="txt_opt_d"/>
          <p:cNvSpPr txBox="1"/>
          <p:nvPr/>
        </p:nvSpPr>
        <p:spPr>
          <a:xfrm>
            <a:off x="1080000" y="5076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التوقيت — لأن البيانات قديمة وغير مُحدّثة</a:t>
            </a:r>
          </a:p>
        </p:txBody>
      </p:sp>
      <p:sp>
        <p:nvSpPr>
          <p:cNvPr id="20" name="btn_check"/>
          <p:cNvSpPr/>
          <p:nvPr/>
        </p:nvSpPr>
        <p:spPr>
          <a:xfrm>
            <a:off x="3600000" y="5760000"/>
            <a:ext cx="3600000" cy="576000"/>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2200" b="0" lang="ar-JO">
                <a:solidFill>
                  <a:srgbClr val="FFFFFF"/>
                </a:solidFill>
                <a:cs typeface="Tajawal ExtraBold"/>
                <a:latin typeface="Tajawal ExtraBold"/>
                <a:ea typeface="Tajawal ExtraBold"/>
              </a:rPr>
              <a:t>تحقق من الإجابة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التواصل والتطبيقات</a:t>
            </a:r>
          </a:p>
        </p:txBody>
      </p:sp>
      <p:sp>
        <p:nvSpPr>
          <p:cNvPr id="3" name="bg_divider"/>
          <p:cNvSpPr/>
          <p:nvPr/>
        </p:nvSpPr>
        <p:spPr>
          <a:xfrm>
            <a:off x="720000" y="720000"/>
            <a:ext cx="10752000" cy="5418000"/>
          </a:xfrm>
          <a:prstGeom prst="round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divider_depth"/>
          <p:cNvSpPr/>
          <p:nvPr/>
        </p:nvSpPr>
        <p:spPr>
          <a:xfrm>
            <a:off x="720000" y="5418000"/>
            <a:ext cx="10752000" cy="720000"/>
          </a:xfrm>
          <a:prstGeom prst="rect">
            <a:avLst/>
          </a:prstGeom>
          <a:solidFill>
            <a:srgbClr val="1E3D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ccent_right_bar"/>
          <p:cNvSpPr/>
          <p:nvPr/>
        </p:nvSpPr>
        <p:spPr>
          <a:xfrm>
            <a:off x="11292000" y="720000"/>
            <a:ext cx="108000" cy="54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img_section_bg" descr="img_20260222_091116.png"/>
          <p:cNvPicPr>
            <a:picLocks noChangeAspect="1"/>
          </p:cNvPicPr>
          <p:nvPr/>
        </p:nvPicPr>
        <p:blipFill>
          <a:blip r:embed="rId2"/>
          <a:stretch>
            <a:fillRect/>
          </a:stretch>
        </p:blipFill>
        <p:spPr>
          <a:xfrm>
            <a:off x="1080000" y="1734545"/>
            <a:ext cx="2880000" cy="1570909"/>
          </a:xfrm>
          <a:prstGeom prst="rect">
            <a:avLst/>
          </a:prstGeom>
        </p:spPr>
      </p:pic>
      <p:sp>
        <p:nvSpPr>
          <p:cNvPr id="7" name="deco_corner_tr_h"/>
          <p:cNvSpPr/>
          <p:nvPr/>
        </p:nvSpPr>
        <p:spPr>
          <a:xfrm>
            <a:off x="9672000" y="900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deco_corner_tr_v"/>
          <p:cNvSpPr/>
          <p:nvPr/>
        </p:nvSpPr>
        <p:spPr>
          <a:xfrm>
            <a:off x="11112000" y="900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eco_corner_tr_dot"/>
          <p:cNvSpPr/>
          <p:nvPr/>
        </p:nvSpPr>
        <p:spPr>
          <a:xfrm>
            <a:off x="11040000" y="828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_corner_bl_h"/>
          <p:cNvSpPr/>
          <p:nvPr/>
        </p:nvSpPr>
        <p:spPr>
          <a:xfrm>
            <a:off x="1080000" y="5958000"/>
            <a:ext cx="1440000" cy="25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eco_corner_bl_v"/>
          <p:cNvSpPr/>
          <p:nvPr/>
        </p:nvSpPr>
        <p:spPr>
          <a:xfrm>
            <a:off x="1080000" y="4518000"/>
            <a:ext cx="25400" cy="144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eco_corner_bl_dot"/>
          <p:cNvSpPr/>
          <p:nvPr/>
        </p:nvSpPr>
        <p:spPr>
          <a:xfrm>
            <a:off x="1008000" y="5886000"/>
            <a:ext cx="144000" cy="144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t_section_title"/>
          <p:cNvSpPr txBox="1"/>
          <p:nvPr/>
        </p:nvSpPr>
        <p:spPr>
          <a:xfrm>
            <a:off x="1440000" y="1800000"/>
            <a:ext cx="9360000" cy="1260000"/>
          </a:xfrm>
          <a:prstGeom prst="rect">
            <a:avLst/>
          </a:prstGeom>
          <a:noFill/>
        </p:spPr>
        <p:txBody>
          <a:bodyPr wrap="square" lIns="90000" rIns="90000" tIns="46800" bIns="46800" anchor="ctr">
            <a:spAutoFit/>
          </a:bodyPr>
          <a:lstStyle/>
          <a:p>
            <a:pPr algn="ctr" rtl="1">
              <a:lnSpc>
                <a:spcPct val="130000"/>
              </a:lnSpc>
            </a:pPr>
            <a:r>
              <a:rPr sz="4000" b="0" lang="ar-JO">
                <a:solidFill>
                  <a:srgbClr val="FFFFFF"/>
                </a:solidFill>
                <a:cs typeface="Tajawal ExtraBold"/>
                <a:latin typeface="Tajawal ExtraBold"/>
                <a:ea typeface="Tajawal ExtraBold"/>
              </a:rPr>
              <a:t>التواصل والتطبيقات</a:t>
            </a:r>
          </a:p>
        </p:txBody>
      </p:sp>
      <p:sp>
        <p:nvSpPr>
          <p:cNvPr id="14" name="divider_line"/>
          <p:cNvSpPr/>
          <p:nvPr/>
        </p:nvSpPr>
        <p:spPr>
          <a:xfrm>
            <a:off x="3240000" y="3131999"/>
            <a:ext cx="5400000" cy="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section_subtitle"/>
          <p:cNvSpPr txBox="1"/>
          <p:nvPr/>
        </p:nvSpPr>
        <p:spPr>
          <a:xfrm>
            <a:off x="1440000" y="3348000"/>
            <a:ext cx="9360000" cy="900000"/>
          </a:xfrm>
          <a:prstGeom prst="rect">
            <a:avLst/>
          </a:prstGeom>
          <a:noFill/>
        </p:spPr>
        <p:txBody>
          <a:bodyPr wrap="square" lIns="90000" rIns="90000" tIns="46800" bIns="46800">
            <a:spAutoFit/>
          </a:bodyPr>
          <a:lstStyle/>
          <a:p>
            <a:pPr algn="ctr" rtl="1">
              <a:lnSpc>
                <a:spcPct val="130000"/>
              </a:lnSpc>
            </a:pPr>
            <a:r>
              <a:rPr sz="2400" b="0" lang="ar-JO">
                <a:solidFill>
                  <a:srgbClr val="FFFFFF"/>
                </a:solidFill>
                <a:cs typeface="Tajawal Medium"/>
                <a:latin typeface="Tajawal Medium"/>
                <a:ea typeface="Tajawal Medium"/>
              </a:rPr>
              <a:t>تحويل الأرقام إلى قصص مفهومة</a:t>
            </a:r>
          </a:p>
        </p:txBody>
      </p:sp>
      <p:sp>
        <p:nvSpPr>
          <p:cNvPr id="16" name="dot_section_1"/>
          <p:cNvSpPr/>
          <p:nvPr/>
        </p:nvSpPr>
        <p:spPr>
          <a:xfrm>
            <a:off x="5124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ot_section_2"/>
          <p:cNvSpPr/>
          <p:nvPr/>
        </p:nvSpPr>
        <p:spPr>
          <a:xfrm>
            <a:off x="5700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ot_section_3"/>
          <p:cNvSpPr/>
          <p:nvPr/>
        </p:nvSpPr>
        <p:spPr>
          <a:xfrm>
            <a:off x="6276000" y="5778000"/>
            <a:ext cx="216000" cy="216000"/>
          </a:xfrm>
          <a:prstGeom prst="ellipse">
            <a:avLst/>
          </a:prstGeom>
          <a:solidFill>
            <a:srgbClr val="809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ot_section_4"/>
          <p:cNvSpPr/>
          <p:nvPr/>
        </p:nvSpPr>
        <p:spPr>
          <a:xfrm>
            <a:off x="6816000" y="5742000"/>
            <a:ext cx="288000" cy="28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التواصل الفعال مقابل الضعيف بالبيانات</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التواصل الفعال مقابل الضعيف بالبيانات</a:t>
            </a:r>
          </a:p>
        </p:txBody>
      </p:sp>
      <p:sp>
        <p:nvSpPr>
          <p:cNvPr id="6" name="bg_depth_wash"/>
          <p:cNvSpPr/>
          <p:nvPr/>
        </p:nvSpPr>
        <p:spPr>
          <a:xfrm>
            <a:off x="6432000" y="-1080000"/>
            <a:ext cx="7200000" cy="5040000"/>
          </a:xfrm>
          <a:prstGeom prst="ellipse">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rd_col_1"/>
          <p:cNvSpPr/>
          <p:nvPr/>
        </p:nvSpPr>
        <p:spPr>
          <a:xfrm>
            <a:off x="6210000" y="1800000"/>
            <a:ext cx="4950000" cy="3960000"/>
          </a:xfrm>
          <a:prstGeom prst="roundRect">
            <a:avLst>
              <a:gd name="adj" fmla="val 4000"/>
            </a:avLst>
          </a:prstGeom>
          <a:solidFill>
            <a:srgbClr val="FFFFFF"/>
          </a:solidFill>
          <a:ln w="12700">
            <a:solidFill>
              <a:srgbClr val="E0E5EC"/>
            </a:solidFill>
          </a:ln>
          <a:effectLst>
            <a:outerShdw blurRad="76200" dist="38100" dir="2700000" rotWithShape="0">
              <a:srgbClr val="000000">
                <a:alpha val="8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ccent_col_1"/>
          <p:cNvSpPr/>
          <p:nvPr/>
        </p:nvSpPr>
        <p:spPr>
          <a:xfrm>
            <a:off x="6210000" y="1800000"/>
            <a:ext cx="4950000" cy="144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g_col_1_header"/>
          <p:cNvSpPr/>
          <p:nvPr/>
        </p:nvSpPr>
        <p:spPr>
          <a:xfrm>
            <a:off x="6210000" y="1944000"/>
            <a:ext cx="4950000" cy="576000"/>
          </a:xfrm>
          <a:prstGeom prst="rect">
            <a:avLst/>
          </a:prstGeom>
          <a:ln>
            <a:noFill/>
          </a:ln>
          <a:gradFill>
            <a:gsLst>
              <a:gs pos="0">
                <a:srgbClr val="2D588C"/>
              </a:gs>
              <a:gs pos="100000">
                <a:srgbClr val="507BAF"/>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t_col_1_title"/>
          <p:cNvSpPr txBox="1"/>
          <p:nvPr/>
        </p:nvSpPr>
        <p:spPr>
          <a:xfrm>
            <a:off x="6390000" y="1944000"/>
            <a:ext cx="4590000" cy="576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ExtraBold"/>
                <a:latin typeface="Tajawal ExtraBold"/>
                <a:ea typeface="Tajawal ExtraBold"/>
              </a:rPr>
              <a:t>تواصل فعال</a:t>
            </a:r>
          </a:p>
        </p:txBody>
      </p:sp>
      <p:sp>
        <p:nvSpPr>
          <p:cNvPr id="11" name="txt_col_1_body"/>
          <p:cNvSpPr txBox="1"/>
          <p:nvPr/>
        </p:nvSpPr>
        <p:spPr>
          <a:xfrm>
            <a:off x="6318000" y="2628000"/>
            <a:ext cx="4734000" cy="306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مخطط أعمدة بسيط وواضح المعنى</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ألوان متناسقة ومعبّرة عن البيانات</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عنوان يوضح الرسالة الرئيسية مباشرة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كلما كان العرض أبسط كان أوضح</a:t>
            </a:r>
          </a:p>
        </p:txBody>
      </p:sp>
      <p:sp>
        <p:nvSpPr>
          <p:cNvPr id="12" name="card_col_2"/>
          <p:cNvSpPr/>
          <p:nvPr/>
        </p:nvSpPr>
        <p:spPr>
          <a:xfrm>
            <a:off x="900000" y="1800000"/>
            <a:ext cx="4950000" cy="3960000"/>
          </a:xfrm>
          <a:prstGeom prst="roundRect">
            <a:avLst>
              <a:gd name="adj" fmla="val 4000"/>
            </a:avLst>
          </a:prstGeom>
          <a:solidFill>
            <a:srgbClr val="FFFFFF"/>
          </a:solidFill>
          <a:ln w="1270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ccent_col_2"/>
          <p:cNvSpPr/>
          <p:nvPr/>
        </p:nvSpPr>
        <p:spPr>
          <a:xfrm>
            <a:off x="900000" y="1800000"/>
            <a:ext cx="4950000" cy="144000"/>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g_col_2_header"/>
          <p:cNvSpPr/>
          <p:nvPr/>
        </p:nvSpPr>
        <p:spPr>
          <a:xfrm>
            <a:off x="900000" y="1944000"/>
            <a:ext cx="4950000" cy="576000"/>
          </a:xfrm>
          <a:prstGeom prst="rect">
            <a:avLst/>
          </a:prstGeom>
          <a:ln>
            <a:noFill/>
          </a:ln>
          <a:gradFill>
            <a:gsLst>
              <a:gs pos="0">
                <a:srgbClr val="009688"/>
              </a:gs>
              <a:gs pos="100000">
                <a:srgbClr val="23B9AB"/>
              </a:gs>
            </a:gsLst>
            <a:lin ang="5400000" scaled="1"/>
          </a:gra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t_col_2_title"/>
          <p:cNvSpPr txBox="1"/>
          <p:nvPr/>
        </p:nvSpPr>
        <p:spPr>
          <a:xfrm>
            <a:off x="1080000" y="1944000"/>
            <a:ext cx="4590000" cy="576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ExtraBold"/>
                <a:latin typeface="Tajawal ExtraBold"/>
                <a:ea typeface="Tajawal ExtraBold"/>
              </a:rPr>
              <a:t>تواصل ضعيف</a:t>
            </a:r>
          </a:p>
        </p:txBody>
      </p:sp>
      <p:sp>
        <p:nvSpPr>
          <p:cNvPr id="16" name="txt_col_2_body"/>
          <p:cNvSpPr txBox="1"/>
          <p:nvPr/>
        </p:nvSpPr>
        <p:spPr>
          <a:xfrm>
            <a:off x="1008000" y="2628000"/>
            <a:ext cx="4734000" cy="3060000"/>
          </a:xfrm>
          <a:prstGeom prst="rect">
            <a:avLst/>
          </a:prstGeom>
          <a:noFill/>
        </p:spPr>
        <p:txBody>
          <a:bodyPr wrap="square" lIns="90000" rIns="90000" tIns="46800" bIns="46800">
            <a:noAutofit/>
          </a:bodyPr>
          <a:lstStyle/>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جداول كبيرة بمئات الأرقام دون تنظيم</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ألوان كثيرة ومشتتة للانتباه</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غياب العناوين والشروحات التوضيحية</a:t>
            </a:r>
          </a:p>
          <a:p>
            <a:pPr algn="r" rtl="1">
              <a:lnSpc>
                <a:spcPct val="140000"/>
              </a:lnSpc>
              <a:spcBef>
                <a:spcPts val="1000"/>
              </a:spcBef>
              <a:spcAft>
                <a:spcPts val="1000"/>
              </a:spcAft>
            </a:pPr>
            <a:r>
              <a:rPr sz="1600" b="0" lang="ar-JO">
                <a:solidFill>
                  <a:srgbClr val="2D588C"/>
                </a:solidFill>
                <a:cs typeface="Tajawal"/>
                <a:latin typeface="Tajawal"/>
                <a:ea typeface="Tajawal"/>
              </a:rPr>
              <a:t>● </a:t>
            </a:r>
            <a:r>
              <a:rPr sz="1600" b="0" lang="ar-JO">
                <a:solidFill>
                  <a:srgbClr val="333333"/>
                </a:solidFill>
                <a:cs typeface="Tajawal"/>
                <a:latin typeface="Tajawal"/>
                <a:ea typeface="Tajawal"/>
              </a:rPr>
              <a:t>صعوبة استخلاص المعلومة أو الرسالة</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تقنيات تغذي البيانات الضخمة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تقنيات تغذي البيانات الضخمة</a:t>
            </a:r>
          </a:p>
        </p:txBody>
      </p:sp>
      <p:sp>
        <p:nvSpPr>
          <p:cNvPr id="6" name="card_1"/>
          <p:cNvSpPr/>
          <p:nvPr/>
        </p:nvSpPr>
        <p:spPr>
          <a:xfrm>
            <a:off x="900000" y="1980000"/>
            <a:ext cx="4986000" cy="3240000"/>
          </a:xfrm>
          <a:prstGeom prst="roundRect">
            <a:avLst/>
          </a:prstGeom>
          <a:solidFill>
            <a:srgbClr val="FAFBFC"/>
          </a:solidFill>
          <a:ln w="25400">
            <a:solidFill>
              <a:srgbClr val="2D588C"/>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00000" y="1980000"/>
            <a:ext cx="4986000" cy="432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mg_card_1" descr="img_20260222_091135.png"/>
          <p:cNvPicPr>
            <a:picLocks noChangeAspect="1"/>
          </p:cNvPicPr>
          <p:nvPr/>
        </p:nvPicPr>
        <p:blipFill>
          <a:blip r:embed="rId3"/>
          <a:stretch>
            <a:fillRect/>
          </a:stretch>
        </p:blipFill>
        <p:spPr>
          <a:xfrm>
            <a:off x="2403000" y="2520000"/>
            <a:ext cx="1980000" cy="1080000"/>
          </a:xfrm>
          <a:prstGeom prst="rect">
            <a:avLst/>
          </a:prstGeom>
        </p:spPr>
      </p:pic>
      <p:sp>
        <p:nvSpPr>
          <p:cNvPr id="9" name="txt_card_1_title"/>
          <p:cNvSpPr txBox="1"/>
          <p:nvPr/>
        </p:nvSpPr>
        <p:spPr>
          <a:xfrm>
            <a:off x="1080000" y="3708000"/>
            <a:ext cx="4626000" cy="540000"/>
          </a:xfrm>
          <a:prstGeom prst="rect">
            <a:avLst/>
          </a:prstGeom>
          <a:noFill/>
        </p:spPr>
        <p:txBody>
          <a:bodyPr wrap="square" lIns="90000" rIns="90000" tIns="46800" bIns="46800">
            <a:spAutoFit/>
          </a:bodyPr>
          <a:lstStyle/>
          <a:p>
            <a:pPr algn="ctr" rtl="1">
              <a:lnSpc>
                <a:spcPct val="130000"/>
              </a:lnSpc>
            </a:pPr>
            <a:r>
              <a:rPr sz="2000" b="0" lang="ar-JO">
                <a:solidFill>
                  <a:srgbClr val="2D588C"/>
                </a:solidFill>
                <a:cs typeface="Tajawal ExtraBold"/>
                <a:latin typeface="Tajawal ExtraBold"/>
                <a:ea typeface="Tajawal ExtraBold"/>
              </a:rPr>
              <a:t>إنترنت الأشياء (IoT)</a:t>
            </a:r>
          </a:p>
        </p:txBody>
      </p:sp>
      <p:sp>
        <p:nvSpPr>
          <p:cNvPr id="10" name="txt_card_1_body"/>
          <p:cNvSpPr txBox="1"/>
          <p:nvPr/>
        </p:nvSpPr>
        <p:spPr>
          <a:xfrm>
            <a:off x="1080000" y="4320000"/>
            <a:ext cx="4626000" cy="90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أجهزة يومية متصلة بالإنترنت — الثلاجات والساعات والمنازل الذكية — تولّد بيانات مستمرة على مدار الساعة</a:t>
            </a:r>
          </a:p>
        </p:txBody>
      </p:sp>
      <p:sp>
        <p:nvSpPr>
          <p:cNvPr id="11" name="card_2"/>
          <p:cNvSpPr/>
          <p:nvPr/>
        </p:nvSpPr>
        <p:spPr>
          <a:xfrm>
            <a:off x="6174000" y="1980000"/>
            <a:ext cx="4986000" cy="3240000"/>
          </a:xfrm>
          <a:prstGeom prst="roundRect">
            <a:avLst/>
          </a:prstGeom>
          <a:solidFill>
            <a:srgbClr val="FAFBFC"/>
          </a:solidFill>
          <a:ln w="25400">
            <a:solidFill>
              <a:srgbClr val="156082"/>
            </a:solidFill>
          </a:ln>
          <a:effectLst>
            <a:outerShdw blurRad="76200" dist="38100" dir="2700000" rotWithShape="0">
              <a:srgbClr val="000000">
                <a:alpha val="7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4000" y="1980000"/>
            <a:ext cx="4986000" cy="43200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img_card_2" descr="img_20260222_091152.png"/>
          <p:cNvPicPr>
            <a:picLocks noChangeAspect="1"/>
          </p:cNvPicPr>
          <p:nvPr/>
        </p:nvPicPr>
        <p:blipFill>
          <a:blip r:embed="rId4"/>
          <a:stretch>
            <a:fillRect/>
          </a:stretch>
        </p:blipFill>
        <p:spPr>
          <a:xfrm>
            <a:off x="7677000" y="2520000"/>
            <a:ext cx="1980000" cy="1080000"/>
          </a:xfrm>
          <a:prstGeom prst="rect">
            <a:avLst/>
          </a:prstGeom>
        </p:spPr>
      </p:pic>
      <p:sp>
        <p:nvSpPr>
          <p:cNvPr id="14" name="txt_card_2_title"/>
          <p:cNvSpPr txBox="1"/>
          <p:nvPr/>
        </p:nvSpPr>
        <p:spPr>
          <a:xfrm>
            <a:off x="6354000" y="3708000"/>
            <a:ext cx="4626000" cy="540000"/>
          </a:xfrm>
          <a:prstGeom prst="rect">
            <a:avLst/>
          </a:prstGeom>
          <a:noFill/>
        </p:spPr>
        <p:txBody>
          <a:bodyPr wrap="square" lIns="90000" rIns="90000" tIns="46800" bIns="46800">
            <a:spAutoFit/>
          </a:bodyPr>
          <a:lstStyle/>
          <a:p>
            <a:pPr algn="ctr" rtl="1">
              <a:lnSpc>
                <a:spcPct val="130000"/>
              </a:lnSpc>
            </a:pPr>
            <a:r>
              <a:rPr sz="2000" b="0" lang="ar-JO">
                <a:solidFill>
                  <a:srgbClr val="156082"/>
                </a:solidFill>
                <a:cs typeface="Tajawal ExtraBold"/>
                <a:latin typeface="Tajawal ExtraBold"/>
                <a:ea typeface="Tajawal ExtraBold"/>
              </a:rPr>
              <a:t>الجيل الخامس (5G)</a:t>
            </a:r>
          </a:p>
        </p:txBody>
      </p:sp>
      <p:sp>
        <p:nvSpPr>
          <p:cNvPr id="15" name="txt_card_2_body"/>
          <p:cNvSpPr txBox="1"/>
          <p:nvPr/>
        </p:nvSpPr>
        <p:spPr>
          <a:xfrm>
            <a:off x="6354000" y="4320000"/>
            <a:ext cx="4626000" cy="90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سرعات إنترنت فائقة تربط مليارات الأجهزة وتُمكّن السيارات ذاتية القيادة والمدن الذكية</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سيناريو: حماية بياناتك الشخصية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سيناريو: حماية بياناتك الشخصية</a:t>
            </a:r>
          </a:p>
        </p:txBody>
      </p:sp>
      <p:sp>
        <p:nvSpPr>
          <p:cNvPr id="6" name="bg_situation"/>
          <p:cNvSpPr/>
          <p:nvPr/>
        </p:nvSpPr>
        <p:spPr>
          <a:xfrm>
            <a:off x="900000" y="1620000"/>
            <a:ext cx="10260000" cy="1800000"/>
          </a:xfrm>
          <a:prstGeom prst="roundRect">
            <a:avLst>
              <a:gd name="adj" fmla="val 4000"/>
            </a:avLst>
          </a:prstGeom>
          <a:solidFill>
            <a:srgbClr val="F5F7FA"/>
          </a:solidFill>
          <a:ln w="12700">
            <a:solidFill>
              <a:srgbClr val="E0E5EC"/>
            </a:solidFill>
          </a:ln>
          <a:effectLst>
            <a:outerShdw blurRad="50800" dist="38100" dir="2700000" rotWithShape="0">
              <a:srgbClr val="000000">
                <a:alpha val="8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ccent_situation_bar"/>
          <p:cNvSpPr/>
          <p:nvPr/>
        </p:nvSpPr>
        <p:spPr>
          <a:xfrm>
            <a:off x="10980000" y="1620000"/>
            <a:ext cx="144000" cy="1800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t_situation"/>
          <p:cNvSpPr txBox="1"/>
          <p:nvPr/>
        </p:nvSpPr>
        <p:spPr>
          <a:xfrm>
            <a:off x="1260000" y="1800000"/>
            <a:ext cx="9540000" cy="1440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أنت تستخدم تطبيقاً جديداً على هاتفك. عند التسجيل، يطلب التطبيق صلاحية الوصول إلى جهات الاتصال والموقع الجغرافي والصور. التطبيق هو تطبيق آلة حاسبة بسيط. ماذا تفعل؟</a:t>
            </a:r>
          </a:p>
        </p:txBody>
      </p:sp>
      <p:sp>
        <p:nvSpPr>
          <p:cNvPr id="9" name="btn_choice_0"/>
          <p:cNvSpPr/>
          <p:nvPr/>
        </p:nvSpPr>
        <p:spPr>
          <a:xfrm>
            <a:off x="900000" y="3780000"/>
            <a:ext cx="3228000" cy="1260000"/>
          </a:xfrm>
          <a:prstGeom prst="roundRect">
            <a:avLst>
              <a:gd name="adj" fmla="val 6000"/>
            </a:avLst>
          </a:prstGeom>
          <a:solidFill>
            <a:srgbClr val="2D588C"/>
          </a:solidFill>
          <a:ln>
            <a:noFill/>
          </a:ln>
          <a:effectLst>
            <a:outerShdw blurRad="63500" dist="38100" dir="2700000" rotWithShape="0">
              <a:srgbClr val="000000">
                <a:alpha val="8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con_choice_0"/>
          <p:cNvSpPr/>
          <p:nvPr/>
        </p:nvSpPr>
        <p:spPr>
          <a:xfrm>
            <a:off x="3552000" y="3888000"/>
            <a:ext cx="468000" cy="46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0" lang="ar-JO">
                <a:solidFill>
                  <a:srgbClr val="2D588C"/>
                </a:solidFill>
                <a:cs typeface="Tajawal ExtraBold"/>
                <a:latin typeface="Tajawal ExtraBold"/>
                <a:ea typeface="Tajawal ExtraBold"/>
              </a:rPr>
              <a:t>1</a:t>
            </a:r>
          </a:p>
        </p:txBody>
      </p:sp>
      <p:sp>
        <p:nvSpPr>
          <p:cNvPr id="11" name="txt_choice_0"/>
          <p:cNvSpPr txBox="1"/>
          <p:nvPr/>
        </p:nvSpPr>
        <p:spPr>
          <a:xfrm>
            <a:off x="1080000" y="4068000"/>
            <a:ext cx="2868000" cy="900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Medium"/>
                <a:latin typeface="Tajawal Medium"/>
                <a:ea typeface="Tajawal Medium"/>
              </a:rPr>
              <a:t>أوافق على جميع الصلاحيات لأتمكن من استخدام التطبيق</a:t>
            </a:r>
          </a:p>
        </p:txBody>
      </p:sp>
      <p:sp>
        <p:nvSpPr>
          <p:cNvPr id="12" name="btn_choice_1"/>
          <p:cNvSpPr/>
          <p:nvPr/>
        </p:nvSpPr>
        <p:spPr>
          <a:xfrm>
            <a:off x="4416000" y="3780000"/>
            <a:ext cx="3228000" cy="1260000"/>
          </a:xfrm>
          <a:prstGeom prst="roundRect">
            <a:avLst>
              <a:gd name="adj" fmla="val 6000"/>
            </a:avLst>
          </a:prstGeom>
          <a:solidFill>
            <a:srgbClr val="156082"/>
          </a:solidFill>
          <a:ln>
            <a:noFill/>
          </a:ln>
          <a:effectLst>
            <a:outerShdw blurRad="63500" dist="38100" dir="2700000" rotWithShape="0">
              <a:srgbClr val="000000">
                <a:alpha val="8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icon_choice_1"/>
          <p:cNvSpPr/>
          <p:nvPr/>
        </p:nvSpPr>
        <p:spPr>
          <a:xfrm>
            <a:off x="7068000" y="3888000"/>
            <a:ext cx="468000" cy="46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0" lang="ar-JO">
                <a:solidFill>
                  <a:srgbClr val="156082"/>
                </a:solidFill>
                <a:cs typeface="Tajawal ExtraBold"/>
                <a:latin typeface="Tajawal ExtraBold"/>
                <a:ea typeface="Tajawal ExtraBold"/>
              </a:rPr>
              <a:t>2</a:t>
            </a:r>
          </a:p>
        </p:txBody>
      </p:sp>
      <p:sp>
        <p:nvSpPr>
          <p:cNvPr id="14" name="txt_choice_1"/>
          <p:cNvSpPr txBox="1"/>
          <p:nvPr/>
        </p:nvSpPr>
        <p:spPr>
          <a:xfrm>
            <a:off x="4596000" y="4068000"/>
            <a:ext cx="2868000" cy="900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Medium"/>
                <a:latin typeface="Tajawal Medium"/>
                <a:ea typeface="Tajawal Medium"/>
              </a:rPr>
              <a:t>أرفض الصلاحيات غير الضرورية وأوافق فقط على ما يحتاجه التطبيق فعلاً</a:t>
            </a:r>
          </a:p>
        </p:txBody>
      </p:sp>
      <p:sp>
        <p:nvSpPr>
          <p:cNvPr id="15" name="btn_choice_2"/>
          <p:cNvSpPr/>
          <p:nvPr/>
        </p:nvSpPr>
        <p:spPr>
          <a:xfrm>
            <a:off x="7932000" y="3780000"/>
            <a:ext cx="3228000" cy="1260000"/>
          </a:xfrm>
          <a:prstGeom prst="roundRect">
            <a:avLst>
              <a:gd name="adj" fmla="val 6000"/>
            </a:avLst>
          </a:prstGeom>
          <a:solidFill>
            <a:srgbClr val="1E3D63"/>
          </a:solidFill>
          <a:ln>
            <a:noFill/>
          </a:ln>
          <a:effectLst>
            <a:outerShdw blurRad="63500" dist="38100" dir="2700000" rotWithShape="0">
              <a:srgbClr val="000000">
                <a:alpha val="8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icon_choice_2"/>
          <p:cNvSpPr/>
          <p:nvPr/>
        </p:nvSpPr>
        <p:spPr>
          <a:xfrm>
            <a:off x="10584000" y="3888000"/>
            <a:ext cx="468000" cy="4680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0" lang="ar-JO">
                <a:solidFill>
                  <a:srgbClr val="1E3D63"/>
                </a:solidFill>
                <a:cs typeface="Tajawal ExtraBold"/>
                <a:latin typeface="Tajawal ExtraBold"/>
                <a:ea typeface="Tajawal ExtraBold"/>
              </a:rPr>
              <a:t>3</a:t>
            </a:r>
          </a:p>
        </p:txBody>
      </p:sp>
      <p:sp>
        <p:nvSpPr>
          <p:cNvPr id="17" name="txt_choice_2"/>
          <p:cNvSpPr txBox="1"/>
          <p:nvPr/>
        </p:nvSpPr>
        <p:spPr>
          <a:xfrm>
            <a:off x="8112000" y="4068000"/>
            <a:ext cx="2868000" cy="900000"/>
          </a:xfrm>
          <a:prstGeom prst="rect">
            <a:avLst/>
          </a:prstGeom>
          <a:noFill/>
        </p:spPr>
        <p:txBody>
          <a:bodyPr wrap="square" lIns="90000" rIns="90000" tIns="46800" bIns="46800">
            <a:noAutofit/>
          </a:bodyPr>
          <a:lstStyle/>
          <a:p>
            <a:pPr algn="ctr" rtl="1">
              <a:lnSpc>
                <a:spcPct val="130000"/>
              </a:lnSpc>
            </a:pPr>
            <a:r>
              <a:rPr sz="1800" b="0" lang="ar-JO">
                <a:solidFill>
                  <a:srgbClr val="FFFFFF"/>
                </a:solidFill>
                <a:cs typeface="Tajawal Medium"/>
                <a:latin typeface="Tajawal Medium"/>
                <a:ea typeface="Tajawal Medium"/>
              </a:rPr>
              <a:t>أحذف التطبيق فوراً ولا أستخدمه أبداً</a:t>
            </a:r>
          </a:p>
        </p:txBody>
      </p:sp>
      <p:sp>
        <p:nvSpPr>
          <p:cNvPr id="18" name="txt_choose_prompt"/>
          <p:cNvSpPr txBox="1"/>
          <p:nvPr/>
        </p:nvSpPr>
        <p:spPr>
          <a:xfrm>
            <a:off x="900000" y="3420000"/>
            <a:ext cx="10260000" cy="360000"/>
          </a:xfrm>
          <a:prstGeom prst="rect">
            <a:avLst/>
          </a:prstGeom>
          <a:noFill/>
        </p:spPr>
        <p:txBody>
          <a:bodyPr wrap="none" lIns="90000" rIns="90000" tIns="46800" bIns="46800">
            <a:spAutoFit/>
          </a:bodyPr>
          <a:lstStyle/>
          <a:p>
            <a:pPr algn="r" rtl="1">
              <a:lnSpc>
                <a:spcPct val="130000"/>
              </a:lnSpc>
            </a:pPr>
            <a:r>
              <a:rPr sz="1800" b="0" lang="ar-JO">
                <a:solidFill>
                  <a:srgbClr val="2D588C"/>
                </a:solidFill>
                <a:cs typeface="Tajawal ExtraBold"/>
                <a:latin typeface="Tajawal ExtraBold"/>
                <a:ea typeface="Tajawal ExtraBold"/>
              </a:rPr>
              <a:t>اختر القرار المناسب:</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نشاط: أي مما يلي أفضل طريقة للتواصل </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نشاط تفاعلي: اختيار من متعدد</a:t>
            </a:r>
          </a:p>
        </p:txBody>
      </p:sp>
      <p:pic>
        <p:nvPicPr>
          <p:cNvPr id="6" name="img_quiz" descr="img_20260222_091209.png"/>
          <p:cNvPicPr>
            <a:picLocks noChangeAspect="1"/>
          </p:cNvPicPr>
          <p:nvPr/>
        </p:nvPicPr>
        <p:blipFill>
          <a:blip r:embed="rId3"/>
          <a:stretch>
            <a:fillRect/>
          </a:stretch>
        </p:blipFill>
        <p:spPr>
          <a:xfrm>
            <a:off x="720000" y="1652727"/>
            <a:ext cx="2520000" cy="1374545"/>
          </a:xfrm>
          <a:prstGeom prst="rect">
            <a:avLst/>
          </a:prstGeom>
        </p:spPr>
      </p:pic>
      <p:sp>
        <p:nvSpPr>
          <p:cNvPr id="7" name="txt_question"/>
          <p:cNvSpPr txBox="1"/>
          <p:nvPr/>
        </p:nvSpPr>
        <p:spPr>
          <a:xfrm>
            <a:off x="3600000" y="1800000"/>
            <a:ext cx="7560000" cy="720000"/>
          </a:xfrm>
          <a:prstGeom prst="rect">
            <a:avLst/>
          </a:prstGeom>
          <a:noFill/>
        </p:spPr>
        <p:txBody>
          <a:bodyPr wrap="square" lIns="90000" rIns="90000" tIns="46800" bIns="46800">
            <a:noAutofit/>
          </a:bodyPr>
          <a:lstStyle/>
          <a:p>
            <a:pPr algn="r" rtl="1">
              <a:lnSpc>
                <a:spcPct val="130000"/>
              </a:lnSpc>
            </a:pPr>
            <a:r>
              <a:rPr sz="2400" b="0" lang="ar-JO">
                <a:solidFill>
                  <a:srgbClr val="333333"/>
                </a:solidFill>
                <a:cs typeface="Tajawal ExtraBold"/>
                <a:latin typeface="Tajawal ExtraBold"/>
                <a:ea typeface="Tajawal ExtraBold"/>
              </a:rPr>
              <a:t>أي مما يلي أفضل طريقة للتواصل الفعال بالبيانات مع فريق العمل؟</a:t>
            </a:r>
          </a:p>
        </p:txBody>
      </p:sp>
      <p:sp>
        <p:nvSpPr>
          <p:cNvPr id="8" name="bg_opt_a"/>
          <p:cNvSpPr/>
          <p:nvPr/>
        </p:nvSpPr>
        <p:spPr>
          <a:xfrm>
            <a:off x="900000" y="2664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pt_a"/>
          <p:cNvSpPr/>
          <p:nvPr/>
        </p:nvSpPr>
        <p:spPr>
          <a:xfrm>
            <a:off x="10260000" y="2736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أ</a:t>
            </a:r>
          </a:p>
        </p:txBody>
      </p:sp>
      <p:sp>
        <p:nvSpPr>
          <p:cNvPr id="10" name="txt_opt_a"/>
          <p:cNvSpPr txBox="1"/>
          <p:nvPr/>
        </p:nvSpPr>
        <p:spPr>
          <a:xfrm>
            <a:off x="1080000" y="2700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عرض جدول كبير يحتوي على جميع الأرقام التفصيلية</a:t>
            </a:r>
          </a:p>
        </p:txBody>
      </p:sp>
      <p:sp>
        <p:nvSpPr>
          <p:cNvPr id="11" name="bg_opt_b"/>
          <p:cNvSpPr/>
          <p:nvPr/>
        </p:nvSpPr>
        <p:spPr>
          <a:xfrm>
            <a:off x="900000" y="3456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pt_b"/>
          <p:cNvSpPr/>
          <p:nvPr/>
        </p:nvSpPr>
        <p:spPr>
          <a:xfrm>
            <a:off x="10260000" y="3528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ب</a:t>
            </a:r>
          </a:p>
        </p:txBody>
      </p:sp>
      <p:sp>
        <p:nvSpPr>
          <p:cNvPr id="13" name="txt_opt_b"/>
          <p:cNvSpPr txBox="1"/>
          <p:nvPr/>
        </p:nvSpPr>
        <p:spPr>
          <a:xfrm>
            <a:off x="1080000" y="3492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استخدام مخطط أعمدة بسيط مع عنوان يوضح الرسالة الرئيسية</a:t>
            </a:r>
          </a:p>
        </p:txBody>
      </p:sp>
      <p:sp>
        <p:nvSpPr>
          <p:cNvPr id="14" name="bg_opt_c"/>
          <p:cNvSpPr/>
          <p:nvPr/>
        </p:nvSpPr>
        <p:spPr>
          <a:xfrm>
            <a:off x="900000" y="4248000"/>
            <a:ext cx="10080000" cy="684000"/>
          </a:xfrm>
          <a:prstGeom prst="roundRect">
            <a:avLst>
              <a:gd name="adj" fmla="val 6000"/>
            </a:avLst>
          </a:prstGeom>
          <a:solidFill>
            <a:srgbClr val="F5F7FA"/>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pt_c"/>
          <p:cNvSpPr/>
          <p:nvPr/>
        </p:nvSpPr>
        <p:spPr>
          <a:xfrm>
            <a:off x="1026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ج</a:t>
            </a:r>
          </a:p>
        </p:txBody>
      </p:sp>
      <p:sp>
        <p:nvSpPr>
          <p:cNvPr id="16" name="txt_opt_c"/>
          <p:cNvSpPr txBox="1"/>
          <p:nvPr/>
        </p:nvSpPr>
        <p:spPr>
          <a:xfrm>
            <a:off x="1080000" y="4284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كتابة فقرة طويلة تصف جميع النتائج الرقمية بالتفصيل</a:t>
            </a:r>
          </a:p>
        </p:txBody>
      </p:sp>
      <p:sp>
        <p:nvSpPr>
          <p:cNvPr id="17" name="bg_opt_d"/>
          <p:cNvSpPr/>
          <p:nvPr/>
        </p:nvSpPr>
        <p:spPr>
          <a:xfrm>
            <a:off x="900000" y="5040000"/>
            <a:ext cx="10080000" cy="684000"/>
          </a:xfrm>
          <a:prstGeom prst="roundRect">
            <a:avLst>
              <a:gd name="adj" fmla="val 6000"/>
            </a:avLst>
          </a:prstGeom>
          <a:solidFill>
            <a:srgbClr val="FFFFFF"/>
          </a:solidFill>
          <a:ln w="6350">
            <a:solidFill>
              <a:srgbClr val="E0E5EC"/>
            </a:solidFill>
          </a:ln>
          <a:effectLst>
            <a:outerShdw blurRad="38100" dist="38100" dir="2700000" rotWithShape="0">
              <a:srgbClr val="000000">
                <a:alpha val="8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t_d"/>
          <p:cNvSpPr/>
          <p:nvPr/>
        </p:nvSpPr>
        <p:spPr>
          <a:xfrm>
            <a:off x="10260000" y="5112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600" b="0" lang="ar-JO">
                <a:solidFill>
                  <a:srgbClr val="FFFFFF"/>
                </a:solidFill>
                <a:cs typeface="Tajawal ExtraBold"/>
                <a:latin typeface="Tajawal ExtraBold"/>
                <a:ea typeface="Tajawal ExtraBold"/>
              </a:rPr>
              <a:t>د</a:t>
            </a:r>
          </a:p>
        </p:txBody>
      </p:sp>
      <p:sp>
        <p:nvSpPr>
          <p:cNvPr id="19" name="txt_opt_d"/>
          <p:cNvSpPr txBox="1"/>
          <p:nvPr/>
        </p:nvSpPr>
        <p:spPr>
          <a:xfrm>
            <a:off x="1080000" y="5076000"/>
            <a:ext cx="8820000" cy="612000"/>
          </a:xfrm>
          <a:prstGeom prst="rect">
            <a:avLst/>
          </a:prstGeom>
          <a:noFill/>
        </p:spPr>
        <p:txBody>
          <a:bodyPr wrap="square" lIns="90000" rIns="90000" tIns="46800" bIns="46800">
            <a:noAutofit/>
          </a:bodyPr>
          <a:lstStyle/>
          <a:p>
            <a:pPr algn="r" rtl="1">
              <a:lnSpc>
                <a:spcPct val="130000"/>
              </a:lnSpc>
            </a:pPr>
            <a:r>
              <a:rPr sz="2000" b="0" lang="ar-JO">
                <a:solidFill>
                  <a:srgbClr val="333333"/>
                </a:solidFill>
                <a:cs typeface="Tajawal"/>
                <a:latin typeface="Tajawal"/>
                <a:ea typeface="Tajawal"/>
              </a:rPr>
              <a:t>إرسال ملف البيانات الخام للمستلمين ليحللوه بأنفسهم</a:t>
            </a:r>
          </a:p>
        </p:txBody>
      </p:sp>
      <p:sp>
        <p:nvSpPr>
          <p:cNvPr id="20" name="btn_check"/>
          <p:cNvSpPr/>
          <p:nvPr/>
        </p:nvSpPr>
        <p:spPr>
          <a:xfrm>
            <a:off x="3600000" y="5760000"/>
            <a:ext cx="3600000" cy="576000"/>
          </a:xfrm>
          <a:prstGeom prst="roundRect">
            <a:avLst/>
          </a:prstGeom>
          <a:solidFill>
            <a:srgbClr val="156082"/>
          </a:solidFill>
          <a:ln w="19050">
            <a:solidFill>
              <a:srgbClr val="08283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rtl="1"/>
            <a:r>
              <a:rPr sz="2200" b="0" lang="ar-JO">
                <a:solidFill>
                  <a:srgbClr val="FFFFFF"/>
                </a:solidFill>
                <a:cs typeface="Tajawal ExtraBold"/>
                <a:latin typeface="Tajawal ExtraBold"/>
                <a:ea typeface="Tajawal ExtraBold"/>
              </a:rPr>
              <a:t>تحقق من الإجابة</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طابق المفهوم بالتعريف الصحيح</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طابق المفهوم بالتعريف الصحيح</a:t>
            </a:r>
          </a:p>
        </p:txBody>
      </p:sp>
      <p:sp>
        <p:nvSpPr>
          <p:cNvPr id="6" name="txt_instruction"/>
          <p:cNvSpPr txBox="1"/>
          <p:nvPr/>
        </p:nvSpPr>
        <p:spPr>
          <a:xfrm>
            <a:off x="900000" y="1620000"/>
            <a:ext cx="10440000" cy="72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Medium"/>
                <a:latin typeface="Tajawal Medium"/>
                <a:ea typeface="Tajawal Medium"/>
              </a:rPr>
              <a:t>اختر التعريف المناسب لكل مفهوم من القائمة المنسدلة</a:t>
            </a:r>
          </a:p>
        </p:txBody>
      </p:sp>
      <p:sp>
        <p:nvSpPr>
          <p:cNvPr id="7" name="txt_statement_1"/>
          <p:cNvSpPr txBox="1"/>
          <p:nvPr/>
        </p:nvSpPr>
        <p:spPr>
          <a:xfrm>
            <a:off x="2520000" y="2520000"/>
            <a:ext cx="7920000" cy="648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عقلية البيانات</a:t>
            </a:r>
          </a:p>
        </p:txBody>
      </p:sp>
      <p:sp>
        <p:nvSpPr>
          <p:cNvPr id="8" name="btn_dropdown_1"/>
          <p:cNvSpPr/>
          <p:nvPr/>
        </p:nvSpPr>
        <p:spPr>
          <a:xfrm>
            <a:off x="900000" y="2520000"/>
            <a:ext cx="1440000" cy="648000"/>
          </a:xfrm>
          <a:prstGeom prst="roundRect">
            <a:avLst/>
          </a:prstGeom>
          <a:solidFill>
            <a:srgbClr val="FFFFFF"/>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lang="ar-JO">
                <a:solidFill>
                  <a:srgbClr val="2D588C"/>
                </a:solidFill>
                <a:cs typeface="Tajawal"/>
                <a:latin typeface="Tajawal"/>
                <a:ea typeface="Tajawal"/>
              </a:rPr>
              <a:t>▼</a:t>
            </a:r>
          </a:p>
        </p:txBody>
      </p:sp>
      <p:sp>
        <p:nvSpPr>
          <p:cNvPr id="9" name="txt_statement_2"/>
          <p:cNvSpPr txBox="1"/>
          <p:nvPr/>
        </p:nvSpPr>
        <p:spPr>
          <a:xfrm>
            <a:off x="2520000" y="3564000"/>
            <a:ext cx="7920000" cy="648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البيانات الضخمة</a:t>
            </a:r>
          </a:p>
        </p:txBody>
      </p:sp>
      <p:sp>
        <p:nvSpPr>
          <p:cNvPr id="10" name="btn_dropdown_2"/>
          <p:cNvSpPr/>
          <p:nvPr/>
        </p:nvSpPr>
        <p:spPr>
          <a:xfrm>
            <a:off x="900000" y="3564000"/>
            <a:ext cx="1440000" cy="648000"/>
          </a:xfrm>
          <a:prstGeom prst="roundRect">
            <a:avLst/>
          </a:prstGeom>
          <a:solidFill>
            <a:srgbClr val="FFFFFF"/>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lang="ar-JO">
                <a:solidFill>
                  <a:srgbClr val="2D588C"/>
                </a:solidFill>
                <a:cs typeface="Tajawal"/>
                <a:latin typeface="Tajawal"/>
                <a:ea typeface="Tajawal"/>
              </a:rPr>
              <a:t>▼</a:t>
            </a:r>
          </a:p>
        </p:txBody>
      </p:sp>
      <p:sp>
        <p:nvSpPr>
          <p:cNvPr id="11" name="txt_statement_3"/>
          <p:cNvSpPr txBox="1"/>
          <p:nvPr/>
        </p:nvSpPr>
        <p:spPr>
          <a:xfrm>
            <a:off x="2520000" y="4608000"/>
            <a:ext cx="7920000" cy="648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جودة البيانات</a:t>
            </a:r>
          </a:p>
        </p:txBody>
      </p:sp>
      <p:sp>
        <p:nvSpPr>
          <p:cNvPr id="12" name="btn_dropdown_3"/>
          <p:cNvSpPr/>
          <p:nvPr/>
        </p:nvSpPr>
        <p:spPr>
          <a:xfrm>
            <a:off x="900000" y="4608000"/>
            <a:ext cx="1440000" cy="648000"/>
          </a:xfrm>
          <a:prstGeom prst="roundRect">
            <a:avLst/>
          </a:prstGeom>
          <a:solidFill>
            <a:srgbClr val="FFFFFF"/>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lang="ar-JO">
                <a:solidFill>
                  <a:srgbClr val="2D588C"/>
                </a:solidFill>
                <a:cs typeface="Tajawal"/>
                <a:latin typeface="Tajawal"/>
                <a:ea typeface="Tajawal"/>
              </a:rPr>
              <a:t>▼</a:t>
            </a:r>
          </a:p>
        </p:txBody>
      </p:sp>
      <p:sp>
        <p:nvSpPr>
          <p:cNvPr id="13" name="txt_statement_4"/>
          <p:cNvSpPr txBox="1"/>
          <p:nvPr/>
        </p:nvSpPr>
        <p:spPr>
          <a:xfrm>
            <a:off x="2520000" y="5652000"/>
            <a:ext cx="7920000" cy="648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إنترنت الأشياء</a:t>
            </a:r>
          </a:p>
        </p:txBody>
      </p:sp>
      <p:sp>
        <p:nvSpPr>
          <p:cNvPr id="14" name="btn_dropdown_4"/>
          <p:cNvSpPr/>
          <p:nvPr/>
        </p:nvSpPr>
        <p:spPr>
          <a:xfrm>
            <a:off x="900000" y="5652000"/>
            <a:ext cx="1440000" cy="648000"/>
          </a:xfrm>
          <a:prstGeom prst="roundRect">
            <a:avLst/>
          </a:prstGeom>
          <a:solidFill>
            <a:srgbClr val="FFFFFF"/>
          </a:solidFill>
          <a:ln>
            <a:solidFill>
              <a:srgbClr val="2D588C"/>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0" lang="ar-JO">
                <a:solidFill>
                  <a:srgbClr val="2D588C"/>
                </a:solidFill>
                <a:cs typeface="Tajawal"/>
                <a:latin typeface="Tajawal"/>
                <a:ea typeface="Tajawal"/>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ملخص المحاضرة</a:t>
            </a:r>
          </a:p>
        </p:txBody>
      </p:sp>
      <p:sp>
        <p:nvSpPr>
          <p:cNvPr id="3" name="header_title"/>
          <p:cNvSpPr txBox="1"/>
          <p:nvPr/>
        </p:nvSpPr>
        <p:spPr>
          <a:xfrm>
            <a:off x="3405034" y="114300"/>
            <a:ext cx="5181600" cy="369332"/>
          </a:xfrm>
          <a:prstGeom prst="rect">
            <a:avLst/>
          </a:prstGeom>
          <a:noFill/>
        </p:spPr>
        <p:txBody>
          <a:bodyPr wrap="square" lIns="90000" rIns="90000" tIns="46800" bIns="46800">
            <a:spAutoFit/>
          </a:bodyPr>
          <a:lstStyle/>
          <a:p>
            <a:pPr algn="ctr" rtl="1">
              <a:lnSpc>
                <a:spcPct val="130000"/>
              </a:lnSpc>
            </a:pPr>
            <a:r>
              <a:rPr sz="1800" b="0" lang="ar-JO">
                <a:solidFill>
                  <a:srgbClr val="333333"/>
                </a:solidFill>
                <a:cs typeface="Tajawal ExtraBold"/>
                <a:latin typeface="Tajawal ExtraBold"/>
                <a:ea typeface="Tajawal ExtraBold"/>
              </a:rPr>
              <a:t>المحاضرة التفاعلية: عقلية البيانات: التعلم والتواصل باستخدام البيانات</a:t>
            </a:r>
          </a:p>
        </p:txBody>
      </p:sp>
      <p:pic>
        <p:nvPicPr>
          <p:cNvPr id="4" name="header_banner" descr="banner_wide.png"/>
          <p:cNvPicPr>
            <a:picLocks noChangeAspect="1"/>
          </p:cNvPicPr>
          <p:nvPr/>
        </p:nvPicPr>
        <p:blipFill>
          <a:blip r:embed="rId2"/>
          <a:stretch>
            <a:fillRect/>
          </a:stretch>
        </p:blipFill>
        <p:spPr>
          <a:xfrm>
            <a:off x="3884635" y="860142"/>
            <a:ext cx="4422731" cy="695099"/>
          </a:xfrm>
          <a:prstGeom prst="rect">
            <a:avLst/>
          </a:prstGeom>
        </p:spPr>
      </p:pic>
      <p:sp>
        <p:nvSpPr>
          <p:cNvPr id="5" name="header_banner_text"/>
          <p:cNvSpPr txBox="1"/>
          <p:nvPr/>
        </p:nvSpPr>
        <p:spPr>
          <a:xfrm>
            <a:off x="3818244" y="977750"/>
            <a:ext cx="4555512" cy="40011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ملخّص الوحدة الدراسيّة</a:t>
            </a:r>
          </a:p>
        </p:txBody>
      </p:sp>
      <p:sp>
        <p:nvSpPr>
          <p:cNvPr id="6" name="bg_summary_card"/>
          <p:cNvSpPr/>
          <p:nvPr/>
        </p:nvSpPr>
        <p:spPr>
          <a:xfrm>
            <a:off x="720000" y="1512000"/>
            <a:ext cx="10800000" cy="3780000"/>
          </a:xfrm>
          <a:prstGeom prst="roundRect">
            <a:avLst/>
          </a:prstGeom>
          <a:solidFill>
            <a:srgbClr val="F5F7FA"/>
          </a:solidFill>
          <a:ln w="12700">
            <a:solidFill>
              <a:srgbClr val="E0E5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t_summary"/>
          <p:cNvSpPr txBox="1"/>
          <p:nvPr/>
        </p:nvSpPr>
        <p:spPr>
          <a:xfrm>
            <a:off x="900000" y="1620000"/>
            <a:ext cx="10440000" cy="3600000"/>
          </a:xfrm>
          <a:prstGeom prst="rect">
            <a:avLst/>
          </a:prstGeom>
          <a:noFill/>
        </p:spPr>
        <p:txBody>
          <a:bodyPr wrap="square" lIns="90000" rIns="90000" tIns="46800" bIns="46800">
            <a:noAutofit/>
          </a:bodyPr>
          <a:lstStyle/>
          <a:p>
            <a:pPr algn="r" rtl="1">
              <a:lnSpc>
                <a:spcPct val="150000"/>
              </a:lnSpc>
              <a:spcAft>
                <a:spcPts val="800"/>
              </a:spcAft>
            </a:pPr>
            <a:r>
              <a:rPr sz="2000" b="1" lang="ar-JO">
                <a:solidFill>
                  <a:srgbClr val="2D588C"/>
                </a:solidFill>
                <a:cs typeface="Tajawal ExtraBold"/>
                <a:latin typeface="Tajawal ExtraBold"/>
                <a:ea typeface="Tajawal ExtraBold"/>
              </a:rPr>
              <a:t>عقلية البيانات: </a:t>
            </a:r>
            <a:r>
              <a:rPr sz="2000" b="0" lang="ar-JO">
                <a:solidFill>
                  <a:srgbClr val="333333"/>
                </a:solidFill>
                <a:cs typeface="Tajawal"/>
                <a:latin typeface="Tajawal"/>
                <a:ea typeface="Tajawal"/>
              </a:rPr>
              <a:t>التفكير بالبيانات والتعلم منها والتواصل بها مع الآخرين</a:t>
            </a:r>
          </a:p>
          <a:p>
            <a:pPr algn="r" rtl="1">
              <a:lnSpc>
                <a:spcPct val="150000"/>
              </a:lnSpc>
              <a:spcAft>
                <a:spcPts val="800"/>
              </a:spcAft>
            </a:pPr>
            <a:r>
              <a:rPr sz="2000" b="1" lang="ar-JO">
                <a:solidFill>
                  <a:srgbClr val="2D588C"/>
                </a:solidFill>
                <a:cs typeface="Tajawal ExtraBold"/>
                <a:latin typeface="Tajawal ExtraBold"/>
                <a:ea typeface="Tajawal ExtraBold"/>
              </a:rPr>
              <a:t>البيانات الضخمة: </a:t>
            </a:r>
            <a:r>
              <a:rPr sz="2000" b="0" lang="ar-JO">
                <a:solidFill>
                  <a:srgbClr val="333333"/>
                </a:solidFill>
                <a:cs typeface="Tajawal"/>
                <a:latin typeface="Tajawal"/>
                <a:ea typeface="Tajawal"/>
              </a:rPr>
              <a:t>تتميز بثلاث خصائص: الحجم والسرعة والتنوع (3V)</a:t>
            </a:r>
          </a:p>
          <a:p>
            <a:pPr algn="r" rtl="1">
              <a:lnSpc>
                <a:spcPct val="150000"/>
              </a:lnSpc>
              <a:spcAft>
                <a:spcPts val="800"/>
              </a:spcAft>
            </a:pPr>
            <a:r>
              <a:rPr sz="2000" b="1" lang="ar-JO">
                <a:solidFill>
                  <a:srgbClr val="2D588C"/>
                </a:solidFill>
                <a:cs typeface="Tajawal ExtraBold"/>
                <a:latin typeface="Tajawal ExtraBold"/>
                <a:ea typeface="Tajawal ExtraBold"/>
              </a:rPr>
              <a:t>جودة البيانات: </a:t>
            </a:r>
            <a:r>
              <a:rPr sz="2000" b="0" lang="ar-JO">
                <a:solidFill>
                  <a:srgbClr val="333333"/>
                </a:solidFill>
                <a:cs typeface="Tajawal"/>
                <a:latin typeface="Tajawal"/>
                <a:ea typeface="Tajawal"/>
              </a:rPr>
              <a:t>تُقاس بأربعة أبعاد: الدقة والاكتمال والاتساق والتوقيت</a:t>
            </a:r>
          </a:p>
          <a:p>
            <a:pPr algn="r" rtl="1">
              <a:lnSpc>
                <a:spcPct val="150000"/>
              </a:lnSpc>
              <a:spcAft>
                <a:spcPts val="800"/>
              </a:spcAft>
            </a:pPr>
            <a:r>
              <a:rPr sz="2000" b="1" lang="ar-JO">
                <a:solidFill>
                  <a:srgbClr val="2D588C"/>
                </a:solidFill>
                <a:cs typeface="Tajawal ExtraBold"/>
                <a:latin typeface="Tajawal ExtraBold"/>
                <a:ea typeface="Tajawal ExtraBold"/>
              </a:rPr>
              <a:t>التواصل بالبيانات: </a:t>
            </a:r>
            <a:r>
              <a:rPr sz="2000" b="0" lang="ar-JO">
                <a:solidFill>
                  <a:srgbClr val="333333"/>
                </a:solidFill>
                <a:cs typeface="Tajawal"/>
                <a:latin typeface="Tajawal"/>
                <a:ea typeface="Tajawal"/>
              </a:rPr>
              <a:t>استخدام المخططات والإنفوجرافيك لتوصيل الرسالة بوضوح</a:t>
            </a:r>
          </a:p>
          <a:p>
            <a:pPr algn="r" rtl="1">
              <a:lnSpc>
                <a:spcPct val="150000"/>
              </a:lnSpc>
              <a:spcAft>
                <a:spcPts val="800"/>
              </a:spcAft>
            </a:pPr>
            <a:r>
              <a:rPr sz="2000" b="1" lang="ar-JO">
                <a:solidFill>
                  <a:srgbClr val="2D588C"/>
                </a:solidFill>
                <a:cs typeface="Tajawal ExtraBold"/>
                <a:latin typeface="Tajawal ExtraBold"/>
                <a:ea typeface="Tajawal ExtraBold"/>
              </a:rPr>
              <a:t>الخصوصية: </a:t>
            </a:r>
            <a:r>
              <a:rPr sz="2000" b="0" lang="ar-JO">
                <a:solidFill>
                  <a:srgbClr val="333333"/>
                </a:solidFill>
                <a:cs typeface="Tajawal"/>
                <a:latin typeface="Tajawal"/>
                <a:ea typeface="Tajawal"/>
              </a:rPr>
              <a:t>حماية البيانات الشخصية حق أساسي — امنح التطبيقات ما تحتاجه فقط</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200000" y="-7200000"/>
            <a:ext cx="3600000" cy="720000"/>
          </a:xfrm>
          <a:prstGeom prst="rect">
            <a:avLst/>
          </a:prstGeom>
          <a:noFill/>
        </p:spPr>
        <p:txBody>
          <a:bodyPr wrap="none">
            <a:spAutoFit/>
          </a:bodyPr>
          <a:lstStyle/>
          <a:p>
            <a:pPr rtl="1"/>
            <a:r>
              <a:rPr sz="1200" b="0" lang="ar-JO">
                <a:solidFill>
                  <a:srgbClr val="FFFFFF"/>
                </a:solidFill>
                <a:cs typeface="Tajawal"/>
                <a:latin typeface="Tajawal"/>
                <a:ea typeface="Tajawal"/>
              </a:rPr>
              <a:t>شكراً لكم</a:t>
            </a:r>
          </a:p>
        </p:txBody>
      </p:sp>
      <p:sp>
        <p:nvSpPr>
          <p:cNvPr id="3" name="Rectangle 2"/>
          <p:cNvSpPr/>
          <p:nvPr/>
        </p:nvSpPr>
        <p:spPr>
          <a:xfrm>
            <a:off x="0" y="0"/>
            <a:ext cx="12192000" cy="6858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g_card"/>
          <p:cNvSpPr/>
          <p:nvPr/>
        </p:nvSpPr>
        <p:spPr>
          <a:xfrm>
            <a:off x="1080000" y="1080000"/>
            <a:ext cx="10032000" cy="4698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co_corner_tr_h"/>
          <p:cNvSpPr/>
          <p:nvPr/>
        </p:nvSpPr>
        <p:spPr>
          <a:xfrm>
            <a:off x="10032000" y="900000"/>
            <a:ext cx="1080000" cy="25400"/>
          </a:xfrm>
          <a:prstGeom prst="rect">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eco_corner_tr_v"/>
          <p:cNvSpPr/>
          <p:nvPr/>
        </p:nvSpPr>
        <p:spPr>
          <a:xfrm>
            <a:off x="11112000" y="900000"/>
            <a:ext cx="25400" cy="1080000"/>
          </a:xfrm>
          <a:prstGeom prst="rect">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eco_corner_tr_dot"/>
          <p:cNvSpPr/>
          <p:nvPr/>
        </p:nvSpPr>
        <p:spPr>
          <a:xfrm>
            <a:off x="11040000" y="828000"/>
            <a:ext cx="144000" cy="144000"/>
          </a:xfrm>
          <a:prstGeom prst="ellipse">
            <a:avLst/>
          </a:prstGeom>
          <a:solidFill>
            <a:srgbClr val="4A7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img_closing" descr="img_20260222_091224.png"/>
          <p:cNvPicPr>
            <a:picLocks noChangeAspect="1"/>
          </p:cNvPicPr>
          <p:nvPr/>
        </p:nvPicPr>
        <p:blipFill>
          <a:blip r:embed="rId2"/>
          <a:stretch>
            <a:fillRect/>
          </a:stretch>
        </p:blipFill>
        <p:spPr>
          <a:xfrm>
            <a:off x="4290000" y="1260000"/>
            <a:ext cx="3300000" cy="1800000"/>
          </a:xfrm>
          <a:prstGeom prst="rect">
            <a:avLst/>
          </a:prstGeom>
        </p:spPr>
      </p:pic>
      <p:sp>
        <p:nvSpPr>
          <p:cNvPr id="9" name="txt_thanks"/>
          <p:cNvSpPr txBox="1"/>
          <p:nvPr/>
        </p:nvSpPr>
        <p:spPr>
          <a:xfrm>
            <a:off x="1800000" y="3240000"/>
            <a:ext cx="8640000" cy="900000"/>
          </a:xfrm>
          <a:prstGeom prst="rect">
            <a:avLst/>
          </a:prstGeom>
          <a:noFill/>
        </p:spPr>
        <p:txBody>
          <a:bodyPr wrap="square" lIns="90000" rIns="90000" tIns="46800" bIns="46800">
            <a:spAutoFit/>
          </a:bodyPr>
          <a:lstStyle/>
          <a:p>
            <a:pPr algn="ctr" rtl="1">
              <a:lnSpc>
                <a:spcPct val="130000"/>
              </a:lnSpc>
            </a:pPr>
            <a:r>
              <a:rPr sz="3600" b="0" lang="ar-JO">
                <a:solidFill>
                  <a:srgbClr val="2D588C"/>
                </a:solidFill>
                <a:cs typeface="Tajawal ExtraBold"/>
                <a:latin typeface="Tajawal ExtraBold"/>
                <a:ea typeface="Tajawal ExtraBold"/>
              </a:rPr>
              <a:t>شكراً لكم</a:t>
            </a:r>
          </a:p>
        </p:txBody>
      </p:sp>
      <p:sp>
        <p:nvSpPr>
          <p:cNvPr id="10" name="accent_steps_line"/>
          <p:cNvSpPr/>
          <p:nvPr/>
        </p:nvSpPr>
        <p:spPr>
          <a:xfrm>
            <a:off x="3600000" y="2700000"/>
            <a:ext cx="5040000" cy="36000"/>
          </a:xfrm>
          <a:prstGeom prst="rect">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t_next_steps_label"/>
          <p:cNvSpPr txBox="1"/>
          <p:nvPr/>
        </p:nvSpPr>
        <p:spPr>
          <a:xfrm>
            <a:off x="1800000" y="2880000"/>
            <a:ext cx="8640000" cy="540000"/>
          </a:xfrm>
          <a:prstGeom prst="rect">
            <a:avLst/>
          </a:prstGeom>
          <a:noFill/>
        </p:spPr>
        <p:txBody>
          <a:bodyPr wrap="square" lIns="90000" rIns="90000" tIns="46800" bIns="46800">
            <a:spAutoFit/>
          </a:bodyPr>
          <a:lstStyle/>
          <a:p>
            <a:pPr algn="ctr" rtl="1">
              <a:lnSpc>
                <a:spcPct val="130000"/>
              </a:lnSpc>
            </a:pPr>
            <a:r>
              <a:rPr sz="2000" b="0" lang="ar-JO">
                <a:solidFill>
                  <a:srgbClr val="333333"/>
                </a:solidFill>
                <a:cs typeface="Tajawal ExtraBold"/>
                <a:latin typeface="Tajawal ExtraBold"/>
                <a:ea typeface="Tajawal ExtraBold"/>
              </a:rPr>
              <a:t>الخطوات القادمة:</a:t>
            </a:r>
          </a:p>
        </p:txBody>
      </p:sp>
      <p:sp>
        <p:nvSpPr>
          <p:cNvPr id="12" name="num_step_1"/>
          <p:cNvSpPr/>
          <p:nvPr/>
        </p:nvSpPr>
        <p:spPr>
          <a:xfrm>
            <a:off x="8640000" y="360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1</a:t>
            </a:r>
          </a:p>
        </p:txBody>
      </p:sp>
      <p:sp>
        <p:nvSpPr>
          <p:cNvPr id="13" name="txt_step_1"/>
          <p:cNvSpPr txBox="1"/>
          <p:nvPr/>
        </p:nvSpPr>
        <p:spPr>
          <a:xfrm>
            <a:off x="2160000" y="360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مراجعة المحاضرة والأهداف التعليمية</a:t>
            </a:r>
          </a:p>
        </p:txBody>
      </p:sp>
      <p:sp>
        <p:nvSpPr>
          <p:cNvPr id="14" name="num_step_2"/>
          <p:cNvSpPr/>
          <p:nvPr/>
        </p:nvSpPr>
        <p:spPr>
          <a:xfrm>
            <a:off x="8640000" y="432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2</a:t>
            </a:r>
          </a:p>
        </p:txBody>
      </p:sp>
      <p:sp>
        <p:nvSpPr>
          <p:cNvPr id="15" name="txt_step_2"/>
          <p:cNvSpPr txBox="1"/>
          <p:nvPr/>
        </p:nvSpPr>
        <p:spPr>
          <a:xfrm>
            <a:off x="2160000" y="432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إكمال النشاط التفاعلي للوحدة</a:t>
            </a:r>
          </a:p>
        </p:txBody>
      </p:sp>
      <p:sp>
        <p:nvSpPr>
          <p:cNvPr id="16" name="num_step_3"/>
          <p:cNvSpPr/>
          <p:nvPr/>
        </p:nvSpPr>
        <p:spPr>
          <a:xfrm>
            <a:off x="8640000" y="5040000"/>
            <a:ext cx="540000" cy="540000"/>
          </a:xfrm>
          <a:prstGeom prst="ellipse">
            <a:avLst/>
          </a:prstGeom>
          <a:solidFill>
            <a:srgbClr val="2D58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0" lang="ar-JO">
                <a:solidFill>
                  <a:srgbClr val="FFFFFF"/>
                </a:solidFill>
                <a:cs typeface="Tajawal ExtraBold"/>
                <a:latin typeface="Tajawal ExtraBold"/>
                <a:ea typeface="Tajawal ExtraBold"/>
              </a:rPr>
              <a:t>3</a:t>
            </a:r>
          </a:p>
        </p:txBody>
      </p:sp>
      <p:sp>
        <p:nvSpPr>
          <p:cNvPr id="17" name="txt_step_3"/>
          <p:cNvSpPr txBox="1"/>
          <p:nvPr/>
        </p:nvSpPr>
        <p:spPr>
          <a:xfrm>
            <a:off x="2160000" y="5040000"/>
            <a:ext cx="6120000" cy="540000"/>
          </a:xfrm>
          <a:prstGeom prst="rect">
            <a:avLst/>
          </a:prstGeom>
          <a:noFill/>
        </p:spPr>
        <p:txBody>
          <a:bodyPr wrap="square" lIns="90000" rIns="90000" tIns="46800" bIns="46800">
            <a:noAutofit/>
          </a:bodyPr>
          <a:lstStyle/>
          <a:p>
            <a:pPr algn="r" rtl="1">
              <a:lnSpc>
                <a:spcPct val="130000"/>
              </a:lnSpc>
            </a:pPr>
            <a:r>
              <a:rPr sz="1800" b="0" lang="ar-JO">
                <a:solidFill>
                  <a:srgbClr val="333333"/>
                </a:solidFill>
                <a:cs typeface="Tajawal"/>
                <a:latin typeface="Tajawal"/>
                <a:ea typeface="Tajawal"/>
              </a:rPr>
              <a:t>الاستعداد للاختبار البعدي</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2025-11-02T06:11:04Z</dcterms:created>
  <dc:creator>hadeel alserhan</dc:creator>
</cp:coreProperties>
</file>