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13"/>
    <p:sldId id="257" r:id="rId12"/>
    <p:sldId id="258" r:id="rId11"/>
    <p:sldId id="259" r:id="rId10"/>
    <p:sldId id="260" r:id="rId9"/>
    <p:sldId id="261" r:id="rId8"/>
    <p:sldId id="262" r:id="rId7"/>
    <p:sldId id="263" r:id="rId6"/>
    <p:sldId id="264" r:id="rId22"/>
    <p:sldId id="265" r:id="rId23"/>
    <p:sldId id="266" r:id="rId24"/>
    <p:sldId id="267" r:id="rId25"/>
    <p:sldId id="268" r:id="rId26"/>
    <p:sldId id="269" r:id="rId27"/>
    <p:sldId id="270" r:id="rId28"/>
    <p:sldId id="271" r:id="rId29"/>
    <p:sldId id="272" r:id="rId30"/>
    <p:sldId id="273" r:id="rId31"/>
    <p:sldId id="274" r:id="rId32"/>
  </p:sldIdLst>
  <p:sldSz cy="6858000" cx="12192000"/>
  <p:notesSz cx="6858000" cy="9144000"/>
  <p:embeddedFontLst>
    <p:embeddedFont>
      <p:font typeface="Play"/>
      <p:regular r:id="rId14"/>
      <p:bold r:id="rId15"/>
    </p:embeddedFont>
    <p:embeddedFont>
      <p:font typeface="Tajawal ExtraBold"/>
      <p:bold r:id="rId16"/>
    </p:embeddedFont>
    <p:embeddedFont>
      <p:font typeface="Tajawal Medium"/>
      <p:regular r:id="rId17"/>
      <p:bold r:id="rId18"/>
    </p:embeddedFont>
    <p:embeddedFont>
      <p:font typeface="Tajawal"/>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76">
          <p15:clr>
            <a:srgbClr val="A4A3A4"/>
          </p15:clr>
        </p15:guide>
        <p15:guide id="2" pos="3840">
          <p15:clr>
            <a:srgbClr val="A4A3A4"/>
          </p15:clr>
        </p15:guide>
        <p15:guide id="3" orient="horz" pos="936">
          <p15:clr>
            <a:srgbClr val="A4A3A4"/>
          </p15:clr>
        </p15:guide>
        <p15:guide id="4" pos="4896">
          <p15:clr>
            <a:srgbClr val="A4A3A4"/>
          </p15:clr>
        </p15:guide>
        <p15:guide id="5" pos="6912">
          <p15:clr>
            <a:srgbClr val="A4A3A4"/>
          </p15:clr>
        </p15:guide>
        <p15:guide id="6" orient="horz" pos="1224">
          <p15:clr>
            <a:srgbClr val="A4A3A4"/>
          </p15:clr>
        </p15:guide>
        <p15:guide id="7" orient="horz" pos="3264">
          <p15:clr>
            <a:srgbClr val="A4A3A4"/>
          </p15:clr>
        </p15:guide>
      </p15:sldGuideLst>
    </p:ext>
    <p:ext uri="GoogleSlidesCustomDataVersion2">
      <go:slidesCustomData xmlns:go="http://customooxmlschemas.google.com/" r:id="rId21" roundtripDataSignature="AMtx7mjdE2pY+TZRQAyXDRzz/zrrGoHQ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6" orient="horz"/>
        <p:guide pos="3840"/>
        <p:guide pos="936" orient="horz"/>
        <p:guide pos="4896"/>
        <p:guide pos="6912"/>
        <p:guide pos="1224" orient="horz"/>
        <p:guide pos="3264"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6.xml"/><Relationship Id="rId9" Type="http://schemas.openxmlformats.org/officeDocument/2006/relationships/slide" Target="slides/slide5.xml"/><Relationship Id="rId10" Type="http://schemas.openxmlformats.org/officeDocument/2006/relationships/slide" Target="slides/slide4.xml"/><Relationship Id="rId11" Type="http://schemas.openxmlformats.org/officeDocument/2006/relationships/slide" Target="slides/slide3.xml"/><Relationship Id="rId12" Type="http://schemas.openxmlformats.org/officeDocument/2006/relationships/slide" Target="slides/slide2.xml"/><Relationship Id="rId13" Type="http://schemas.openxmlformats.org/officeDocument/2006/relationships/slide" Target="slides/slide1.xml"/><Relationship Id="rId14" Type="http://schemas.openxmlformats.org/officeDocument/2006/relationships/font" Target="fonts/Play-regular.fntdata"/><Relationship Id="rId15" Type="http://schemas.openxmlformats.org/officeDocument/2006/relationships/font" Target="fonts/Play-bold.fntdata"/><Relationship Id="rId16" Type="http://schemas.openxmlformats.org/officeDocument/2006/relationships/font" Target="fonts/TajawalExtraBold-bold.fntdata"/><Relationship Id="rId17" Type="http://schemas.openxmlformats.org/officeDocument/2006/relationships/font" Target="fonts/TajawalMedium-regular.fntdata"/><Relationship Id="rId18" Type="http://schemas.openxmlformats.org/officeDocument/2006/relationships/font" Target="fonts/TajawalMedium-bold.fntdata"/><Relationship Id="rId19" Type="http://schemas.openxmlformats.org/officeDocument/2006/relationships/font" Target="fonts/Tajawal-regular.fntdata"/><Relationship Id="rId20" Type="http://schemas.openxmlformats.org/officeDocument/2006/relationships/font" Target="fonts/Tajawal-bold.fntdata"/><Relationship Id="rId21" Type="http://customschemas.google.com/relationships/presentationmetadata" Target="metadata"/><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ar-JO"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360 IMPORT INSTRUCTIONS ===</a:t>
            </a:r>
          </a:p>
          <a:p/>
          <a:p>
            <a:r>
              <a:t>Project: NJR01</a:t>
            </a:r>
          </a:p>
          <a:p>
            <a:r>
              <a:t>Unit: 3</a:t>
            </a:r>
          </a:p>
          <a:p>
            <a:r>
              <a:t>Lecture: عقلية البيانات: التعلم والتواصل باستخدام البيانات</a:t>
            </a:r>
          </a:p>
          <a:p>
            <a:r>
              <a:t>Generated: 2026-02-12</a:t>
            </a:r>
          </a:p>
          <a:p>
            <a:r>
              <a:t>Designer: </a:t>
            </a:r>
          </a:p>
          <a:p/>
          <a:p>
            <a:r>
              <a:t>--- REQUIRED FONTS ---</a:t>
            </a:r>
          </a:p>
          <a:p>
            <a:r>
              <a:t>Install BEFORE importing:</a:t>
            </a:r>
          </a:p>
          <a:p>
            <a:r>
              <a:t>  1. Tajawal ExtraBold</a:t>
            </a:r>
          </a:p>
          <a:p>
            <a:r>
              <a:t>  2. Tajawal Medium</a:t>
            </a:r>
          </a:p>
          <a:p>
            <a:r>
              <a:t>  3. Tajawal (Regular)</a:t>
            </a:r>
          </a:p>
          <a:p>
            <a:r>
              <a:t>Download: https://fonts.google.com/specimen/Tajawal</a:t>
            </a:r>
          </a:p>
          <a:p/>
          <a:p>
            <a:r>
              <a:t>--- IMPORT STEPS ---</a:t>
            </a:r>
          </a:p>
          <a:p>
            <a:r>
              <a:t>1. File &gt; Import &gt; PowerPoint</a:t>
            </a:r>
          </a:p>
          <a:p>
            <a:r>
              <a:t>2. Select THIS .pptx file</a:t>
            </a:r>
          </a:p>
          <a:p>
            <a:r>
              <a:t>3. Import ALL slides</a:t>
            </a:r>
          </a:p>
          <a:p>
            <a:r>
              <a:t>4. Story Size: 1280 x 720 pixels (must match)</a:t>
            </a:r>
          </a:p>
          <a:p/>
          <a:p>
            <a:r>
              <a:t>--- POST-IMPORT QA ---</a:t>
            </a:r>
          </a:p>
          <a:p>
            <a:r>
              <a:t>[ ] Verify TOC shows Arabic slide titles (not 'Untitled')</a:t>
            </a:r>
          </a:p>
          <a:p>
            <a:r>
              <a:t>[ ] Verify fonts render correctly (Tajawal family)</a:t>
            </a:r>
          </a:p>
          <a:p>
            <a:r>
              <a:t>[ ] Check RTL text direction on all slides</a:t>
            </a:r>
          </a:p>
          <a:p>
            <a:r>
              <a:t>[ ] Test all interactive elements (buttons, quiz, drag-drop)</a:t>
            </a:r>
          </a:p>
          <a:p>
            <a:r>
              <a:t>[ ] Verify speaker notes contain Storyline instructions per slide</a:t>
            </a:r>
          </a:p>
          <a:p/>
          <a:p>
            <a:r>
              <a:t>--- SHAPE NAMING CONVENTION ---</a:t>
            </a:r>
          </a:p>
          <a:p>
            <a:r>
              <a:t>txt_*  = Text elements</a:t>
            </a:r>
          </a:p>
          <a:p>
            <a:r>
              <a:t>btn_*  = Clickable buttons (add triggers)</a:t>
            </a:r>
          </a:p>
          <a:p>
            <a:r>
              <a:t>icon_* = Decorative icons</a:t>
            </a:r>
          </a:p>
          <a:p>
            <a:r>
              <a:t>bg_*   = Background shapes</a:t>
            </a:r>
          </a:p>
          <a:p>
            <a:r>
              <a:t>opt_*  = Quiz option shapes (add triggers)</a:t>
            </a:r>
          </a:p>
          <a:p>
            <a:r>
              <a:t>num_*  = Numbered elements</a:t>
            </a:r>
          </a:p>
          <a:p>
            <a:r>
              <a:t>title  = Hidden TOC title (do not move)</a:t>
            </a:r>
          </a:p>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Content Slide (with image)</a:t>
            </a:r>
          </a:p>
          <a:p>
            <a:r>
              <a:t>- Image appears on the left side (9x9cm box)</a:t>
            </a:r>
          </a:p>
          <a:p>
            <a:r>
              <a:t>- Bullets animate in sequence (appear one by one)</a:t>
            </a:r>
          </a:p>
          <a:p>
            <a:r>
              <a:t>- Trigger: Timeline or click-to-advance</a:t>
            </a:r>
          </a:p>
          <a:p/>
          <a:p>
            <a:r>
              <a:t>=== NARRATOR SCRIPT ===</a:t>
            </a:r>
          </a:p>
          <a:p>
            <a:r>
              <a:t>نعيش اليوم في عالم يولّد كميات هائلة من البيانات كل ثانية. كل تغريدة تنشرها، كل صورة تشاركها على إنستغرام، وكل عملية شراء إلكترونية تقوم بها، كلها تُنتج بيانات. عقلية البيانات هي القدرة على التفكير بالبيانات، التعلم منها، والتواصل بها مع الآخرين.</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Click-Reveal (4 tabs)</a:t>
            </a:r>
          </a:p>
          <a:p>
            <a:r>
              <a:t>- Each tab is a clickable button (btn_tab_1 through btn_tab_4)</a:t>
            </a:r>
          </a:p>
          <a:p>
            <a:r>
              <a:t>- Clicking a tab reveals its description in the content area below</a:t>
            </a:r>
          </a:p>
          <a:p>
            <a:r>
              <a:t>- Only one description visible at a time</a:t>
            </a:r>
          </a:p>
          <a:p>
            <a:r>
              <a:t>- Trigger: Click each tab to show/hide corresponding text layer</a:t>
            </a:r>
          </a:p>
          <a:p>
            <a:r>
              <a:t>- Initial state: All descriptions hidden, first tab highlighted</a:t>
            </a:r>
          </a:p>
          <a:p/>
          <a:p>
            <a:r>
              <a:t>=== NARRATOR SCRIPT ===</a:t>
            </a:r>
          </a:p>
          <a:p>
            <a:r>
              <a:t>عقلية البيانات تتكون من أربعة مكونات أساسية. اضغط على كل عنصر لاكتشافها. أولاً: التعامل مع المشكلات باستخدام البيانات بدلاً من الحدس. ثانياً: التعرّف على البيانات في كل مكان حولنا. ثالثاً: استخدام البيانات لتحسين القرارات. رابعاً: مشاركة النتائج بطريقة واضحة ومفهومة.</a:t>
            </a:r>
          </a:p>
          <a:p/>
          <a:p>
            <a:r>
              <a:t>=== STORYLINE INSTRUCTIONS ===</a:t>
            </a:r>
          </a:p>
          <a:p>
            <a:r>
              <a:t>Slide Type: Click to Reveal</a:t>
            </a:r>
          </a:p>
          <a:p>
            <a:r>
              <a:t>Items: btn_reveal_1, btn_reveal_2, btn_reveal_3, btn_reveal_4</a:t>
            </a:r>
          </a:p>
          <a:p/>
          <a:p>
            <a:r>
              <a:t>=== LAYER INSTRUCTIONS ===</a:t>
            </a:r>
          </a:p>
          <a:p>
            <a:r>
              <a:t>Layer 1: Show content when btn_reveal_1 clicked — التعامل مع المشكلات</a:t>
            </a:r>
          </a:p>
          <a:p>
            <a:r>
              <a:t>Layer 2: Show content when btn_reveal_2 clicked — التعرّف على البيانات</a:t>
            </a:r>
          </a:p>
          <a:p>
            <a:r>
              <a:t>Layer 3: Show content when btn_reveal_3 clicked — تحسين القرارات</a:t>
            </a:r>
          </a:p>
          <a:p>
            <a:r>
              <a:t>Layer 4: Show content when btn_reveal_4 clicked — مشاركة النتائج</a:t>
            </a:r>
          </a:p>
          <a:p/>
          <a:p>
            <a:r>
              <a:t>=== CONTENT ===</a:t>
            </a:r>
          </a:p>
          <a:p>
            <a:r>
              <a:t>btn_reveal_1 (التعامل مع المشكلات): أسلوب للتعامل مع المشكلات والفرص باستخدام البيانات بدلاً من الحدس والتخمين</a:t>
            </a:r>
          </a:p>
          <a:p>
            <a:r>
              <a:t>btn_reveal_2 (التعرّف على البيانات): القدرة على رؤية البيانات في كل مكان من حولنا واستكشاف مصادرها المتنوعة</a:t>
            </a:r>
          </a:p>
          <a:p>
            <a:r>
              <a:t>btn_reveal_3 (تحسين القرارات): استخدام البيانات للتعلم المستمر واتخاذ قرارات أفضل مبنية على أدلة حقيقية</a:t>
            </a:r>
          </a:p>
          <a:p>
            <a:r>
              <a:t>btn_reveal_4 (مشاركة النتائج): القدرة على عرض البيانات ونتائج التحليل بوضوح وبصرية مفهومة للآخرين</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Content Slide (with image)</a:t>
            </a:r>
          </a:p>
          <a:p>
            <a:r>
              <a:t>- Image on the left side showing Venn diagram</a:t>
            </a:r>
          </a:p>
          <a:p>
            <a:r>
              <a:t>- Bullets appear sequentially</a:t>
            </a:r>
          </a:p>
          <a:p>
            <a:r>
              <a:t>- Trigger: Timeline or click-to-advance</a:t>
            </a:r>
          </a:p>
          <a:p/>
          <a:p>
            <a:r>
              <a:t>=== NARRATOR SCRIPT ===</a:t>
            </a:r>
          </a:p>
          <a:p>
            <a:r>
              <a:t>البيانات الضخمة هي مجموعات بيانات ضخمة جداً لا يمكن التعامل معها بالأدوات التقليدية. تتميز بثلاث خصائص رئيسية تُعرف بنموذج 3V. على سبيل المثال، فيسبوك وحده يولّد تيرابايت من البيانات يومياً.</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Click-Reveal (3 tabs)</a:t>
            </a:r>
          </a:p>
          <a:p>
            <a:r>
              <a:t>- Three tabs for Volume, Velocity, Variety</a:t>
            </a:r>
          </a:p>
          <a:p>
            <a:r>
              <a:t>- Each tab click reveals detailed description with example</a:t>
            </a:r>
          </a:p>
          <a:p>
            <a:r>
              <a:t>- Trigger: Click each tab to toggle description visibility</a:t>
            </a:r>
          </a:p>
          <a:p>
            <a:r>
              <a:t>- Suggested: Add icon per tab (database icon, speedometer, grid)</a:t>
            </a:r>
          </a:p>
          <a:p/>
          <a:p>
            <a:r>
              <a:t>=== NARRATOR SCRIPT ===</a:t>
            </a:r>
          </a:p>
          <a:p>
            <a:r>
              <a:t>خصائص البيانات الضخمة ثلاث. الحجم: وهي الكمية الهائلة من البيانات، مثل يوتيوب الذي يستقبل أكثر من 500 ساعة فيديو كل دقيقة. السرعة: وهي سرعة إنشاء ومعالجة البيانات، مثل ملايين رسائل واتساب كل ثانية. التنوع: وهي الأشكال المختلفة من البيانات من نصوص وصور وفيديو وبيانات مستشعرات.</a:t>
            </a:r>
          </a:p>
          <a:p/>
          <a:p>
            <a:r>
              <a:t>=== STORYLINE INSTRUCTIONS ===</a:t>
            </a:r>
          </a:p>
          <a:p>
            <a:r>
              <a:t>Slide Type: Click to Reveal</a:t>
            </a:r>
          </a:p>
          <a:p>
            <a:r>
              <a:t>Items: btn_reveal_1, btn_reveal_2, btn_reveal_3</a:t>
            </a:r>
          </a:p>
          <a:p/>
          <a:p>
            <a:r>
              <a:t>=== LAYER INSTRUCTIONS ===</a:t>
            </a:r>
          </a:p>
          <a:p>
            <a:r>
              <a:t>Layer 1: Show content when btn_reveal_1 clicked — الحجم Volume</a:t>
            </a:r>
          </a:p>
          <a:p>
            <a:r>
              <a:t>Layer 2: Show content when btn_reveal_2 clicked — السرعة Velocity</a:t>
            </a:r>
          </a:p>
          <a:p>
            <a:r>
              <a:t>Layer 3: Show content when btn_reveal_3 clicked — التنوع Variety</a:t>
            </a:r>
          </a:p>
          <a:p/>
          <a:p>
            <a:r>
              <a:t>=== CONTENT ===</a:t>
            </a:r>
          </a:p>
          <a:p>
            <a:r>
              <a:t>btn_reveal_1 (الحجم Volume): الكمية الهائلة من البيانات. مثال: يوتيوب يستقبل أكثر من 500 ساعة من مقاطع الفيديو كل دقيقة. كلما زادت كمية البيانات، احتجنا إلى حلول تخزين متقدمة.</a:t>
            </a:r>
          </a:p>
          <a:p>
            <a:r>
              <a:t>btn_reveal_2 (السرعة Velocity): سرعة إنشاء البيانات ومعالجتها. مثال: يتم إرسال ملايين الرسائل عبر واتساب كل ثانية. البيانات السريعة تحتاج إلى معالجة فورية مثل اكتشاف الاحتيال.</a:t>
            </a:r>
          </a:p>
          <a:p>
            <a:r>
              <a:t>btn_reveal_3 (التنوع Variety): أشكال مختلفة من البيانات: نصوص (التغريدات)، صور (إنستغرام)، فيديو (تيك توك)، بيانات المستشعرات (أجهزة إنترنت الأشياء).</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Quiz - Multiple Choice</a:t>
            </a:r>
          </a:p>
          <a:p>
            <a:r>
              <a:t>Correct Answer: ب (opt_b)</a:t>
            </a:r>
          </a:p>
          <a:p>
            <a:r>
              <a:t>Feedback (Correct): احسنت! الاجابة صحيحة</a:t>
            </a:r>
          </a:p>
          <a:p>
            <a:r>
              <a:t>Feedback (Incorrect): الاجابة غير صحيحة، حاول مرة اخرى</a:t>
            </a:r>
          </a:p>
          <a:p>
            <a:r>
              <a:t>Points: 10</a:t>
            </a:r>
          </a:p>
          <a:p>
            <a:r>
              <a:t>Attempts: 2</a:t>
            </a:r>
          </a:p>
          <a:p/>
          <a:p>
            <a:r>
              <a:t>=== FREEFORM SETUP ===</a:t>
            </a:r>
          </a:p>
          <a:p>
            <a:r>
              <a:t>1. Insert &gt; Convert to Freeform &gt; Pick One</a:t>
            </a:r>
          </a:p>
          <a:p>
            <a:r>
              <a:t>2. Assign opt_a, opt_b, opt_c, opt_d as choices</a:t>
            </a:r>
          </a:p>
          <a:p>
            <a:r>
              <a:t>3. Set opt_b as correct answer</a:t>
            </a:r>
          </a:p>
          <a:p>
            <a:r>
              <a:t>4. btn_check triggers submit</a:t>
            </a:r>
          </a:p>
          <a:p/>
          <a:p>
            <a:r>
              <a:t>=== NARRATOR SCRIPT ===</a:t>
            </a:r>
          </a:p>
          <a:p>
            <a:r>
              <a:t>أيّ من التالي يمثل خاصية السرعة (Velocity) في البيانات الضخمة؟</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Content Slide (with image)</a:t>
            </a:r>
          </a:p>
          <a:p>
            <a:r>
              <a:t>- Image on the left showing industry icons</a:t>
            </a:r>
          </a:p>
          <a:p>
            <a:r>
              <a:t>- Four bullets appear one at a time</a:t>
            </a:r>
          </a:p>
          <a:p>
            <a:r>
              <a:t>- Each bullet covers a different sector</a:t>
            </a:r>
          </a:p>
          <a:p>
            <a:r>
              <a:t>- Trigger: Timeline or click-to-advance</a:t>
            </a:r>
          </a:p>
          <a:p/>
          <a:p>
            <a:r>
              <a:t>=== NARRATOR SCRIPT ===</a:t>
            </a:r>
          </a:p>
          <a:p>
            <a:r>
              <a:t>البيانات تُحوّل الصناعات في كل مكان. في الأعمال، أمازون تقدّم توصيات للمنتجات بناءً على تحليل بيانات مشترياتك السابقة. في الصحة، الساعات الذكية تتابع نبضات القلب وتكتشف المشكلات الصحية مبكراً. في المدن الذكية، تُستخدم البيانات لإدارة حركة المرور وتقليل الازدحام. وفي البحث العلمي، يتم تحليل الجينات لاكتشاف أمراض جديدة.</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Two-Column Comparison</a:t>
            </a:r>
          </a:p>
          <a:p>
            <a:r>
              <a:t>- Right column (RTL first): Shows the fundamental principle with examples</a:t>
            </a:r>
          </a:p>
          <a:p>
            <a:r>
              <a:t>- Left column: Lists the four quality dimensions</a:t>
            </a:r>
          </a:p>
          <a:p>
            <a:r>
              <a:t>- Both columns appear simultaneously or staggered</a:t>
            </a:r>
          </a:p>
          <a:p>
            <a:r>
              <a:t>- Trigger: Timeline, both columns visible</a:t>
            </a:r>
          </a:p>
          <a:p/>
          <a:p>
            <a:r>
              <a:t>=== NARRATOR SCRIPT ===</a:t>
            </a:r>
          </a:p>
          <a:p>
            <a:r>
              <a:t>جودة البيانات مبدأ أساسي: البيانات الخاطئة تؤدي حتماً إلى قرارات خاطئة. تخيّل أن درجات بعض الطلاب غائبة من النظام، ستكون النتائج غير عادلة. الجودة ليست رفاهية بل ضرورة. تعتمد جودة البيانات على أربعة أبعاد: الدقة، الاكتمال، الاتساق، والتوقيت.</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Click-Reveal (4 tabs)</a:t>
            </a:r>
          </a:p>
          <a:p>
            <a:r>
              <a:t>- Four tabs: الدقة، الاكتمال، الاتساق، التوقيت</a:t>
            </a:r>
          </a:p>
          <a:p>
            <a:r>
              <a:t>- Each tab reveals its description with a practical example</a:t>
            </a:r>
          </a:p>
          <a:p>
            <a:r>
              <a:t>- Trigger: Click tab to show description, hide others</a:t>
            </a:r>
          </a:p>
          <a:p>
            <a:r>
              <a:t>- Suggested icons: target (accuracy), puzzle (completeness), link (consistency), clock (timeliness)</a:t>
            </a:r>
          </a:p>
          <a:p/>
          <a:p>
            <a:r>
              <a:t>=== NARRATOR SCRIPT ===</a:t>
            </a:r>
          </a:p>
          <a:p>
            <a:r>
              <a:t>أبعاد جودة البيانات أربعة. الدقة: هل البيانات صحيحة؟ كتسجيل درجة 95 بدلاً من 59. الاكتمال: هل جميع القيم موجودة؟ كغياب بيانات حضور بعض الطلاب. الاتساق: هل التنسيق موحّد؟ ككتابة التاريخ بصيغتين مختلفتين. التوقيت: هل البيانات مُحدّثة؟ كاستخدام بيانات قديمة للتخطيط.</a:t>
            </a:r>
          </a:p>
          <a:p/>
          <a:p>
            <a:r>
              <a:t>=== STORYLINE INSTRUCTIONS ===</a:t>
            </a:r>
          </a:p>
          <a:p>
            <a:r>
              <a:t>Slide Type: Click to Reveal</a:t>
            </a:r>
          </a:p>
          <a:p>
            <a:r>
              <a:t>Items: btn_reveal_1, btn_reveal_2, btn_reveal_3, btn_reveal_4</a:t>
            </a:r>
          </a:p>
          <a:p/>
          <a:p>
            <a:r>
              <a:t>=== LAYER INSTRUCTIONS ===</a:t>
            </a:r>
          </a:p>
          <a:p>
            <a:r>
              <a:t>Layer 1: Show content when btn_reveal_1 clicked — الدقة</a:t>
            </a:r>
          </a:p>
          <a:p>
            <a:r>
              <a:t>Layer 2: Show content when btn_reveal_2 clicked — الاكتمال</a:t>
            </a:r>
          </a:p>
          <a:p>
            <a:r>
              <a:t>Layer 3: Show content when btn_reveal_3 clicked — الاتساق</a:t>
            </a:r>
          </a:p>
          <a:p>
            <a:r>
              <a:t>Layer 4: Show content when btn_reveal_4 clicked — التوقيت</a:t>
            </a:r>
          </a:p>
          <a:p/>
          <a:p>
            <a:r>
              <a:t>=== CONTENT ===</a:t>
            </a:r>
          </a:p>
          <a:p>
            <a:r>
              <a:t>btn_reveal_1 (الدقة): هل البيانات صحيحة؟ مثال: إذا تم تسجيل درجة الطالب على أنها 95 بدلاً من 59، فإن القرارات ستكون خاطئة. الدقة هي أساس الثقة بالبيانات.</a:t>
            </a:r>
          </a:p>
          <a:p>
            <a:r>
              <a:t>btn_reveal_2 (الاكتمال): هل جميع القيم مدخلة؟ مثال: إذا كانت بيانات الحضور ناقصة لبعض الطلاب، تكون الصورة غير مكتملة وقد تُظلم بعض الطلاب.</a:t>
            </a:r>
          </a:p>
          <a:p>
            <a:r>
              <a:t>btn_reveal_3 (الاتساق): هل تنسيق البيانات موحّد؟ مثال: كتابة التاريخ بصيغة 01/02/2025 مرة وبصيغة 1 فبراير 2025 مرة أخرى يؤدي إلى ارتباك وأخطاء في التحليل.</a:t>
            </a:r>
          </a:p>
          <a:p>
            <a:r>
              <a:t>btn_reveal_4 (التوقيت): هل البيانات مُحدّثة؟ مثال: استخدام بيانات مبيعات العام الماضي للتخطيط لهذا العام قد يكون مضللاً لأن الظروف تتغير.</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Drag and Drop - Ordering</a:t>
            </a:r>
          </a:p>
          <a:p>
            <a:r>
              <a:t>Correct Order:</a:t>
            </a:r>
          </a:p>
          <a:p>
            <a:r>
              <a:t>drag_item_1 → drop_zone_1: الدقة</a:t>
            </a:r>
          </a:p>
          <a:p>
            <a:r>
              <a:t>drag_item_2 → drop_zone_2: الاكتمال</a:t>
            </a:r>
          </a:p>
          <a:p>
            <a:r>
              <a:t>drag_item_3 → drop_zone_3: الاتساق</a:t>
            </a:r>
          </a:p>
          <a:p>
            <a:r>
              <a:t>drag_item_4 → drop_zone_4: التوقيت</a:t>
            </a:r>
          </a:p>
          <a:p/>
          <a:p>
            <a:r>
              <a:t>=== FREEFORM SETUP ===</a:t>
            </a:r>
          </a:p>
          <a:p>
            <a:r>
              <a:t>1. Insert &gt; Convert to Freeform &gt; Drag and Drop</a:t>
            </a:r>
          </a:p>
          <a:p>
            <a:r>
              <a:t>2. Match drag_item shapes to drop_zone shapes</a:t>
            </a:r>
          </a:p>
          <a:p>
            <a:r>
              <a:t>3. Set correct order as shown above</a:t>
            </a:r>
          </a:p>
          <a:p/>
          <a:p>
            <a:r>
              <a:t>=== NARRATOR SCRIPT ===</a:t>
            </a:r>
          </a:p>
          <a:p>
            <a:r>
              <a:t>طابق المثال مع بُعد الجودة المناسب</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Two-Column Comparison</a:t>
            </a:r>
          </a:p>
          <a:p>
            <a:r>
              <a:t>- Right column: Lists four communication tools</a:t>
            </a:r>
          </a:p>
          <a:p>
            <a:r>
              <a:t>- Left column: Contrasts good vs bad data communication</a:t>
            </a:r>
          </a:p>
          <a:p>
            <a:r>
              <a:t>- Trigger: Timeline, staggered column appearance</a:t>
            </a:r>
          </a:p>
          <a:p/>
          <a:p>
            <a:r>
              <a:t>=== NARRATOR SCRIPT ===</a:t>
            </a:r>
          </a:p>
          <a:p>
            <a:r>
              <a:t>التواصل الفعّال بالبيانات يعتمد على أدوات مثل الرسوم البيانية والمخططات والإنفوجرافيك ولوحات المعلومات. التواصل السيء هو عرض جداول كبيرة مليئة بالأرقام. التواصل الجيد هو تقديم مخطط بسيط يوضّح الاتجاه الرئيسي. تذكّر: كلما كان العرض أبسط، كان أوضح وأكثر تأثيراً.</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Content Slide (with image)</a:t>
            </a:r>
          </a:p>
          <a:p>
            <a:r>
              <a:t>- Image on the left showing IoT ecosystem</a:t>
            </a:r>
          </a:p>
          <a:p>
            <a:r>
              <a:t>- Four bullets appearing sequentially</a:t>
            </a:r>
          </a:p>
          <a:p>
            <a:r>
              <a:t>- Trigger: Timeline or click-to-advance</a:t>
            </a:r>
          </a:p>
          <a:p/>
          <a:p>
            <a:r>
              <a:t>=== NARRATOR SCRIPT ===</a:t>
            </a:r>
          </a:p>
          <a:p>
            <a:r>
              <a:t>إنترنت الأشياء يعني الأجهزة اليومية المتصلة بالإنترنت. أول مثال تاريخي كان آلة بيع كوكاكولا في الثمانينات التي كانت تُرسل إشارات عند فراغها. اليوم نرى الثلاجات الذكية والساعات الذكية والمنازل الذكية. الجيل الخامس من الشبكات يوفر سرعات أعلى بكثير ويدعم المدن الذكية والسيارات ذاتية القيادة.</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Content with Cards (6 cards - 2 rows of 3)</a:t>
            </a:r>
          </a:p>
          <a:p>
            <a:r>
              <a:t>- Top row: 3 cards showing privacy PROBLEMS (red/warning tone)</a:t>
            </a:r>
          </a:p>
          <a:p>
            <a:r>
              <a:t>- Bottom row: 3 cards showing SOLUTIONS (green/positive tone)</a:t>
            </a:r>
          </a:p>
          <a:p>
            <a:r>
              <a:t>- Cards can animate in staggered fashion</a:t>
            </a:r>
          </a:p>
          <a:p>
            <a:r>
              <a:t>- Trigger: Timeline auto-play or hover for details</a:t>
            </a:r>
          </a:p>
          <a:p/>
          <a:p>
            <a:r>
              <a:t>=== NARRATOR SCRIPT ===</a:t>
            </a:r>
          </a:p>
          <a:p>
            <a:r>
              <a:t>في عالم البيانات، هناك تحديات تتعلق بالخصوصية والأخلاقيات. من المشاكل: الإعلانات الموجّهة التي تتتبع سلوكك، والمراقبة الشاملة دون علم الأفراد، وخروقات البيانات بسبب ضعف الحماية. ومن الحلول: رفع وعي المستخدمين بضبط إعدادات الخصوصية، وقوانين حماية المستهلك، واللائحة العامة لحماية البيانات GDPR التي تفرض حماية صارمة وتغرّم المخالفين.</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Quiz - Multiple Choice</a:t>
            </a:r>
          </a:p>
          <a:p>
            <a:r>
              <a:t>Correct Answer: ب (opt_b)</a:t>
            </a:r>
          </a:p>
          <a:p>
            <a:r>
              <a:t>Feedback (Correct): احسنت! الاجابة صحيحة</a:t>
            </a:r>
          </a:p>
          <a:p>
            <a:r>
              <a:t>Feedback (Incorrect): الاجابة غير صحيحة، حاول مرة اخرى</a:t>
            </a:r>
          </a:p>
          <a:p>
            <a:r>
              <a:t>Points: 10</a:t>
            </a:r>
          </a:p>
          <a:p>
            <a:r>
              <a:t>Attempts: 2</a:t>
            </a:r>
          </a:p>
          <a:p/>
          <a:p>
            <a:r>
              <a:t>=== FREEFORM SETUP ===</a:t>
            </a:r>
          </a:p>
          <a:p>
            <a:r>
              <a:t>1. Insert &gt; Convert to Freeform &gt; Pick One</a:t>
            </a:r>
          </a:p>
          <a:p>
            <a:r>
              <a:t>2. Assign opt_a, opt_b, opt_c, opt_d as choices</a:t>
            </a:r>
          </a:p>
          <a:p>
            <a:r>
              <a:t>3. Set opt_b as correct answer</a:t>
            </a:r>
          </a:p>
          <a:p>
            <a:r>
              <a:t>4. btn_check triggers submit</a:t>
            </a:r>
          </a:p>
          <a:p/>
          <a:p>
            <a:r>
              <a:t>=== NARRATOR SCRIPT ===</a:t>
            </a:r>
          </a:p>
          <a:p>
            <a:r>
              <a:t>أيّ من التالي يُعتبر حلاً لحماية خصوصية البيانات؟</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 name="Shape 15"/>
        <p:cNvGrpSpPr/>
        <p:nvPr/>
      </p:nvGrpSpPr>
      <p:grpSpPr>
        <a:xfrm>
          <a:off x="0" y="0"/>
          <a:ext cx="0" cy="0"/>
          <a:chOff x="0" y="0"/>
          <a:chExt cx="0" cy="0"/>
        </a:xfrm>
      </p:grpSpPr>
      <p:grpSp>
        <p:nvGrpSpPr>
          <p:cNvPr id="16" name="Google Shape;16;p10"/>
          <p:cNvGrpSpPr/>
          <p:nvPr/>
        </p:nvGrpSpPr>
        <p:grpSpPr>
          <a:xfrm flipH="1">
            <a:off x="0" y="0"/>
            <a:ext cx="12192000" cy="6857999"/>
            <a:chOff x="0" y="0"/>
            <a:chExt cx="12192000" cy="6857999"/>
          </a:xfrm>
        </p:grpSpPr>
        <p:pic>
          <p:nvPicPr>
            <p:cNvPr id="17" name="Google Shape;17;p10"/>
            <p:cNvPicPr preferRelativeResize="0"/>
            <p:nvPr/>
          </p:nvPicPr>
          <p:blipFill rotWithShape="1">
            <a:blip r:embed="rId2">
              <a:alphaModFix/>
            </a:blip>
            <a:srcRect b="0" l="0" r="0" t="0"/>
            <a:stretch/>
          </p:blipFill>
          <p:spPr>
            <a:xfrm>
              <a:off x="0" y="0"/>
              <a:ext cx="12192000" cy="6857999"/>
            </a:xfrm>
            <a:prstGeom prst="rect">
              <a:avLst/>
            </a:prstGeom>
            <a:noFill/>
            <a:ln>
              <a:noFill/>
            </a:ln>
          </p:spPr>
        </p:pic>
        <p:pic>
          <p:nvPicPr>
            <p:cNvPr id="18" name="Google Shape;18;p10"/>
            <p:cNvPicPr preferRelativeResize="0"/>
            <p:nvPr/>
          </p:nvPicPr>
          <p:blipFill rotWithShape="1">
            <a:blip r:embed="rId3">
              <a:alphaModFix/>
            </a:blip>
            <a:srcRect b="0" l="0" r="0" t="0"/>
            <a:stretch/>
          </p:blipFill>
          <p:spPr>
            <a:xfrm flipH="1">
              <a:off x="2500158" y="962015"/>
              <a:ext cx="1612381" cy="1248719"/>
            </a:xfrm>
            <a:prstGeom prst="rect">
              <a:avLst/>
            </a:prstGeom>
            <a:noFill/>
            <a:ln>
              <a:noFill/>
            </a:ln>
          </p:spPr>
        </p:pic>
        <p:cxnSp>
          <p:nvCxnSpPr>
            <p:cNvPr id="19" name="Google Shape;19;p10"/>
            <p:cNvCxnSpPr/>
            <p:nvPr/>
          </p:nvCxnSpPr>
          <p:spPr>
            <a:xfrm rot="10800000">
              <a:off x="2500158" y="4048125"/>
              <a:ext cx="1538442" cy="0"/>
            </a:xfrm>
            <a:prstGeom prst="straightConnector1">
              <a:avLst/>
            </a:prstGeom>
            <a:noFill/>
            <a:ln cap="rnd" cmpd="sng" w="19050">
              <a:solidFill>
                <a:srgbClr val="2D588C"/>
              </a:solidFill>
              <a:prstDash val="solid"/>
              <a:miter lim="800000"/>
              <a:headEnd len="sm" w="sm" type="none"/>
              <a:tailEnd len="sm" w="sm" type="none"/>
            </a:ln>
          </p:spPr>
        </p:cxnSp>
      </p:gr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0" name="Shape 20"/>
        <p:cNvGrpSpPr/>
        <p:nvPr/>
      </p:nvGrpSpPr>
      <p:grpSpPr>
        <a:xfrm>
          <a:off x="0" y="0"/>
          <a:ext cx="0" cy="0"/>
          <a:chOff x="0" y="0"/>
          <a:chExt cx="0" cy="0"/>
        </a:xfrm>
      </p:grpSpPr>
      <p:pic>
        <p:nvPicPr>
          <p:cNvPr id="21" name="Google Shape;21;p11"/>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22" name="Google Shape;22;p11"/>
          <p:cNvPicPr preferRelativeResize="0"/>
          <p:nvPr/>
        </p:nvPicPr>
        <p:blipFill rotWithShape="1">
          <a:blip r:embed="rId3">
            <a:alphaModFix/>
          </a:blip>
          <a:srcRect b="0" l="15304" r="15305" t="0"/>
          <a:stretch/>
        </p:blipFill>
        <p:spPr>
          <a:xfrm>
            <a:off x="1803400" y="0"/>
            <a:ext cx="8585200" cy="1007706"/>
          </a:xfrm>
          <a:prstGeom prst="rect">
            <a:avLst/>
          </a:prstGeom>
          <a:noFill/>
          <a:ln>
            <a:noFill/>
          </a:ln>
        </p:spPr>
      </p:pic>
      <p:pic>
        <p:nvPicPr>
          <p:cNvPr id="23" name="Google Shape;23;p11"/>
          <p:cNvPicPr preferRelativeResize="0"/>
          <p:nvPr/>
        </p:nvPicPr>
        <p:blipFill rotWithShape="1">
          <a:blip r:embed="rId4">
            <a:alphaModFix/>
          </a:blip>
          <a:srcRect b="0" l="0" r="0" t="0"/>
          <a:stretch/>
        </p:blipFill>
        <p:spPr>
          <a:xfrm flipH="1">
            <a:off x="0" y="6023222"/>
            <a:ext cx="12192000" cy="853440"/>
          </a:xfrm>
          <a:prstGeom prst="rect">
            <a:avLst/>
          </a:prstGeom>
          <a:noFill/>
          <a:ln>
            <a:noFill/>
          </a:ln>
        </p:spPr>
      </p:pic>
      <p:pic>
        <p:nvPicPr>
          <p:cNvPr id="24" name="Google Shape;24;p11"/>
          <p:cNvPicPr preferRelativeResize="0"/>
          <p:nvPr/>
        </p:nvPicPr>
        <p:blipFill rotWithShape="1">
          <a:blip r:embed="rId5">
            <a:alphaModFix/>
          </a:blip>
          <a:srcRect b="0" l="0" r="0" t="0"/>
          <a:stretch/>
        </p:blipFill>
        <p:spPr>
          <a:xfrm>
            <a:off x="371475" y="85756"/>
            <a:ext cx="709767" cy="549684"/>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8" name="Google Shape;2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1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9" name="Google Shape;59;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0" name="Google Shape;6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8"/>
          <p:cNvSpPr/>
          <p:nvPr>
            <p:ph idx="2" type="pic"/>
          </p:nvPr>
        </p:nvSpPr>
        <p:spPr>
          <a:xfrm>
            <a:off x="5183188" y="987425"/>
            <a:ext cx="6172200" cy="4873625"/>
          </a:xfrm>
          <a:prstGeom prst="rect">
            <a:avLst/>
          </a:prstGeom>
          <a:noFill/>
          <a:ln>
            <a:noFill/>
          </a:ln>
        </p:spPr>
      </p:sp>
      <p:sp>
        <p:nvSpPr>
          <p:cNvPr id="66" name="Google Shape;66;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757575"/>
                </a:solidFill>
                <a:latin typeface="Arial"/>
                <a:ea typeface="Arial"/>
                <a:cs typeface="Arial"/>
                <a:sym typeface="Arial"/>
              </a:defRPr>
            </a:lvl1pPr>
            <a:lvl2pPr indent="0" lvl="1" marL="0" marR="0" rtl="0" algn="l">
              <a:spcBef>
                <a:spcPts val="0"/>
              </a:spcBef>
              <a:buNone/>
              <a:defRPr b="0" i="0" sz="1200" u="none" cap="none" strike="noStrike">
                <a:solidFill>
                  <a:srgbClr val="757575"/>
                </a:solidFill>
                <a:latin typeface="Arial"/>
                <a:ea typeface="Arial"/>
                <a:cs typeface="Arial"/>
                <a:sym typeface="Arial"/>
              </a:defRPr>
            </a:lvl2pPr>
            <a:lvl3pPr indent="0" lvl="2" marL="0" marR="0" rtl="0" algn="l">
              <a:spcBef>
                <a:spcPts val="0"/>
              </a:spcBef>
              <a:buNone/>
              <a:defRPr b="0" i="0" sz="1200" u="none" cap="none" strike="noStrike">
                <a:solidFill>
                  <a:srgbClr val="757575"/>
                </a:solidFill>
                <a:latin typeface="Arial"/>
                <a:ea typeface="Arial"/>
                <a:cs typeface="Arial"/>
                <a:sym typeface="Arial"/>
              </a:defRPr>
            </a:lvl3pPr>
            <a:lvl4pPr indent="0" lvl="3" marL="0" marR="0" rtl="0" algn="l">
              <a:spcBef>
                <a:spcPts val="0"/>
              </a:spcBef>
              <a:buNone/>
              <a:defRPr b="0" i="0" sz="1200" u="none" cap="none" strike="noStrike">
                <a:solidFill>
                  <a:srgbClr val="757575"/>
                </a:solidFill>
                <a:latin typeface="Arial"/>
                <a:ea typeface="Arial"/>
                <a:cs typeface="Arial"/>
                <a:sym typeface="Arial"/>
              </a:defRPr>
            </a:lvl4pPr>
            <a:lvl5pPr indent="0" lvl="4" marL="0" marR="0" rtl="0" algn="l">
              <a:spcBef>
                <a:spcPts val="0"/>
              </a:spcBef>
              <a:buNone/>
              <a:defRPr b="0" i="0" sz="1200" u="none" cap="none" strike="noStrike">
                <a:solidFill>
                  <a:srgbClr val="757575"/>
                </a:solidFill>
                <a:latin typeface="Arial"/>
                <a:ea typeface="Arial"/>
                <a:cs typeface="Arial"/>
                <a:sym typeface="Arial"/>
              </a:defRPr>
            </a:lvl5pPr>
            <a:lvl6pPr indent="0" lvl="5" marL="0" marR="0" rtl="0" algn="l">
              <a:spcBef>
                <a:spcPts val="0"/>
              </a:spcBef>
              <a:buNone/>
              <a:defRPr b="0" i="0" sz="1200" u="none" cap="none" strike="noStrike">
                <a:solidFill>
                  <a:srgbClr val="757575"/>
                </a:solidFill>
                <a:latin typeface="Arial"/>
                <a:ea typeface="Arial"/>
                <a:cs typeface="Arial"/>
                <a:sym typeface="Arial"/>
              </a:defRPr>
            </a:lvl6pPr>
            <a:lvl7pPr indent="0" lvl="6" marL="0" marR="0" rtl="0" algn="l">
              <a:spcBef>
                <a:spcPts val="0"/>
              </a:spcBef>
              <a:buNone/>
              <a:defRPr b="0" i="0" sz="1200" u="none" cap="none" strike="noStrike">
                <a:solidFill>
                  <a:srgbClr val="757575"/>
                </a:solidFill>
                <a:latin typeface="Arial"/>
                <a:ea typeface="Arial"/>
                <a:cs typeface="Arial"/>
                <a:sym typeface="Arial"/>
              </a:defRPr>
            </a:lvl7pPr>
            <a:lvl8pPr indent="0" lvl="7" marL="0" marR="0" rtl="0" algn="l">
              <a:spcBef>
                <a:spcPts val="0"/>
              </a:spcBef>
              <a:buNone/>
              <a:defRPr b="0" i="0" sz="1200" u="none" cap="none" strike="noStrike">
                <a:solidFill>
                  <a:srgbClr val="757575"/>
                </a:solidFill>
                <a:latin typeface="Arial"/>
                <a:ea typeface="Arial"/>
                <a:cs typeface="Arial"/>
                <a:sym typeface="Arial"/>
              </a:defRPr>
            </a:lvl8pPr>
            <a:lvl9pPr indent="0" lvl="8" marL="0" marR="0" rtl="0" algn="l">
              <a:spcBef>
                <a:spcPts val="0"/>
              </a:spcBef>
              <a:buNone/>
              <a:defRPr b="0" i="0" sz="1200" u="none" cap="none" strike="noStrike">
                <a:solidFill>
                  <a:srgbClr val="757575"/>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ar-JO"/>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xml"/><Relationship Id="rId5"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8.jp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1.jpg"/><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2.jpg"/><Relationship Id="rId4"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5.jp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عقلية البيانات: التعلم والتواصل باستخدام البيانات</a:t>
            </a:r>
          </a:p>
        </p:txBody>
      </p:sp>
      <p:sp>
        <p:nvSpPr>
          <p:cNvPr id="3" name="txt_institution"/>
          <p:cNvSpPr txBox="1"/>
          <p:nvPr/>
        </p:nvSpPr>
        <p:spPr>
          <a:xfrm>
            <a:off x="6096000" y="3198167"/>
            <a:ext cx="5181600" cy="461665"/>
          </a:xfrm>
          <a:prstGeom prst="rect">
            <a:avLst/>
          </a:prstGeom>
          <a:noFill/>
        </p:spPr>
        <p:txBody>
          <a:bodyPr wrap="square" lIns="90000" rIns="90000" tIns="46800" bIns="46800">
            <a:spAutoFit/>
          </a:bodyPr>
          <a:lstStyle/>
          <a:p>
            <a:pPr algn="ctr" rtl="1">
              <a:lnSpc>
                <a:spcPct val="130000"/>
              </a:lnSpc>
            </a:pPr>
            <a:r>
              <a:rPr sz="2400" b="0" lang="ar-JO">
                <a:solidFill>
                  <a:srgbClr val="2D588C"/>
                </a:solidFill>
                <a:cs typeface="Tajawal ExtraBold"/>
                <a:latin typeface="Tajawal ExtraBold"/>
                <a:ea typeface="Tajawal ExtraBold"/>
              </a:rPr>
              <a:t>جامعة نجران - كلية علوم الحاسب ونظم المعلومات</a:t>
            </a:r>
          </a:p>
        </p:txBody>
      </p:sp>
      <p:sp>
        <p:nvSpPr>
          <p:cNvPr id="4" name="txt_title"/>
          <p:cNvSpPr txBox="1"/>
          <p:nvPr/>
        </p:nvSpPr>
        <p:spPr>
          <a:xfrm>
            <a:off x="6096000" y="4257368"/>
            <a:ext cx="5181600" cy="1077218"/>
          </a:xfrm>
          <a:prstGeom prst="rect">
            <a:avLst/>
          </a:prstGeom>
          <a:noFill/>
        </p:spPr>
        <p:txBody>
          <a:bodyPr wrap="square" lIns="90000" rIns="90000" tIns="46800" bIns="46800">
            <a:spAutoFit/>
          </a:bodyPr>
          <a:lstStyle/>
          <a:p>
            <a:pPr algn="ctr" rtl="1"/>
            <a:r>
              <a:rPr sz="2400" b="0" lang="ar-JO">
                <a:solidFill>
                  <a:srgbClr val="2D588C"/>
                </a:solidFill>
                <a:cs typeface="Tajawal ExtraBold"/>
                <a:latin typeface="Tajawal ExtraBold"/>
                <a:ea typeface="Tajawal ExtraBold"/>
              </a:rPr>
              <a:t>عقلية البيانات: التعلم والتواصل باستخدام البيانات</a:t>
            </a:r>
          </a:p>
          <a:p>
            <a:pPr algn="ctr" rtl="1"/>
            <a:r>
              <a:rPr sz="2000" b="0" lang="ar-JO">
                <a:solidFill>
                  <a:srgbClr val="262626"/>
                </a:solidFill>
                <a:cs typeface="Tajawal ExtraBold"/>
                <a:latin typeface="Tajawal ExtraBold"/>
                <a:ea typeface="Tajawal ExtraBold"/>
              </a:rPr>
              <a:t>الوحدة الثالثة - المهارات الرقمية</a:t>
            </a:r>
          </a:p>
        </p:txBody>
      </p:sp>
      <p:sp>
        <p:nvSpPr>
          <p:cNvPr id="5" name="btn_start">
            <a:hlinkClick action="ppaction://hlinksldjump" r:id="rId5"/>
          </p:cNvPr>
          <p:cNvSpPr/>
          <p:nvPr/>
        </p:nvSpPr>
        <p:spPr>
          <a:xfrm>
            <a:off x="7398084" y="5599525"/>
            <a:ext cx="2773680" cy="665193"/>
          </a:xfrm>
          <a:prstGeom prst="roundRect">
            <a:avLst/>
          </a:prstGeom>
          <a:solidFill>
            <a:srgbClr val="156082"/>
          </a:solidFill>
          <a:ln w="19050">
            <a:solidFill>
              <a:srgbClr val="082836"/>
            </a:solidFill>
          </a:ln>
        </p:spPr>
        <p:style>
          <a:lnRef idx="1">
            <a:schemeClr val="accent1"/>
          </a:lnRef>
          <a:fillRef idx="3">
            <a:schemeClr val="accent1"/>
          </a:fillRef>
          <a:effectRef idx="2">
            <a:schemeClr val="accent1"/>
          </a:effectRef>
          <a:fontRef idx="minor">
            <a:schemeClr val="lt1"/>
          </a:fontRef>
        </p:style>
        <p:txBody>
          <a:bodyPr rtlCol="0" anchor="ctr" wrap="square" lIns="90000" rIns="90000" tIns="46800" bIns="46800"/>
          <a:lstStyle/>
          <a:p>
            <a:pPr algn="ctr" rtl="1"/>
            <a:r>
              <a:rPr sz="2000" b="0" lang="ar-JO">
                <a:solidFill>
                  <a:srgbClr val="FFFFFF"/>
                </a:solidFill>
                <a:cs typeface="Tajawal"/>
                <a:latin typeface="Tajawal"/>
                <a:ea typeface="Tajawal"/>
              </a:rPr>
              <a:t>ابدأ المحاضرة</a:t>
            </a:r>
          </a:p>
        </p:txBody>
      </p:sp>
      <p:pic>
        <p:nvPicPr>
          <p:cNvPr id="6" name="icon_play" descr="play_icon.png"/>
          <p:cNvPicPr>
            <a:picLocks noChangeAspect="1"/>
          </p:cNvPicPr>
          <p:nvPr/>
        </p:nvPicPr>
        <p:blipFill>
          <a:blip r:embed="rId2"/>
          <a:stretch>
            <a:fillRect/>
          </a:stretch>
        </p:blipFill>
        <p:spPr>
          <a:xfrm>
            <a:off x="9476078" y="5599525"/>
            <a:ext cx="619211" cy="657317"/>
          </a:xfrm>
          <a:prstGeom prst="rect">
            <a:avLst/>
          </a:prstGeom>
        </p:spPr>
      </p:pic>
      <p:pic>
        <p:nvPicPr>
          <p:cNvPr id="7" name="icon_hand" descr="hand_cursor.png"/>
          <p:cNvPicPr>
            <a:picLocks noChangeAspect="1"/>
          </p:cNvPicPr>
          <p:nvPr/>
        </p:nvPicPr>
        <p:blipFill>
          <a:blip r:embed="rId3"/>
          <a:stretch>
            <a:fillRect/>
          </a:stretch>
        </p:blipFill>
        <p:spPr>
          <a:xfrm>
            <a:off x="7570916" y="5888428"/>
            <a:ext cx="724001" cy="7525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الأهداف التعليمية</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عقلية البيانات: التعلم والتواصل باستخدام البيانات الوحدة الثالثة - المهارات الرقمية</a:t>
            </a:r>
          </a:p>
        </p:txBody>
      </p:sp>
      <p:pic>
        <p:nvPicPr>
          <p:cNvPr id="4" name="header_banner" descr="banner_narrow.png"/>
          <p:cNvPicPr>
            <a:picLocks noChangeAspect="1"/>
          </p:cNvPicPr>
          <p:nvPr/>
        </p:nvPicPr>
        <p:blipFill>
          <a:blip r:embed="rId2"/>
          <a:stretch>
            <a:fillRect/>
          </a:stretch>
        </p:blipFill>
        <p:spPr>
          <a:xfrm>
            <a:off x="4790969" y="898751"/>
            <a:ext cx="2610062" cy="695099"/>
          </a:xfrm>
          <a:prstGeom prst="rect">
            <a:avLst/>
          </a:prstGeom>
        </p:spPr>
      </p:pic>
      <p:sp>
        <p:nvSpPr>
          <p:cNvPr id="5" name="header_banner_text"/>
          <p:cNvSpPr txBox="1"/>
          <p:nvPr/>
        </p:nvSpPr>
        <p:spPr>
          <a:xfrm>
            <a:off x="4947367" y="1035917"/>
            <a:ext cx="2297266"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الأهداف التعليمية</a:t>
            </a:r>
          </a:p>
        </p:txBody>
      </p:sp>
      <p:sp>
        <p:nvSpPr>
          <p:cNvPr id="6" name="txt_obj_intro"/>
          <p:cNvSpPr txBox="1"/>
          <p:nvPr/>
        </p:nvSpPr>
        <p:spPr>
          <a:xfrm>
            <a:off x="6280654" y="1830945"/>
            <a:ext cx="5361940" cy="369332"/>
          </a:xfrm>
          <a:prstGeom prst="rect">
            <a:avLst/>
          </a:prstGeom>
          <a:noFill/>
        </p:spPr>
        <p:txBody>
          <a:bodyPr wrap="square" lIns="90000" rIns="90000" tIns="46800" bIns="46800">
            <a:spAutoFit/>
          </a:bodyPr>
          <a:lstStyle/>
          <a:p>
            <a:pPr algn="r" rtl="1">
              <a:lnSpc>
                <a:spcPct val="130000"/>
              </a:lnSpc>
            </a:pPr>
            <a:r>
              <a:rPr sz="1800" b="0" lang="ar-JO">
                <a:solidFill>
                  <a:srgbClr val="333333"/>
                </a:solidFill>
                <a:cs typeface="Tajawal Medium"/>
                <a:latin typeface="Tajawal Medium"/>
                <a:ea typeface="Tajawal Medium"/>
              </a:rPr>
              <a:t>يتوقع منك في نهاية هذه المحاضرة أن تكون قادرًا على:</a:t>
            </a:r>
          </a:p>
        </p:txBody>
      </p:sp>
      <p:pic>
        <p:nvPicPr>
          <p:cNvPr id="7" name="bg_obj_1" descr="objective_row.png"/>
          <p:cNvPicPr>
            <a:picLocks noChangeAspect="1"/>
          </p:cNvPicPr>
          <p:nvPr/>
        </p:nvPicPr>
        <p:blipFill>
          <a:blip r:embed="rId3"/>
          <a:stretch>
            <a:fillRect/>
          </a:stretch>
        </p:blipFill>
        <p:spPr>
          <a:xfrm>
            <a:off x="612770" y="2315612"/>
            <a:ext cx="11029824" cy="600002"/>
          </a:xfrm>
          <a:prstGeom prst="rect">
            <a:avLst/>
          </a:prstGeom>
        </p:spPr>
      </p:pic>
      <p:pic>
        <p:nvPicPr>
          <p:cNvPr id="8" name="icon_obj_1" descr="target_icon.png"/>
          <p:cNvPicPr>
            <a:picLocks noChangeAspect="1"/>
          </p:cNvPicPr>
          <p:nvPr/>
        </p:nvPicPr>
        <p:blipFill>
          <a:blip r:embed="rId4"/>
          <a:stretch>
            <a:fillRect/>
          </a:stretch>
        </p:blipFill>
        <p:spPr>
          <a:xfrm>
            <a:off x="10922693" y="2315612"/>
            <a:ext cx="703228" cy="600002"/>
          </a:xfrm>
          <a:prstGeom prst="rect">
            <a:avLst/>
          </a:prstGeom>
        </p:spPr>
      </p:pic>
      <p:sp>
        <p:nvSpPr>
          <p:cNvPr id="9" name="txt_obj_1"/>
          <p:cNvSpPr txBox="1"/>
          <p:nvPr/>
        </p:nvSpPr>
        <p:spPr>
          <a:xfrm>
            <a:off x="1462617" y="2446336"/>
            <a:ext cx="9443403" cy="338554"/>
          </a:xfrm>
          <a:prstGeom prst="rect">
            <a:avLst/>
          </a:prstGeom>
          <a:noFill/>
        </p:spPr>
        <p:txBody>
          <a:bodyPr wrap="square" lIns="90000" rIns="90000" tIns="46800" bIns="46800">
            <a:spAutoFit/>
          </a:bodyPr>
          <a:lstStyle/>
          <a:p>
            <a:pPr algn="r" rtl="1">
              <a:lnSpc>
                <a:spcPct val="130000"/>
              </a:lnSpc>
            </a:pPr>
            <a:r>
              <a:rPr sz="1800" b="0" lang="ar-JO">
                <a:solidFill>
                  <a:srgbClr val="333333"/>
                </a:solidFill>
                <a:cs typeface="Tajawal"/>
                <a:latin typeface="Tajawal"/>
                <a:ea typeface="Tajawal"/>
              </a:rPr>
              <a:t>أن يُعرّف الطالب مفهوم عقلية البيانات ومكوناتها الأساسية</a:t>
            </a:r>
          </a:p>
        </p:txBody>
      </p:sp>
      <p:pic>
        <p:nvPicPr>
          <p:cNvPr id="10" name="bg_obj_2" descr="objective_row.png"/>
          <p:cNvPicPr>
            <a:picLocks noChangeAspect="1"/>
          </p:cNvPicPr>
          <p:nvPr/>
        </p:nvPicPr>
        <p:blipFill>
          <a:blip r:embed="rId3"/>
          <a:stretch>
            <a:fillRect/>
          </a:stretch>
        </p:blipFill>
        <p:spPr>
          <a:xfrm>
            <a:off x="612770" y="3161708"/>
            <a:ext cx="11029824" cy="600002"/>
          </a:xfrm>
          <a:prstGeom prst="rect">
            <a:avLst/>
          </a:prstGeom>
        </p:spPr>
      </p:pic>
      <p:pic>
        <p:nvPicPr>
          <p:cNvPr id="11" name="icon_obj_2" descr="target_icon.png"/>
          <p:cNvPicPr>
            <a:picLocks noChangeAspect="1"/>
          </p:cNvPicPr>
          <p:nvPr/>
        </p:nvPicPr>
        <p:blipFill>
          <a:blip r:embed="rId4"/>
          <a:stretch>
            <a:fillRect/>
          </a:stretch>
        </p:blipFill>
        <p:spPr>
          <a:xfrm>
            <a:off x="10922693" y="3161708"/>
            <a:ext cx="703228" cy="600002"/>
          </a:xfrm>
          <a:prstGeom prst="rect">
            <a:avLst/>
          </a:prstGeom>
        </p:spPr>
      </p:pic>
      <p:sp>
        <p:nvSpPr>
          <p:cNvPr id="12" name="txt_obj_2"/>
          <p:cNvSpPr txBox="1"/>
          <p:nvPr/>
        </p:nvSpPr>
        <p:spPr>
          <a:xfrm>
            <a:off x="1462617" y="3292432"/>
            <a:ext cx="9443403" cy="338554"/>
          </a:xfrm>
          <a:prstGeom prst="rect">
            <a:avLst/>
          </a:prstGeom>
          <a:noFill/>
        </p:spPr>
        <p:txBody>
          <a:bodyPr wrap="square" lIns="90000" rIns="90000" tIns="46800" bIns="46800">
            <a:spAutoFit/>
          </a:bodyPr>
          <a:lstStyle/>
          <a:p>
            <a:pPr algn="r" rtl="1">
              <a:lnSpc>
                <a:spcPct val="130000"/>
              </a:lnSpc>
            </a:pPr>
            <a:r>
              <a:rPr sz="1800" b="0" lang="ar-JO">
                <a:solidFill>
                  <a:srgbClr val="333333"/>
                </a:solidFill>
                <a:cs typeface="Tajawal"/>
                <a:latin typeface="Tajawal"/>
                <a:ea typeface="Tajawal"/>
              </a:rPr>
              <a:t>أن يشرح خصائص البيانات الضخمة الثلاث (الحجم، السرعة، التنوع)</a:t>
            </a:r>
          </a:p>
        </p:txBody>
      </p:sp>
      <p:pic>
        <p:nvPicPr>
          <p:cNvPr id="13" name="bg_obj_3" descr="objective_row.png"/>
          <p:cNvPicPr>
            <a:picLocks noChangeAspect="1"/>
          </p:cNvPicPr>
          <p:nvPr/>
        </p:nvPicPr>
        <p:blipFill>
          <a:blip r:embed="rId3"/>
          <a:stretch>
            <a:fillRect/>
          </a:stretch>
        </p:blipFill>
        <p:spPr>
          <a:xfrm>
            <a:off x="612770" y="4007804"/>
            <a:ext cx="11029824" cy="600002"/>
          </a:xfrm>
          <a:prstGeom prst="rect">
            <a:avLst/>
          </a:prstGeom>
        </p:spPr>
      </p:pic>
      <p:pic>
        <p:nvPicPr>
          <p:cNvPr id="14" name="icon_obj_3" descr="target_icon.png"/>
          <p:cNvPicPr>
            <a:picLocks noChangeAspect="1"/>
          </p:cNvPicPr>
          <p:nvPr/>
        </p:nvPicPr>
        <p:blipFill>
          <a:blip r:embed="rId4"/>
          <a:stretch>
            <a:fillRect/>
          </a:stretch>
        </p:blipFill>
        <p:spPr>
          <a:xfrm>
            <a:off x="10922693" y="4007804"/>
            <a:ext cx="703228" cy="600002"/>
          </a:xfrm>
          <a:prstGeom prst="rect">
            <a:avLst/>
          </a:prstGeom>
        </p:spPr>
      </p:pic>
      <p:sp>
        <p:nvSpPr>
          <p:cNvPr id="15" name="txt_obj_3"/>
          <p:cNvSpPr txBox="1"/>
          <p:nvPr/>
        </p:nvSpPr>
        <p:spPr>
          <a:xfrm>
            <a:off x="1462617" y="4138528"/>
            <a:ext cx="9443403" cy="338554"/>
          </a:xfrm>
          <a:prstGeom prst="rect">
            <a:avLst/>
          </a:prstGeom>
          <a:noFill/>
        </p:spPr>
        <p:txBody>
          <a:bodyPr wrap="square" lIns="90000" rIns="90000" tIns="46800" bIns="46800">
            <a:spAutoFit/>
          </a:bodyPr>
          <a:lstStyle/>
          <a:p>
            <a:pPr algn="r" rtl="1">
              <a:lnSpc>
                <a:spcPct val="130000"/>
              </a:lnSpc>
            </a:pPr>
            <a:r>
              <a:rPr sz="1800" b="0" lang="ar-JO">
                <a:solidFill>
                  <a:srgbClr val="333333"/>
                </a:solidFill>
                <a:cs typeface="Tajawal"/>
                <a:latin typeface="Tajawal"/>
                <a:ea typeface="Tajawal"/>
              </a:rPr>
              <a:t>أن يُحلل أبعاد جودة البيانات الأربعة ويطبقها على أمثلة واقعية</a:t>
            </a:r>
          </a:p>
        </p:txBody>
      </p:sp>
      <p:pic>
        <p:nvPicPr>
          <p:cNvPr id="16" name="bg_obj_4" descr="objective_row.png"/>
          <p:cNvPicPr>
            <a:picLocks noChangeAspect="1"/>
          </p:cNvPicPr>
          <p:nvPr/>
        </p:nvPicPr>
        <p:blipFill>
          <a:blip r:embed="rId3"/>
          <a:stretch>
            <a:fillRect/>
          </a:stretch>
        </p:blipFill>
        <p:spPr>
          <a:xfrm>
            <a:off x="612770" y="4853900"/>
            <a:ext cx="11029824" cy="600002"/>
          </a:xfrm>
          <a:prstGeom prst="rect">
            <a:avLst/>
          </a:prstGeom>
        </p:spPr>
      </p:pic>
      <p:pic>
        <p:nvPicPr>
          <p:cNvPr id="17" name="icon_obj_4" descr="target_icon.png"/>
          <p:cNvPicPr>
            <a:picLocks noChangeAspect="1"/>
          </p:cNvPicPr>
          <p:nvPr/>
        </p:nvPicPr>
        <p:blipFill>
          <a:blip r:embed="rId4"/>
          <a:stretch>
            <a:fillRect/>
          </a:stretch>
        </p:blipFill>
        <p:spPr>
          <a:xfrm>
            <a:off x="10922693" y="4853900"/>
            <a:ext cx="703228" cy="600002"/>
          </a:xfrm>
          <a:prstGeom prst="rect">
            <a:avLst/>
          </a:prstGeom>
        </p:spPr>
      </p:pic>
      <p:sp>
        <p:nvSpPr>
          <p:cNvPr id="18" name="txt_obj_4"/>
          <p:cNvSpPr txBox="1"/>
          <p:nvPr/>
        </p:nvSpPr>
        <p:spPr>
          <a:xfrm>
            <a:off x="1462617" y="4984624"/>
            <a:ext cx="9443403" cy="338554"/>
          </a:xfrm>
          <a:prstGeom prst="rect">
            <a:avLst/>
          </a:prstGeom>
          <a:noFill/>
        </p:spPr>
        <p:txBody>
          <a:bodyPr wrap="square" lIns="90000" rIns="90000" tIns="46800" bIns="46800">
            <a:spAutoFit/>
          </a:bodyPr>
          <a:lstStyle/>
          <a:p>
            <a:pPr algn="r" rtl="1">
              <a:lnSpc>
                <a:spcPct val="130000"/>
              </a:lnSpc>
            </a:pPr>
            <a:r>
              <a:rPr sz="1800" b="0" lang="ar-JO">
                <a:solidFill>
                  <a:srgbClr val="333333"/>
                </a:solidFill>
                <a:cs typeface="Tajawal"/>
                <a:latin typeface="Tajawal"/>
                <a:ea typeface="Tajawal"/>
              </a:rPr>
              <a:t>أن يُقيّم طرق التواصل الفعّال باستخدام البيانات</a:t>
            </a:r>
          </a:p>
        </p:txBody>
      </p:sp>
      <p:pic>
        <p:nvPicPr>
          <p:cNvPr id="19" name="bg_obj_5" descr="objective_row.png"/>
          <p:cNvPicPr>
            <a:picLocks noChangeAspect="1"/>
          </p:cNvPicPr>
          <p:nvPr/>
        </p:nvPicPr>
        <p:blipFill>
          <a:blip r:embed="rId3"/>
          <a:stretch>
            <a:fillRect/>
          </a:stretch>
        </p:blipFill>
        <p:spPr>
          <a:xfrm>
            <a:off x="612770" y="5699996"/>
            <a:ext cx="11029824" cy="600002"/>
          </a:xfrm>
          <a:prstGeom prst="rect">
            <a:avLst/>
          </a:prstGeom>
        </p:spPr>
      </p:pic>
      <p:pic>
        <p:nvPicPr>
          <p:cNvPr id="20" name="icon_obj_5" descr="target_icon.png"/>
          <p:cNvPicPr>
            <a:picLocks noChangeAspect="1"/>
          </p:cNvPicPr>
          <p:nvPr/>
        </p:nvPicPr>
        <p:blipFill>
          <a:blip r:embed="rId4"/>
          <a:stretch>
            <a:fillRect/>
          </a:stretch>
        </p:blipFill>
        <p:spPr>
          <a:xfrm>
            <a:off x="10922693" y="5699996"/>
            <a:ext cx="703228" cy="600002"/>
          </a:xfrm>
          <a:prstGeom prst="rect">
            <a:avLst/>
          </a:prstGeom>
        </p:spPr>
      </p:pic>
      <p:sp>
        <p:nvSpPr>
          <p:cNvPr id="21" name="txt_obj_5"/>
          <p:cNvSpPr txBox="1"/>
          <p:nvPr/>
        </p:nvSpPr>
        <p:spPr>
          <a:xfrm>
            <a:off x="1462617" y="5830720"/>
            <a:ext cx="9443403" cy="338554"/>
          </a:xfrm>
          <a:prstGeom prst="rect">
            <a:avLst/>
          </a:prstGeom>
          <a:noFill/>
        </p:spPr>
        <p:txBody>
          <a:bodyPr wrap="square" lIns="90000" rIns="90000" tIns="46800" bIns="46800">
            <a:spAutoFit/>
          </a:bodyPr>
          <a:lstStyle/>
          <a:p>
            <a:pPr algn="r" rtl="1">
              <a:lnSpc>
                <a:spcPct val="130000"/>
              </a:lnSpc>
            </a:pPr>
            <a:r>
              <a:rPr sz="1800" b="0" lang="ar-JO">
                <a:solidFill>
                  <a:srgbClr val="333333"/>
                </a:solidFill>
                <a:cs typeface="Tajawal"/>
                <a:latin typeface="Tajawal"/>
                <a:ea typeface="Tajawal"/>
              </a:rPr>
              <a:t>أن يناقش قضايا الخصوصية والأخلاقيات المرتبطة بالبيانات</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مقدمة: عالم البيانات</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عقلية البيانات: التعلم والتواصل باستخدام البيانات الوحدة الثالثة - المهارات الرقمية</a:t>
            </a:r>
          </a:p>
        </p:txBody>
      </p:sp>
      <p:pic>
        <p:nvPicPr>
          <p:cNvPr id="4" name="header_banner" descr="banner_narrow.png"/>
          <p:cNvPicPr>
            <a:picLocks noChangeAspect="1"/>
          </p:cNvPicPr>
          <p:nvPr/>
        </p:nvPicPr>
        <p:blipFill>
          <a:blip r:embed="rId2"/>
          <a:stretch>
            <a:fillRect/>
          </a:stretch>
        </p:blipFill>
        <p:spPr>
          <a:xfrm>
            <a:off x="4790969" y="898751"/>
            <a:ext cx="2610062" cy="695099"/>
          </a:xfrm>
          <a:prstGeom prst="rect">
            <a:avLst/>
          </a:prstGeom>
        </p:spPr>
      </p:pic>
      <p:sp>
        <p:nvSpPr>
          <p:cNvPr id="5" name="header_banner_text"/>
          <p:cNvSpPr txBox="1"/>
          <p:nvPr/>
        </p:nvSpPr>
        <p:spPr>
          <a:xfrm>
            <a:off x="4947367" y="1035917"/>
            <a:ext cx="2297266"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مقدمة: عالم البيانات</a:t>
            </a:r>
          </a:p>
        </p:txBody>
      </p:sp>
      <p:pic>
        <p:nvPicPr>
          <p:cNvPr id="6" name="img_content" descr="img_20260212_133514.png"/>
          <p:cNvPicPr>
            <a:picLocks noChangeAspect="1"/>
          </p:cNvPicPr>
          <p:nvPr/>
        </p:nvPicPr>
        <p:blipFill>
          <a:blip r:embed="rId3"/>
          <a:stretch>
            <a:fillRect/>
          </a:stretch>
        </p:blipFill>
        <p:spPr>
          <a:xfrm>
            <a:off x="900000" y="2716364"/>
            <a:ext cx="3240000" cy="1767272"/>
          </a:xfrm>
          <a:prstGeom prst="rect">
            <a:avLst/>
          </a:prstGeom>
        </p:spPr>
      </p:pic>
      <p:sp>
        <p:nvSpPr>
          <p:cNvPr id="7" name="bg_content_card"/>
          <p:cNvSpPr/>
          <p:nvPr/>
        </p:nvSpPr>
        <p:spPr>
          <a:xfrm>
            <a:off x="4500000" y="1692000"/>
            <a:ext cx="6840000" cy="4356000"/>
          </a:xfrm>
          <a:prstGeom prst="roundRect">
            <a:avLst>
              <a:gd name="adj" fmla="val 4000"/>
            </a:avLst>
          </a:prstGeom>
          <a:solidFill>
            <a:srgbClr val="F5F7FA"/>
          </a:solidFill>
          <a:ln w="12700">
            <a:solidFill>
              <a:srgbClr val="E0E5EC"/>
            </a:solidFill>
          </a:ln>
          <a:effectLst>
            <a:outerShdw blurRad="50800" dist="38100" dir="2700000" rotWithShape="0">
              <a:srgbClr val="000000">
                <a:alpha val="8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xt_body"/>
          <p:cNvSpPr txBox="1"/>
          <p:nvPr/>
        </p:nvSpPr>
        <p:spPr>
          <a:xfrm>
            <a:off x="4680000" y="1800000"/>
            <a:ext cx="6480000" cy="4140000"/>
          </a:xfrm>
          <a:prstGeom prst="rect">
            <a:avLst/>
          </a:prstGeom>
          <a:noFill/>
        </p:spPr>
        <p:txBody>
          <a:bodyPr wrap="square" lIns="90000" rIns="90000" tIns="46800" bIns="46800">
            <a:noAutofit/>
          </a:bodyPr>
          <a:lstStyle/>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نعيش في عالم يولّد كميات هائلة من البيانات كل ثانية</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أمثلة: التغريدات، صور إنستغرام، التسوق الإلكتروني</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عقلية البيانات = التفكير بالبيانات والتعلم منها والتواصل بها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ما هي عقلية البيانات؟</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عقلية البيانات: التعلم والتواصل باستخدام البيانات الوحدة الثالثة - المهارات الرقمية</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ما هي عقلية البيانات؟</a:t>
            </a:r>
          </a:p>
        </p:txBody>
      </p:sp>
      <p:sp>
        <p:nvSpPr>
          <p:cNvPr id="6" name="txt_instruction"/>
          <p:cNvSpPr txBox="1"/>
          <p:nvPr/>
        </p:nvSpPr>
        <p:spPr>
          <a:xfrm>
            <a:off x="900000" y="1620000"/>
            <a:ext cx="10440000" cy="5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Medium"/>
                <a:latin typeface="Tajawal Medium"/>
                <a:ea typeface="Tajawal Medium"/>
              </a:rPr>
              <a:t>انقر على كل عنصر لاكتشاف مكونات عقلية البيانات</a:t>
            </a:r>
          </a:p>
        </p:txBody>
      </p:sp>
      <p:sp>
        <p:nvSpPr>
          <p:cNvPr id="7" name="btn_reveal_1"/>
          <p:cNvSpPr/>
          <p:nvPr/>
        </p:nvSpPr>
        <p:spPr>
          <a:xfrm>
            <a:off x="900000" y="2520000"/>
            <a:ext cx="2430000" cy="900000"/>
          </a:xfrm>
          <a:prstGeom prst="roundRect">
            <a:avLst>
              <a:gd name="adj" fmla="val 8000"/>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التعامل مع المشكلات</a:t>
            </a:r>
          </a:p>
        </p:txBody>
      </p:sp>
      <p:sp>
        <p:nvSpPr>
          <p:cNvPr id="8" name="btn_reveal_2"/>
          <p:cNvSpPr/>
          <p:nvPr/>
        </p:nvSpPr>
        <p:spPr>
          <a:xfrm>
            <a:off x="3510000" y="2520000"/>
            <a:ext cx="2430000" cy="900000"/>
          </a:xfrm>
          <a:prstGeom prst="roundRect">
            <a:avLst>
              <a:gd name="adj" fmla="val 8000"/>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التعرّف على البيانات</a:t>
            </a:r>
          </a:p>
        </p:txBody>
      </p:sp>
      <p:sp>
        <p:nvSpPr>
          <p:cNvPr id="9" name="btn_reveal_3"/>
          <p:cNvSpPr/>
          <p:nvPr/>
        </p:nvSpPr>
        <p:spPr>
          <a:xfrm>
            <a:off x="6120000" y="2520000"/>
            <a:ext cx="2430000" cy="900000"/>
          </a:xfrm>
          <a:prstGeom prst="roundRect">
            <a:avLst>
              <a:gd name="adj" fmla="val 8000"/>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تحسين القرارات</a:t>
            </a:r>
          </a:p>
        </p:txBody>
      </p:sp>
      <p:sp>
        <p:nvSpPr>
          <p:cNvPr id="10" name="btn_reveal_4"/>
          <p:cNvSpPr/>
          <p:nvPr/>
        </p:nvSpPr>
        <p:spPr>
          <a:xfrm>
            <a:off x="8730000" y="2520000"/>
            <a:ext cx="2430000" cy="900000"/>
          </a:xfrm>
          <a:prstGeom prst="roundRect">
            <a:avLst>
              <a:gd name="adj" fmla="val 8000"/>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مشاركة النتائج</a:t>
            </a:r>
          </a:p>
        </p:txBody>
      </p:sp>
      <p:sp>
        <p:nvSpPr>
          <p:cNvPr id="11" name="bg_reveal_desc"/>
          <p:cNvSpPr/>
          <p:nvPr/>
        </p:nvSpPr>
        <p:spPr>
          <a:xfrm>
            <a:off x="900000" y="3780000"/>
            <a:ext cx="10260000" cy="1800000"/>
          </a:xfrm>
          <a:prstGeom prst="roundRect">
            <a:avLst/>
          </a:prstGeom>
          <a:solidFill>
            <a:srgbClr val="E3F2FD"/>
          </a:solidFill>
          <a:ln>
            <a:solidFill>
              <a:srgbClr val="2D5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ccent_desc_bar"/>
          <p:cNvSpPr/>
          <p:nvPr/>
        </p:nvSpPr>
        <p:spPr>
          <a:xfrm>
            <a:off x="10980000" y="3780000"/>
            <a:ext cx="144000" cy="1800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t_reveal_desc"/>
          <p:cNvSpPr txBox="1"/>
          <p:nvPr/>
        </p:nvSpPr>
        <p:spPr>
          <a:xfrm>
            <a:off x="1080000" y="3960000"/>
            <a:ext cx="9900000" cy="14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أسلوب للتعامل مع المشكلات والفرص باستخدام البيانات بدلاً من الحدس والتخمين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القسم الأول: البيانات الضخمة</a:t>
            </a:r>
          </a:p>
        </p:txBody>
      </p:sp>
      <p:sp>
        <p:nvSpPr>
          <p:cNvPr id="3" name="bg_divider"/>
          <p:cNvSpPr/>
          <p:nvPr/>
        </p:nvSpPr>
        <p:spPr>
          <a:xfrm>
            <a:off x="720000" y="720000"/>
            <a:ext cx="10752000" cy="5418000"/>
          </a:xfrm>
          <a:prstGeom prst="round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_divider_depth"/>
          <p:cNvSpPr/>
          <p:nvPr/>
        </p:nvSpPr>
        <p:spPr>
          <a:xfrm>
            <a:off x="720000" y="5418000"/>
            <a:ext cx="10752000" cy="720000"/>
          </a:xfrm>
          <a:prstGeom prst="rect">
            <a:avLst/>
          </a:prstGeom>
          <a:solidFill>
            <a:srgbClr val="1E3D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ccent_right_bar"/>
          <p:cNvSpPr/>
          <p:nvPr/>
        </p:nvSpPr>
        <p:spPr>
          <a:xfrm>
            <a:off x="11292000" y="720000"/>
            <a:ext cx="108000" cy="54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img_section_bg" descr="img_20260212_133535.png"/>
          <p:cNvPicPr>
            <a:picLocks noChangeAspect="1"/>
          </p:cNvPicPr>
          <p:nvPr/>
        </p:nvPicPr>
        <p:blipFill>
          <a:blip r:embed="rId2"/>
          <a:stretch>
            <a:fillRect/>
          </a:stretch>
        </p:blipFill>
        <p:spPr>
          <a:xfrm>
            <a:off x="1080000" y="1734545"/>
            <a:ext cx="2880000" cy="1570909"/>
          </a:xfrm>
          <a:prstGeom prst="rect">
            <a:avLst/>
          </a:prstGeom>
        </p:spPr>
      </p:pic>
      <p:sp>
        <p:nvSpPr>
          <p:cNvPr id="7" name="deco_corner_tr_h"/>
          <p:cNvSpPr/>
          <p:nvPr/>
        </p:nvSpPr>
        <p:spPr>
          <a:xfrm>
            <a:off x="9672000" y="900000"/>
            <a:ext cx="14400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eco_corner_tr_v"/>
          <p:cNvSpPr/>
          <p:nvPr/>
        </p:nvSpPr>
        <p:spPr>
          <a:xfrm>
            <a:off x="11112000" y="900000"/>
            <a:ext cx="25400" cy="1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eco_corner_tr_dot"/>
          <p:cNvSpPr/>
          <p:nvPr/>
        </p:nvSpPr>
        <p:spPr>
          <a:xfrm>
            <a:off x="11040000" y="828000"/>
            <a:ext cx="144000" cy="144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_corner_bl_h"/>
          <p:cNvSpPr/>
          <p:nvPr/>
        </p:nvSpPr>
        <p:spPr>
          <a:xfrm>
            <a:off x="1080000" y="5958000"/>
            <a:ext cx="14400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co_corner_bl_v"/>
          <p:cNvSpPr/>
          <p:nvPr/>
        </p:nvSpPr>
        <p:spPr>
          <a:xfrm>
            <a:off x="1080000" y="4518000"/>
            <a:ext cx="25400" cy="1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co_corner_bl_dot"/>
          <p:cNvSpPr/>
          <p:nvPr/>
        </p:nvSpPr>
        <p:spPr>
          <a:xfrm>
            <a:off x="1008000" y="5886000"/>
            <a:ext cx="144000" cy="144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t_section_title"/>
          <p:cNvSpPr txBox="1"/>
          <p:nvPr/>
        </p:nvSpPr>
        <p:spPr>
          <a:xfrm>
            <a:off x="1440000" y="1800000"/>
            <a:ext cx="9360000" cy="1260000"/>
          </a:xfrm>
          <a:prstGeom prst="rect">
            <a:avLst/>
          </a:prstGeom>
          <a:noFill/>
        </p:spPr>
        <p:txBody>
          <a:bodyPr wrap="square" lIns="90000" rIns="90000" tIns="46800" bIns="46800" anchor="ctr">
            <a:spAutoFit/>
          </a:bodyPr>
          <a:lstStyle/>
          <a:p>
            <a:pPr algn="ctr" rtl="1">
              <a:lnSpc>
                <a:spcPct val="130000"/>
              </a:lnSpc>
            </a:pPr>
            <a:r>
              <a:rPr sz="4000" b="0" lang="ar-JO">
                <a:solidFill>
                  <a:srgbClr val="FFFFFF"/>
                </a:solidFill>
                <a:cs typeface="Tajawal ExtraBold"/>
                <a:latin typeface="Tajawal ExtraBold"/>
                <a:ea typeface="Tajawal ExtraBold"/>
              </a:rPr>
              <a:t>القسم الأول: البيانات الضخمة</a:t>
            </a:r>
          </a:p>
        </p:txBody>
      </p:sp>
      <p:sp>
        <p:nvSpPr>
          <p:cNvPr id="14" name="divider_line"/>
          <p:cNvSpPr/>
          <p:nvPr/>
        </p:nvSpPr>
        <p:spPr>
          <a:xfrm>
            <a:off x="3240000" y="3131999"/>
            <a:ext cx="5400000" cy="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xt_section_subtitle"/>
          <p:cNvSpPr txBox="1"/>
          <p:nvPr/>
        </p:nvSpPr>
        <p:spPr>
          <a:xfrm>
            <a:off x="1440000" y="3348000"/>
            <a:ext cx="9360000" cy="900000"/>
          </a:xfrm>
          <a:prstGeom prst="rect">
            <a:avLst/>
          </a:prstGeom>
          <a:noFill/>
        </p:spPr>
        <p:txBody>
          <a:bodyPr wrap="square" lIns="90000" rIns="90000" tIns="46800" bIns="46800">
            <a:spAutoFit/>
          </a:bodyPr>
          <a:lstStyle/>
          <a:p>
            <a:pPr algn="ctr" rtl="1">
              <a:lnSpc>
                <a:spcPct val="130000"/>
              </a:lnSpc>
            </a:pPr>
            <a:r>
              <a:rPr sz="2400" b="0" lang="ar-JO">
                <a:solidFill>
                  <a:srgbClr val="FFFFFF"/>
                </a:solidFill>
                <a:cs typeface="Tajawal Medium"/>
                <a:latin typeface="Tajawal Medium"/>
                <a:ea typeface="Tajawal Medium"/>
              </a:rPr>
              <a:t>الحجم، السرعة، التنوع</a:t>
            </a:r>
          </a:p>
        </p:txBody>
      </p:sp>
      <p:sp>
        <p:nvSpPr>
          <p:cNvPr id="16" name="dot_section_1"/>
          <p:cNvSpPr/>
          <p:nvPr/>
        </p:nvSpPr>
        <p:spPr>
          <a:xfrm>
            <a:off x="5376000" y="5742000"/>
            <a:ext cx="288000" cy="288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_section_2"/>
          <p:cNvSpPr/>
          <p:nvPr/>
        </p:nvSpPr>
        <p:spPr>
          <a:xfrm>
            <a:off x="5988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_section_3"/>
          <p:cNvSpPr/>
          <p:nvPr/>
        </p:nvSpPr>
        <p:spPr>
          <a:xfrm>
            <a:off x="6564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ما هي البيانات الضخمة؟</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عقلية البيانات: التعلم والتواصل باستخدام البيانات الوحدة الثالثة - المهارات الرقمية</a:t>
            </a:r>
          </a:p>
        </p:txBody>
      </p:sp>
      <p:pic>
        <p:nvPicPr>
          <p:cNvPr id="4" name="header_banner" descr="banner_narrow.png"/>
          <p:cNvPicPr>
            <a:picLocks noChangeAspect="1"/>
          </p:cNvPicPr>
          <p:nvPr/>
        </p:nvPicPr>
        <p:blipFill>
          <a:blip r:embed="rId2"/>
          <a:stretch>
            <a:fillRect/>
          </a:stretch>
        </p:blipFill>
        <p:spPr>
          <a:xfrm>
            <a:off x="4790969" y="898751"/>
            <a:ext cx="2610062" cy="695099"/>
          </a:xfrm>
          <a:prstGeom prst="rect">
            <a:avLst/>
          </a:prstGeom>
        </p:spPr>
      </p:pic>
      <p:sp>
        <p:nvSpPr>
          <p:cNvPr id="5" name="header_banner_text"/>
          <p:cNvSpPr txBox="1"/>
          <p:nvPr/>
        </p:nvSpPr>
        <p:spPr>
          <a:xfrm>
            <a:off x="4947367" y="1035917"/>
            <a:ext cx="2297266"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ما هي البيانات الضخمة؟</a:t>
            </a:r>
          </a:p>
        </p:txBody>
      </p:sp>
      <p:pic>
        <p:nvPicPr>
          <p:cNvPr id="6" name="img_content" descr="img_20260212_133550.png"/>
          <p:cNvPicPr>
            <a:picLocks noChangeAspect="1"/>
          </p:cNvPicPr>
          <p:nvPr/>
        </p:nvPicPr>
        <p:blipFill>
          <a:blip r:embed="rId3"/>
          <a:stretch>
            <a:fillRect/>
          </a:stretch>
        </p:blipFill>
        <p:spPr>
          <a:xfrm>
            <a:off x="900000" y="2716364"/>
            <a:ext cx="3240000" cy="1767272"/>
          </a:xfrm>
          <a:prstGeom prst="rect">
            <a:avLst/>
          </a:prstGeom>
        </p:spPr>
      </p:pic>
      <p:sp>
        <p:nvSpPr>
          <p:cNvPr id="7" name="bg_content_card"/>
          <p:cNvSpPr/>
          <p:nvPr/>
        </p:nvSpPr>
        <p:spPr>
          <a:xfrm>
            <a:off x="4500000" y="1692000"/>
            <a:ext cx="6840000" cy="4356000"/>
          </a:xfrm>
          <a:prstGeom prst="roundRect">
            <a:avLst>
              <a:gd name="adj" fmla="val 4000"/>
            </a:avLst>
          </a:prstGeom>
          <a:solidFill>
            <a:srgbClr val="F5F7FA"/>
          </a:solidFill>
          <a:ln w="12700">
            <a:solidFill>
              <a:srgbClr val="E0E5EC"/>
            </a:solidFill>
          </a:ln>
          <a:effectLst>
            <a:outerShdw blurRad="50800" dist="38100" dir="2700000" rotWithShape="0">
              <a:srgbClr val="000000">
                <a:alpha val="8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xt_body"/>
          <p:cNvSpPr txBox="1"/>
          <p:nvPr/>
        </p:nvSpPr>
        <p:spPr>
          <a:xfrm>
            <a:off x="4680000" y="1800000"/>
            <a:ext cx="6480000" cy="4140000"/>
          </a:xfrm>
          <a:prstGeom prst="rect">
            <a:avLst/>
          </a:prstGeom>
          <a:noFill/>
        </p:spPr>
        <p:txBody>
          <a:bodyPr wrap="square" lIns="90000" rIns="90000" tIns="46800" bIns="46800">
            <a:noAutofit/>
          </a:bodyPr>
          <a:lstStyle/>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مجموعات بيانات ضخمة جداً لا يمكن التعامل معها بالأدوات التقليدية</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تتميز بثلاث خصائص رئيسية تُعرف بنموذج 3V</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مثال: فيسبوك يولّد تيرابايت من البيانات يومياً</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خصائص البيانات الضخمة: 3V</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عقلية البيانات: التعلم والتواصل باستخدام البيانات الوحدة الثالثة - المهارات الرقمية</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خصائص البيانات الضخمة: 3V</a:t>
            </a:r>
          </a:p>
        </p:txBody>
      </p:sp>
      <p:sp>
        <p:nvSpPr>
          <p:cNvPr id="6" name="txt_instruction"/>
          <p:cNvSpPr txBox="1"/>
          <p:nvPr/>
        </p:nvSpPr>
        <p:spPr>
          <a:xfrm>
            <a:off x="900000" y="1620000"/>
            <a:ext cx="10440000" cy="5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Medium"/>
                <a:latin typeface="Tajawal Medium"/>
                <a:ea typeface="Tajawal Medium"/>
              </a:rPr>
              <a:t>انقر على كل خاصية للتعرف عليها مع أمثلة عملية</a:t>
            </a:r>
          </a:p>
        </p:txBody>
      </p:sp>
      <p:sp>
        <p:nvSpPr>
          <p:cNvPr id="7" name="btn_reveal_1"/>
          <p:cNvSpPr/>
          <p:nvPr/>
        </p:nvSpPr>
        <p:spPr>
          <a:xfrm>
            <a:off x="900000" y="2520000"/>
            <a:ext cx="3300000" cy="900000"/>
          </a:xfrm>
          <a:prstGeom prst="roundRect">
            <a:avLst>
              <a:gd name="adj" fmla="val 8000"/>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الحجم Volume</a:t>
            </a:r>
          </a:p>
        </p:txBody>
      </p:sp>
      <p:sp>
        <p:nvSpPr>
          <p:cNvPr id="8" name="btn_reveal_2"/>
          <p:cNvSpPr/>
          <p:nvPr/>
        </p:nvSpPr>
        <p:spPr>
          <a:xfrm>
            <a:off x="4380000" y="2520000"/>
            <a:ext cx="3300000" cy="900000"/>
          </a:xfrm>
          <a:prstGeom prst="roundRect">
            <a:avLst>
              <a:gd name="adj" fmla="val 8000"/>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السرعة Velocity</a:t>
            </a:r>
          </a:p>
        </p:txBody>
      </p:sp>
      <p:sp>
        <p:nvSpPr>
          <p:cNvPr id="9" name="btn_reveal_3"/>
          <p:cNvSpPr/>
          <p:nvPr/>
        </p:nvSpPr>
        <p:spPr>
          <a:xfrm>
            <a:off x="7860000" y="2520000"/>
            <a:ext cx="3300000" cy="900000"/>
          </a:xfrm>
          <a:prstGeom prst="roundRect">
            <a:avLst>
              <a:gd name="adj" fmla="val 8000"/>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التنوع Variety</a:t>
            </a:r>
          </a:p>
        </p:txBody>
      </p:sp>
      <p:sp>
        <p:nvSpPr>
          <p:cNvPr id="10" name="bg_reveal_desc"/>
          <p:cNvSpPr/>
          <p:nvPr/>
        </p:nvSpPr>
        <p:spPr>
          <a:xfrm>
            <a:off x="900000" y="3780000"/>
            <a:ext cx="10260000" cy="1800000"/>
          </a:xfrm>
          <a:prstGeom prst="roundRect">
            <a:avLst/>
          </a:prstGeom>
          <a:solidFill>
            <a:srgbClr val="E3F2FD"/>
          </a:solidFill>
          <a:ln>
            <a:solidFill>
              <a:srgbClr val="2D5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ccent_desc_bar"/>
          <p:cNvSpPr/>
          <p:nvPr/>
        </p:nvSpPr>
        <p:spPr>
          <a:xfrm>
            <a:off x="10980000" y="3780000"/>
            <a:ext cx="144000" cy="1800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xt_reveal_desc"/>
          <p:cNvSpPr txBox="1"/>
          <p:nvPr/>
        </p:nvSpPr>
        <p:spPr>
          <a:xfrm>
            <a:off x="1080000" y="3960000"/>
            <a:ext cx="9900000" cy="14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الكمية الهائلة من البيانات. مثال: يوتيوب يستقبل أكثر من 500 ساعة من مقاطع الفيديو كل دقيقة. كلما زادت كمية البيانات، احتجنا إلى حلول تخزين متقدمة.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نشاط: أيّ من التالي يمثل خاصية السرع</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عقلية البيانات: التعلم والتواصل باستخدام البيانات الوحدة الثالثة - المهارات الرقمية</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نشاط تفاعلي: اختيار من متعدد</a:t>
            </a:r>
          </a:p>
        </p:txBody>
      </p:sp>
      <p:sp>
        <p:nvSpPr>
          <p:cNvPr id="6" name="txt_question"/>
          <p:cNvSpPr txBox="1"/>
          <p:nvPr/>
        </p:nvSpPr>
        <p:spPr>
          <a:xfrm>
            <a:off x="900000" y="1800000"/>
            <a:ext cx="10440000" cy="720000"/>
          </a:xfrm>
          <a:prstGeom prst="rect">
            <a:avLst/>
          </a:prstGeom>
          <a:noFill/>
        </p:spPr>
        <p:txBody>
          <a:bodyPr wrap="square" lIns="90000" rIns="90000" tIns="46800" bIns="46800">
            <a:noAutofit/>
          </a:bodyPr>
          <a:lstStyle/>
          <a:p>
            <a:pPr algn="r" rtl="1">
              <a:lnSpc>
                <a:spcPct val="130000"/>
              </a:lnSpc>
            </a:pPr>
            <a:r>
              <a:rPr sz="2400" b="0" lang="ar-JO">
                <a:solidFill>
                  <a:srgbClr val="333333"/>
                </a:solidFill>
                <a:cs typeface="Tajawal ExtraBold"/>
                <a:latin typeface="Tajawal ExtraBold"/>
                <a:ea typeface="Tajawal ExtraBold"/>
              </a:rPr>
              <a:t>أيّ من التالي يمثل خاصية السرعة (Velocity) في البيانات الضخمة؟</a:t>
            </a:r>
          </a:p>
        </p:txBody>
      </p:sp>
      <p:sp>
        <p:nvSpPr>
          <p:cNvPr id="7" name="bg_opt_a"/>
          <p:cNvSpPr/>
          <p:nvPr/>
        </p:nvSpPr>
        <p:spPr>
          <a:xfrm>
            <a:off x="900000" y="2664000"/>
            <a:ext cx="10080000" cy="684000"/>
          </a:xfrm>
          <a:prstGeom prst="roundRect">
            <a:avLst>
              <a:gd name="adj" fmla="val 6000"/>
            </a:avLst>
          </a:prstGeom>
          <a:solidFill>
            <a:srgbClr val="F5F7FA"/>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pt_a"/>
          <p:cNvSpPr/>
          <p:nvPr/>
        </p:nvSpPr>
        <p:spPr>
          <a:xfrm>
            <a:off x="10260000" y="2736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أ</a:t>
            </a:r>
          </a:p>
        </p:txBody>
      </p:sp>
      <p:sp>
        <p:nvSpPr>
          <p:cNvPr id="9" name="txt_opt_a"/>
          <p:cNvSpPr txBox="1"/>
          <p:nvPr/>
        </p:nvSpPr>
        <p:spPr>
          <a:xfrm>
            <a:off x="1080000" y="2700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تخزين يوتيوب لملايين مقاطع الفيديو</a:t>
            </a:r>
          </a:p>
        </p:txBody>
      </p:sp>
      <p:sp>
        <p:nvSpPr>
          <p:cNvPr id="10" name="bg_opt_b"/>
          <p:cNvSpPr/>
          <p:nvPr/>
        </p:nvSpPr>
        <p:spPr>
          <a:xfrm>
            <a:off x="900000" y="3456000"/>
            <a:ext cx="10080000" cy="684000"/>
          </a:xfrm>
          <a:prstGeom prst="roundRect">
            <a:avLst>
              <a:gd name="adj" fmla="val 6000"/>
            </a:avLst>
          </a:prstGeom>
          <a:solidFill>
            <a:srgbClr val="FFFFFF"/>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pt_b"/>
          <p:cNvSpPr/>
          <p:nvPr/>
        </p:nvSpPr>
        <p:spPr>
          <a:xfrm>
            <a:off x="10260000" y="3528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ب</a:t>
            </a:r>
          </a:p>
        </p:txBody>
      </p:sp>
      <p:sp>
        <p:nvSpPr>
          <p:cNvPr id="12" name="txt_opt_b"/>
          <p:cNvSpPr txBox="1"/>
          <p:nvPr/>
        </p:nvSpPr>
        <p:spPr>
          <a:xfrm>
            <a:off x="1080000" y="3492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إرسال ملايين الرسائل عبر واتساب كل ثانية</a:t>
            </a:r>
          </a:p>
        </p:txBody>
      </p:sp>
      <p:sp>
        <p:nvSpPr>
          <p:cNvPr id="13" name="bg_opt_c"/>
          <p:cNvSpPr/>
          <p:nvPr/>
        </p:nvSpPr>
        <p:spPr>
          <a:xfrm>
            <a:off x="900000" y="4248000"/>
            <a:ext cx="10080000" cy="684000"/>
          </a:xfrm>
          <a:prstGeom prst="roundRect">
            <a:avLst>
              <a:gd name="adj" fmla="val 6000"/>
            </a:avLst>
          </a:prstGeom>
          <a:solidFill>
            <a:srgbClr val="F5F7FA"/>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t_c"/>
          <p:cNvSpPr/>
          <p:nvPr/>
        </p:nvSpPr>
        <p:spPr>
          <a:xfrm>
            <a:off x="10260000" y="432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ج</a:t>
            </a:r>
          </a:p>
        </p:txBody>
      </p:sp>
      <p:sp>
        <p:nvSpPr>
          <p:cNvPr id="15" name="txt_opt_c"/>
          <p:cNvSpPr txBox="1"/>
          <p:nvPr/>
        </p:nvSpPr>
        <p:spPr>
          <a:xfrm>
            <a:off x="1080000" y="4284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وجود بيانات نصية وصور وفيديو معاً</a:t>
            </a:r>
          </a:p>
        </p:txBody>
      </p:sp>
      <p:sp>
        <p:nvSpPr>
          <p:cNvPr id="16" name="bg_opt_d"/>
          <p:cNvSpPr/>
          <p:nvPr/>
        </p:nvSpPr>
        <p:spPr>
          <a:xfrm>
            <a:off x="900000" y="5040000"/>
            <a:ext cx="10080000" cy="684000"/>
          </a:xfrm>
          <a:prstGeom prst="roundRect">
            <a:avLst>
              <a:gd name="adj" fmla="val 6000"/>
            </a:avLst>
          </a:prstGeom>
          <a:solidFill>
            <a:srgbClr val="FFFFFF"/>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pt_d"/>
          <p:cNvSpPr/>
          <p:nvPr/>
        </p:nvSpPr>
        <p:spPr>
          <a:xfrm>
            <a:off x="10260000" y="5112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د</a:t>
            </a:r>
          </a:p>
        </p:txBody>
      </p:sp>
      <p:sp>
        <p:nvSpPr>
          <p:cNvPr id="18" name="txt_opt_d"/>
          <p:cNvSpPr txBox="1"/>
          <p:nvPr/>
        </p:nvSpPr>
        <p:spPr>
          <a:xfrm>
            <a:off x="1080000" y="5076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استخدام أمازون لبيانات الشراء</a:t>
            </a:r>
          </a:p>
        </p:txBody>
      </p:sp>
      <p:sp>
        <p:nvSpPr>
          <p:cNvPr id="19" name="btn_check"/>
          <p:cNvSpPr/>
          <p:nvPr/>
        </p:nvSpPr>
        <p:spPr>
          <a:xfrm>
            <a:off x="3600000" y="5760000"/>
            <a:ext cx="3600000" cy="576000"/>
          </a:xfrm>
          <a:prstGeom prst="roundRect">
            <a:avLst/>
          </a:prstGeom>
          <a:solidFill>
            <a:srgbClr val="156082"/>
          </a:solidFill>
          <a:ln w="19050">
            <a:solidFill>
              <a:srgbClr val="08283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2200" b="0" lang="ar-JO">
                <a:solidFill>
                  <a:srgbClr val="FFFFFF"/>
                </a:solidFill>
                <a:cs typeface="Tajawal ExtraBold"/>
                <a:latin typeface="Tajawal ExtraBold"/>
                <a:ea typeface="Tajawal ExtraBold"/>
              </a:rPr>
              <a:t>تحقق من الإجابة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لماذا البيانات مهمة؟</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عقلية البيانات: التعلم والتواصل باستخدام البيانات الوحدة الثالثة - المهارات الرقمية</a:t>
            </a:r>
          </a:p>
        </p:txBody>
      </p:sp>
      <p:pic>
        <p:nvPicPr>
          <p:cNvPr id="4" name="header_banner" descr="banner_narrow.png"/>
          <p:cNvPicPr>
            <a:picLocks noChangeAspect="1"/>
          </p:cNvPicPr>
          <p:nvPr/>
        </p:nvPicPr>
        <p:blipFill>
          <a:blip r:embed="rId2"/>
          <a:stretch>
            <a:fillRect/>
          </a:stretch>
        </p:blipFill>
        <p:spPr>
          <a:xfrm>
            <a:off x="4790969" y="898751"/>
            <a:ext cx="2610062" cy="695099"/>
          </a:xfrm>
          <a:prstGeom prst="rect">
            <a:avLst/>
          </a:prstGeom>
        </p:spPr>
      </p:pic>
      <p:sp>
        <p:nvSpPr>
          <p:cNvPr id="5" name="header_banner_text"/>
          <p:cNvSpPr txBox="1"/>
          <p:nvPr/>
        </p:nvSpPr>
        <p:spPr>
          <a:xfrm>
            <a:off x="4947367" y="1035917"/>
            <a:ext cx="2297266"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لماذا البيانات مهمة؟</a:t>
            </a:r>
          </a:p>
        </p:txBody>
      </p:sp>
      <p:pic>
        <p:nvPicPr>
          <p:cNvPr id="6" name="img_content" descr="img_20260212_133607.png"/>
          <p:cNvPicPr>
            <a:picLocks noChangeAspect="1"/>
          </p:cNvPicPr>
          <p:nvPr/>
        </p:nvPicPr>
        <p:blipFill>
          <a:blip r:embed="rId3"/>
          <a:stretch>
            <a:fillRect/>
          </a:stretch>
        </p:blipFill>
        <p:spPr>
          <a:xfrm>
            <a:off x="900000" y="2716364"/>
            <a:ext cx="3240000" cy="1767272"/>
          </a:xfrm>
          <a:prstGeom prst="rect">
            <a:avLst/>
          </a:prstGeom>
        </p:spPr>
      </p:pic>
      <p:sp>
        <p:nvSpPr>
          <p:cNvPr id="7" name="bg_content_card"/>
          <p:cNvSpPr/>
          <p:nvPr/>
        </p:nvSpPr>
        <p:spPr>
          <a:xfrm>
            <a:off x="4500000" y="1692000"/>
            <a:ext cx="6840000" cy="4356000"/>
          </a:xfrm>
          <a:prstGeom prst="roundRect">
            <a:avLst>
              <a:gd name="adj" fmla="val 4000"/>
            </a:avLst>
          </a:prstGeom>
          <a:solidFill>
            <a:srgbClr val="F5F7FA"/>
          </a:solidFill>
          <a:ln w="12700">
            <a:solidFill>
              <a:srgbClr val="E0E5EC"/>
            </a:solidFill>
          </a:ln>
          <a:effectLst>
            <a:outerShdw blurRad="50800" dist="38100" dir="2700000" rotWithShape="0">
              <a:srgbClr val="000000">
                <a:alpha val="8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xt_body"/>
          <p:cNvSpPr txBox="1"/>
          <p:nvPr/>
        </p:nvSpPr>
        <p:spPr>
          <a:xfrm>
            <a:off x="4680000" y="1800000"/>
            <a:ext cx="6480000" cy="4140000"/>
          </a:xfrm>
          <a:prstGeom prst="rect">
            <a:avLst/>
          </a:prstGeom>
          <a:noFill/>
        </p:spPr>
        <p:txBody>
          <a:bodyPr wrap="square" lIns="90000" rIns="90000" tIns="46800" bIns="46800">
            <a:noAutofit/>
          </a:bodyPr>
          <a:lstStyle/>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الأعمال: أمازون تقدّم توصيات منتجات من خلال تحليل بيانات المشتريات</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الصحة: الساعات الذكية تتابع نبضات القلب وتكشف المشكلات الصحية</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المدن الذكية: استخدام البيانات لإدارة المرور وتقليل الازدحام</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البحث العلمي: تحليل الجينات لاكتشاف أمراض جديدة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القسم الثاني: جودة البيانات</a:t>
            </a:r>
          </a:p>
        </p:txBody>
      </p:sp>
      <p:sp>
        <p:nvSpPr>
          <p:cNvPr id="3" name="bg_divider"/>
          <p:cNvSpPr/>
          <p:nvPr/>
        </p:nvSpPr>
        <p:spPr>
          <a:xfrm>
            <a:off x="720000" y="720000"/>
            <a:ext cx="10752000" cy="5418000"/>
          </a:xfrm>
          <a:prstGeom prst="round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_divider_depth"/>
          <p:cNvSpPr/>
          <p:nvPr/>
        </p:nvSpPr>
        <p:spPr>
          <a:xfrm>
            <a:off x="720000" y="5418000"/>
            <a:ext cx="10752000" cy="720000"/>
          </a:xfrm>
          <a:prstGeom prst="rect">
            <a:avLst/>
          </a:prstGeom>
          <a:solidFill>
            <a:srgbClr val="1E3D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ccent_right_bar"/>
          <p:cNvSpPr/>
          <p:nvPr/>
        </p:nvSpPr>
        <p:spPr>
          <a:xfrm>
            <a:off x="11292000" y="720000"/>
            <a:ext cx="108000" cy="54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img_section_bg" descr="img_20260212_133624.png"/>
          <p:cNvPicPr>
            <a:picLocks noChangeAspect="1"/>
          </p:cNvPicPr>
          <p:nvPr/>
        </p:nvPicPr>
        <p:blipFill>
          <a:blip r:embed="rId2"/>
          <a:stretch>
            <a:fillRect/>
          </a:stretch>
        </p:blipFill>
        <p:spPr>
          <a:xfrm>
            <a:off x="1080000" y="1734545"/>
            <a:ext cx="2880000" cy="1570909"/>
          </a:xfrm>
          <a:prstGeom prst="rect">
            <a:avLst/>
          </a:prstGeom>
        </p:spPr>
      </p:pic>
      <p:sp>
        <p:nvSpPr>
          <p:cNvPr id="7" name="deco_corner_tr_h"/>
          <p:cNvSpPr/>
          <p:nvPr/>
        </p:nvSpPr>
        <p:spPr>
          <a:xfrm>
            <a:off x="9672000" y="900000"/>
            <a:ext cx="14400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eco_corner_tr_v"/>
          <p:cNvSpPr/>
          <p:nvPr/>
        </p:nvSpPr>
        <p:spPr>
          <a:xfrm>
            <a:off x="11112000" y="900000"/>
            <a:ext cx="25400" cy="1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eco_corner_tr_dot"/>
          <p:cNvSpPr/>
          <p:nvPr/>
        </p:nvSpPr>
        <p:spPr>
          <a:xfrm>
            <a:off x="11040000" y="828000"/>
            <a:ext cx="144000" cy="144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_corner_bl_h"/>
          <p:cNvSpPr/>
          <p:nvPr/>
        </p:nvSpPr>
        <p:spPr>
          <a:xfrm>
            <a:off x="1080000" y="5958000"/>
            <a:ext cx="14400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co_corner_bl_v"/>
          <p:cNvSpPr/>
          <p:nvPr/>
        </p:nvSpPr>
        <p:spPr>
          <a:xfrm>
            <a:off x="1080000" y="4518000"/>
            <a:ext cx="25400" cy="1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co_corner_bl_dot"/>
          <p:cNvSpPr/>
          <p:nvPr/>
        </p:nvSpPr>
        <p:spPr>
          <a:xfrm>
            <a:off x="1008000" y="5886000"/>
            <a:ext cx="144000" cy="144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t_section_title"/>
          <p:cNvSpPr txBox="1"/>
          <p:nvPr/>
        </p:nvSpPr>
        <p:spPr>
          <a:xfrm>
            <a:off x="1440000" y="1800000"/>
            <a:ext cx="9360000" cy="1260000"/>
          </a:xfrm>
          <a:prstGeom prst="rect">
            <a:avLst/>
          </a:prstGeom>
          <a:noFill/>
        </p:spPr>
        <p:txBody>
          <a:bodyPr wrap="square" lIns="90000" rIns="90000" tIns="46800" bIns="46800" anchor="ctr">
            <a:spAutoFit/>
          </a:bodyPr>
          <a:lstStyle/>
          <a:p>
            <a:pPr algn="ctr" rtl="1">
              <a:lnSpc>
                <a:spcPct val="130000"/>
              </a:lnSpc>
            </a:pPr>
            <a:r>
              <a:rPr sz="4000" b="0" lang="ar-JO">
                <a:solidFill>
                  <a:srgbClr val="FFFFFF"/>
                </a:solidFill>
                <a:cs typeface="Tajawal ExtraBold"/>
                <a:latin typeface="Tajawal ExtraBold"/>
                <a:ea typeface="Tajawal ExtraBold"/>
              </a:rPr>
              <a:t>القسم الثاني: جودة البيانات</a:t>
            </a:r>
          </a:p>
        </p:txBody>
      </p:sp>
      <p:sp>
        <p:nvSpPr>
          <p:cNvPr id="14" name="divider_line"/>
          <p:cNvSpPr/>
          <p:nvPr/>
        </p:nvSpPr>
        <p:spPr>
          <a:xfrm>
            <a:off x="3240000" y="3131999"/>
            <a:ext cx="5400000" cy="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xt_section_subtitle"/>
          <p:cNvSpPr txBox="1"/>
          <p:nvPr/>
        </p:nvSpPr>
        <p:spPr>
          <a:xfrm>
            <a:off x="1440000" y="3348000"/>
            <a:ext cx="9360000" cy="900000"/>
          </a:xfrm>
          <a:prstGeom prst="rect">
            <a:avLst/>
          </a:prstGeom>
          <a:noFill/>
        </p:spPr>
        <p:txBody>
          <a:bodyPr wrap="square" lIns="90000" rIns="90000" tIns="46800" bIns="46800">
            <a:spAutoFit/>
          </a:bodyPr>
          <a:lstStyle/>
          <a:p>
            <a:pPr algn="ctr" rtl="1">
              <a:lnSpc>
                <a:spcPct val="130000"/>
              </a:lnSpc>
            </a:pPr>
            <a:r>
              <a:rPr sz="2400" b="0" lang="ar-JO">
                <a:solidFill>
                  <a:srgbClr val="FFFFFF"/>
                </a:solidFill>
                <a:cs typeface="Tajawal Medium"/>
                <a:latin typeface="Tajawal Medium"/>
                <a:ea typeface="Tajawal Medium"/>
              </a:rPr>
              <a:t>الدقة، الاكتمال، الاتساق، التوقيت</a:t>
            </a:r>
          </a:p>
        </p:txBody>
      </p:sp>
      <p:sp>
        <p:nvSpPr>
          <p:cNvPr id="16" name="dot_section_1"/>
          <p:cNvSpPr/>
          <p:nvPr/>
        </p:nvSpPr>
        <p:spPr>
          <a:xfrm>
            <a:off x="5412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_section_2"/>
          <p:cNvSpPr/>
          <p:nvPr/>
        </p:nvSpPr>
        <p:spPr>
          <a:xfrm>
            <a:off x="5952000" y="5742000"/>
            <a:ext cx="288000" cy="288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_section_3"/>
          <p:cNvSpPr/>
          <p:nvPr/>
        </p:nvSpPr>
        <p:spPr>
          <a:xfrm>
            <a:off x="6564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جودة البيانات: لماذا هي مهمة؟</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عقلية البيانات: التعلم والتواصل باستخدام البيانات الوحدة الثالثة - المهارات الرقمية</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جودة البيانات: لماذا هي مهمة؟</a:t>
            </a:r>
          </a:p>
        </p:txBody>
      </p:sp>
      <p:sp>
        <p:nvSpPr>
          <p:cNvPr id="6" name="bg_col1_card"/>
          <p:cNvSpPr/>
          <p:nvPr/>
        </p:nvSpPr>
        <p:spPr>
          <a:xfrm>
            <a:off x="6012000" y="1692000"/>
            <a:ext cx="5076000" cy="3816000"/>
          </a:xfrm>
          <a:prstGeom prst="roundRect">
            <a:avLst>
              <a:gd name="adj" fmla="val 4000"/>
            </a:avLst>
          </a:prstGeom>
          <a:solidFill>
            <a:srgbClr val="FFFFFF"/>
          </a:solidFill>
          <a:ln w="12700">
            <a:solidFill>
              <a:srgbClr val="E0E5EC"/>
            </a:solidFill>
          </a:ln>
          <a:effectLst>
            <a:outerShdw blurRad="508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t_col1_title"/>
          <p:cNvSpPr txBox="1"/>
          <p:nvPr/>
        </p:nvSpPr>
        <p:spPr>
          <a:xfrm>
            <a:off x="6120000" y="1800000"/>
            <a:ext cx="4860000" cy="540000"/>
          </a:xfrm>
          <a:prstGeom prst="rect">
            <a:avLst/>
          </a:prstGeom>
          <a:noFill/>
        </p:spPr>
        <p:txBody>
          <a:bodyPr wrap="square" lIns="90000" rIns="90000" tIns="46800" bIns="46800">
            <a:spAutoFit/>
          </a:bodyPr>
          <a:lstStyle/>
          <a:p>
            <a:pPr algn="ctr" rtl="1">
              <a:lnSpc>
                <a:spcPct val="130000"/>
              </a:lnSpc>
            </a:pPr>
            <a:r>
              <a:rPr sz="2000" b="0" lang="ar-JO">
                <a:solidFill>
                  <a:srgbClr val="2D588C"/>
                </a:solidFill>
                <a:cs typeface="Tajawal ExtraBold"/>
                <a:latin typeface="Tajawal ExtraBold"/>
                <a:ea typeface="Tajawal ExtraBold"/>
              </a:rPr>
              <a:t>المبدأ الأساسي</a:t>
            </a:r>
          </a:p>
        </p:txBody>
      </p:sp>
      <p:sp>
        <p:nvSpPr>
          <p:cNvPr id="8" name="Rectangle 7"/>
          <p:cNvSpPr/>
          <p:nvPr/>
        </p:nvSpPr>
        <p:spPr>
          <a:xfrm>
            <a:off x="6840000" y="2340000"/>
            <a:ext cx="3420000" cy="54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xt_col1_body"/>
          <p:cNvSpPr txBox="1"/>
          <p:nvPr/>
        </p:nvSpPr>
        <p:spPr>
          <a:xfrm>
            <a:off x="6120000" y="2520000"/>
            <a:ext cx="4860000" cy="2880000"/>
          </a:xfrm>
          <a:prstGeom prst="rect">
            <a:avLst/>
          </a:prstGeom>
          <a:noFill/>
        </p:spPr>
        <p:txBody>
          <a:bodyPr wrap="square" lIns="90000" rIns="90000" tIns="46800" bIns="46800">
            <a:noAutofit/>
          </a:bodyPr>
          <a:lstStyle/>
          <a:p>
            <a:pPr algn="r" rtl="1">
              <a:lnSpc>
                <a:spcPct val="140000"/>
              </a:lnSpc>
              <a:spcBef>
                <a:spcPts val="1000"/>
              </a:spcBef>
              <a:spcAft>
                <a:spcPts val="1000"/>
              </a:spcAft>
            </a:pPr>
            <a:r>
              <a:rPr sz="1600" b="0" lang="ar-JO">
                <a:solidFill>
                  <a:srgbClr val="2D588C"/>
                </a:solidFill>
                <a:cs typeface="Tajawal"/>
                <a:latin typeface="Tajawal"/>
                <a:ea typeface="Tajawal"/>
              </a:rPr>
              <a:t>● </a:t>
            </a:r>
            <a:r>
              <a:rPr sz="1800" b="0" lang="ar-JO">
                <a:solidFill>
                  <a:srgbClr val="333333"/>
                </a:solidFill>
                <a:cs typeface="Tajawal"/>
                <a:latin typeface="Tajawal"/>
                <a:ea typeface="Tajawal"/>
              </a:rPr>
              <a:t>البيانات الخاطئة تؤدي إلى قرارات خاطئة</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800" b="0" lang="ar-JO">
                <a:solidFill>
                  <a:srgbClr val="333333"/>
                </a:solidFill>
                <a:cs typeface="Tajawal"/>
                <a:latin typeface="Tajawal"/>
                <a:ea typeface="Tajawal"/>
              </a:rPr>
              <a:t>مثال: غياب درجات بعض الطلاب = نتائج غير عادلة</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800" b="0" lang="ar-JO">
                <a:solidFill>
                  <a:srgbClr val="333333"/>
                </a:solidFill>
                <a:cs typeface="Tajawal"/>
                <a:latin typeface="Tajawal"/>
                <a:ea typeface="Tajawal"/>
              </a:rPr>
              <a:t>الجودة ليست رفاهية بل ضرورة</a:t>
            </a:r>
          </a:p>
        </p:txBody>
      </p:sp>
      <p:sp>
        <p:nvSpPr>
          <p:cNvPr id="10" name="bg_col2_card"/>
          <p:cNvSpPr/>
          <p:nvPr/>
        </p:nvSpPr>
        <p:spPr>
          <a:xfrm>
            <a:off x="792000" y="1692000"/>
            <a:ext cx="5076000" cy="3816000"/>
          </a:xfrm>
          <a:prstGeom prst="roundRect">
            <a:avLst>
              <a:gd name="adj" fmla="val 4000"/>
            </a:avLst>
          </a:prstGeom>
          <a:solidFill>
            <a:srgbClr val="FFFFFF"/>
          </a:solidFill>
          <a:ln w="12700">
            <a:solidFill>
              <a:srgbClr val="E0E5EC"/>
            </a:solidFill>
          </a:ln>
          <a:effectLst>
            <a:outerShdw blurRad="508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xt_col2_title"/>
          <p:cNvSpPr txBox="1"/>
          <p:nvPr/>
        </p:nvSpPr>
        <p:spPr>
          <a:xfrm>
            <a:off x="900000" y="1800000"/>
            <a:ext cx="4860000" cy="540000"/>
          </a:xfrm>
          <a:prstGeom prst="rect">
            <a:avLst/>
          </a:prstGeom>
          <a:noFill/>
        </p:spPr>
        <p:txBody>
          <a:bodyPr wrap="square" lIns="90000" rIns="90000" tIns="46800" bIns="46800">
            <a:spAutoFit/>
          </a:bodyPr>
          <a:lstStyle/>
          <a:p>
            <a:pPr algn="ctr" rtl="1">
              <a:lnSpc>
                <a:spcPct val="130000"/>
              </a:lnSpc>
            </a:pPr>
            <a:r>
              <a:rPr sz="2000" b="0" lang="ar-JO">
                <a:solidFill>
                  <a:srgbClr val="156082"/>
                </a:solidFill>
                <a:cs typeface="Tajawal ExtraBold"/>
                <a:latin typeface="Tajawal ExtraBold"/>
                <a:ea typeface="Tajawal ExtraBold"/>
              </a:rPr>
              <a:t>الأبعاد الأربعة</a:t>
            </a:r>
          </a:p>
        </p:txBody>
      </p:sp>
      <p:sp>
        <p:nvSpPr>
          <p:cNvPr id="12" name="Rectangle 11"/>
          <p:cNvSpPr/>
          <p:nvPr/>
        </p:nvSpPr>
        <p:spPr>
          <a:xfrm>
            <a:off x="1620000" y="2340000"/>
            <a:ext cx="3420000" cy="5400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t_col2_body"/>
          <p:cNvSpPr txBox="1"/>
          <p:nvPr/>
        </p:nvSpPr>
        <p:spPr>
          <a:xfrm>
            <a:off x="900000" y="2520000"/>
            <a:ext cx="4860000" cy="2880000"/>
          </a:xfrm>
          <a:prstGeom prst="rect">
            <a:avLst/>
          </a:prstGeom>
          <a:noFill/>
        </p:spPr>
        <p:txBody>
          <a:bodyPr wrap="square" lIns="90000" rIns="90000" tIns="46800" bIns="46800">
            <a:noAutofit/>
          </a:bodyPr>
          <a:lstStyle/>
          <a:p>
            <a:pPr algn="r" rtl="1">
              <a:lnSpc>
                <a:spcPct val="140000"/>
              </a:lnSpc>
              <a:spcBef>
                <a:spcPts val="1000"/>
              </a:spcBef>
              <a:spcAft>
                <a:spcPts val="1000"/>
              </a:spcAft>
            </a:pPr>
            <a:r>
              <a:rPr sz="1600" b="0" lang="ar-JO">
                <a:solidFill>
                  <a:srgbClr val="2D588C"/>
                </a:solidFill>
                <a:cs typeface="Tajawal"/>
                <a:latin typeface="Tajawal"/>
                <a:ea typeface="Tajawal"/>
              </a:rPr>
              <a:t>● </a:t>
            </a:r>
            <a:r>
              <a:rPr sz="1800" b="0" lang="ar-JO">
                <a:solidFill>
                  <a:srgbClr val="333333"/>
                </a:solidFill>
                <a:cs typeface="Tajawal"/>
                <a:latin typeface="Tajawal"/>
                <a:ea typeface="Tajawal"/>
              </a:rPr>
              <a:t>الدقة: هل البيانات صحيحة؟</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800" b="0" lang="ar-JO">
                <a:solidFill>
                  <a:srgbClr val="333333"/>
                </a:solidFill>
                <a:cs typeface="Tajawal"/>
                <a:latin typeface="Tajawal"/>
                <a:ea typeface="Tajawal"/>
              </a:rPr>
              <a:t>الاكتمال: هل جميع القيم مدخلة؟</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800" b="0" lang="ar-JO">
                <a:solidFill>
                  <a:srgbClr val="333333"/>
                </a:solidFill>
                <a:cs typeface="Tajawal"/>
                <a:latin typeface="Tajawal"/>
                <a:ea typeface="Tajawal"/>
              </a:rPr>
              <a:t>الاتساق: هل التنسيق موحّد؟</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800" b="0" lang="ar-JO">
                <a:solidFill>
                  <a:srgbClr val="333333"/>
                </a:solidFill>
                <a:cs typeface="Tajawal"/>
                <a:latin typeface="Tajawal"/>
                <a:ea typeface="Tajawal"/>
              </a:rPr>
              <a:t>التوقيت: هل البيانات مُحدّثة؟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أبعاد جودة البيانات الأربعة</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عقلية البيانات: التعلم والتواصل باستخدام البيانات الوحدة الثالثة - المهارات الرقمية</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أبعاد جودة البيانات الأربعة</a:t>
            </a:r>
          </a:p>
        </p:txBody>
      </p:sp>
      <p:sp>
        <p:nvSpPr>
          <p:cNvPr id="6" name="txt_instruction"/>
          <p:cNvSpPr txBox="1"/>
          <p:nvPr/>
        </p:nvSpPr>
        <p:spPr>
          <a:xfrm>
            <a:off x="900000" y="1620000"/>
            <a:ext cx="10440000" cy="5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Medium"/>
                <a:latin typeface="Tajawal Medium"/>
                <a:ea typeface="Tajawal Medium"/>
              </a:rPr>
              <a:t>انقر على كل بُعد للتعرف عليه مع مثال توضيحي</a:t>
            </a:r>
          </a:p>
        </p:txBody>
      </p:sp>
      <p:sp>
        <p:nvSpPr>
          <p:cNvPr id="7" name="btn_reveal_1"/>
          <p:cNvSpPr/>
          <p:nvPr/>
        </p:nvSpPr>
        <p:spPr>
          <a:xfrm>
            <a:off x="900000" y="2520000"/>
            <a:ext cx="2430000" cy="900000"/>
          </a:xfrm>
          <a:prstGeom prst="roundRect">
            <a:avLst>
              <a:gd name="adj" fmla="val 8000"/>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الدقة</a:t>
            </a:r>
          </a:p>
        </p:txBody>
      </p:sp>
      <p:sp>
        <p:nvSpPr>
          <p:cNvPr id="8" name="btn_reveal_2"/>
          <p:cNvSpPr/>
          <p:nvPr/>
        </p:nvSpPr>
        <p:spPr>
          <a:xfrm>
            <a:off x="3510000" y="2520000"/>
            <a:ext cx="2430000" cy="900000"/>
          </a:xfrm>
          <a:prstGeom prst="roundRect">
            <a:avLst>
              <a:gd name="adj" fmla="val 8000"/>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الاكتمال</a:t>
            </a:r>
          </a:p>
        </p:txBody>
      </p:sp>
      <p:sp>
        <p:nvSpPr>
          <p:cNvPr id="9" name="btn_reveal_3"/>
          <p:cNvSpPr/>
          <p:nvPr/>
        </p:nvSpPr>
        <p:spPr>
          <a:xfrm>
            <a:off x="6120000" y="2520000"/>
            <a:ext cx="2430000" cy="900000"/>
          </a:xfrm>
          <a:prstGeom prst="roundRect">
            <a:avLst>
              <a:gd name="adj" fmla="val 8000"/>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الاتساق</a:t>
            </a:r>
          </a:p>
        </p:txBody>
      </p:sp>
      <p:sp>
        <p:nvSpPr>
          <p:cNvPr id="10" name="btn_reveal_4"/>
          <p:cNvSpPr/>
          <p:nvPr/>
        </p:nvSpPr>
        <p:spPr>
          <a:xfrm>
            <a:off x="8730000" y="2520000"/>
            <a:ext cx="2430000" cy="900000"/>
          </a:xfrm>
          <a:prstGeom prst="roundRect">
            <a:avLst>
              <a:gd name="adj" fmla="val 8000"/>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التوقيت</a:t>
            </a:r>
          </a:p>
        </p:txBody>
      </p:sp>
      <p:sp>
        <p:nvSpPr>
          <p:cNvPr id="11" name="bg_reveal_desc"/>
          <p:cNvSpPr/>
          <p:nvPr/>
        </p:nvSpPr>
        <p:spPr>
          <a:xfrm>
            <a:off x="900000" y="3780000"/>
            <a:ext cx="10260000" cy="1800000"/>
          </a:xfrm>
          <a:prstGeom prst="roundRect">
            <a:avLst/>
          </a:prstGeom>
          <a:solidFill>
            <a:srgbClr val="E3F2FD"/>
          </a:solidFill>
          <a:ln>
            <a:solidFill>
              <a:srgbClr val="2D5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ccent_desc_bar"/>
          <p:cNvSpPr/>
          <p:nvPr/>
        </p:nvSpPr>
        <p:spPr>
          <a:xfrm>
            <a:off x="10980000" y="3780000"/>
            <a:ext cx="144000" cy="1800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t_reveal_desc"/>
          <p:cNvSpPr txBox="1"/>
          <p:nvPr/>
        </p:nvSpPr>
        <p:spPr>
          <a:xfrm>
            <a:off x="1080000" y="3960000"/>
            <a:ext cx="9900000" cy="14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هل البيانات صحيحة؟ مثال: إذا تم تسجيل درجة الطالب على أنها 95 بدلاً من 59، فإن القرارات ستكون خاطئة. الدقة هي أساس الثقة بالبيانات.</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نشاط: سحب وإفلات</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عقلية البيانات: التعلم والتواصل باستخدام البيانات الوحدة الثالثة - المهارات الرقمية</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نشاط تفاعلي: سحب وترتيب</a:t>
            </a:r>
          </a:p>
        </p:txBody>
      </p:sp>
      <p:sp>
        <p:nvSpPr>
          <p:cNvPr id="6" name="txt_question"/>
          <p:cNvSpPr txBox="1"/>
          <p:nvPr/>
        </p:nvSpPr>
        <p:spPr>
          <a:xfrm>
            <a:off x="900000" y="1800000"/>
            <a:ext cx="10440000" cy="720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ExtraBold"/>
                <a:latin typeface="Tajawal ExtraBold"/>
                <a:ea typeface="Tajawal ExtraBold"/>
              </a:rPr>
              <a:t>طابق المثال مع بُعد الجودة المناسب</a:t>
            </a:r>
          </a:p>
        </p:txBody>
      </p:sp>
      <p:sp>
        <p:nvSpPr>
          <p:cNvPr id="7" name="txt_instruction"/>
          <p:cNvSpPr txBox="1"/>
          <p:nvPr/>
        </p:nvSpPr>
        <p:spPr>
          <a:xfrm>
            <a:off x="900000" y="2520000"/>
            <a:ext cx="10440000" cy="432000"/>
          </a:xfrm>
          <a:prstGeom prst="rect">
            <a:avLst/>
          </a:prstGeom>
          <a:noFill/>
        </p:spPr>
        <p:txBody>
          <a:bodyPr wrap="square" lIns="90000" rIns="90000" tIns="46800" bIns="46800">
            <a:noAutofit/>
          </a:bodyPr>
          <a:lstStyle/>
          <a:p>
            <a:pPr algn="r" rtl="1">
              <a:lnSpc>
                <a:spcPct val="130000"/>
              </a:lnSpc>
            </a:pPr>
            <a:r>
              <a:rPr sz="1800" b="0" lang="ar-JO">
                <a:solidFill>
                  <a:srgbClr val="156082"/>
                </a:solidFill>
                <a:cs typeface="Tajawal Medium"/>
                <a:latin typeface="Tajawal Medium"/>
                <a:ea typeface="Tajawal Medium"/>
              </a:rPr>
              <a:t>اسحب العناصر التالية إلى الترتيب الصحيح</a:t>
            </a:r>
          </a:p>
        </p:txBody>
      </p:sp>
      <p:sp>
        <p:nvSpPr>
          <p:cNvPr id="8" name="drag_item_1"/>
          <p:cNvSpPr/>
          <p:nvPr/>
        </p:nvSpPr>
        <p:spPr>
          <a:xfrm>
            <a:off x="900000" y="3060000"/>
            <a:ext cx="4320000" cy="720000"/>
          </a:xfrm>
          <a:prstGeom prst="roundRect">
            <a:avLst/>
          </a:prstGeom>
          <a:solidFill>
            <a:srgbClr val="F5F7FA"/>
          </a:solidFill>
          <a:ln w="19050">
            <a:solidFill>
              <a:srgbClr val="2D588C"/>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2000" b="0" lang="ar-JO">
                <a:solidFill>
                  <a:srgbClr val="333333"/>
                </a:solidFill>
                <a:cs typeface="Tajawal"/>
                <a:latin typeface="Tajawal"/>
                <a:ea typeface="Tajawal"/>
              </a:rPr>
              <a:t>تسجيل درجة 95 بدلاً من 59</a:t>
            </a:r>
          </a:p>
        </p:txBody>
      </p:sp>
      <p:sp>
        <p:nvSpPr>
          <p:cNvPr id="9" name="icon_grip_1"/>
          <p:cNvSpPr txBox="1"/>
          <p:nvPr/>
        </p:nvSpPr>
        <p:spPr>
          <a:xfrm>
            <a:off x="972000" y="3132000"/>
            <a:ext cx="360000" cy="360000"/>
          </a:xfrm>
          <a:prstGeom prst="rect">
            <a:avLst/>
          </a:prstGeom>
          <a:noFill/>
        </p:spPr>
        <p:txBody>
          <a:bodyPr wrap="none" lIns="90000" rIns="90000" tIns="46800" bIns="46800">
            <a:spAutoFit/>
          </a:bodyPr>
          <a:lstStyle/>
          <a:p>
            <a:pPr algn="l" rtl="1"/>
            <a:r>
              <a:rPr sz="1400" b="0" lang="ar-JO">
                <a:solidFill>
                  <a:srgbClr val="6B6B6B"/>
                </a:solidFill>
                <a:cs typeface="Tajawal"/>
                <a:latin typeface="Tajawal"/>
                <a:ea typeface="Tajawal"/>
              </a:rPr>
              <a:t>☰</a:t>
            </a:r>
          </a:p>
        </p:txBody>
      </p:sp>
      <p:sp>
        <p:nvSpPr>
          <p:cNvPr id="10" name="drag_item_2"/>
          <p:cNvSpPr/>
          <p:nvPr/>
        </p:nvSpPr>
        <p:spPr>
          <a:xfrm>
            <a:off x="900000" y="3900000"/>
            <a:ext cx="4320000" cy="720000"/>
          </a:xfrm>
          <a:prstGeom prst="roundRect">
            <a:avLst/>
          </a:prstGeom>
          <a:solidFill>
            <a:srgbClr val="F5F7FA"/>
          </a:solidFill>
          <a:ln w="19050">
            <a:solidFill>
              <a:srgbClr val="2D588C"/>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2000" b="0" lang="ar-JO">
                <a:solidFill>
                  <a:srgbClr val="333333"/>
                </a:solidFill>
                <a:cs typeface="Tajawal"/>
                <a:latin typeface="Tajawal"/>
                <a:ea typeface="Tajawal"/>
              </a:rPr>
              <a:t>غياب بيانات حضور بعض الطلاب</a:t>
            </a:r>
          </a:p>
        </p:txBody>
      </p:sp>
      <p:sp>
        <p:nvSpPr>
          <p:cNvPr id="11" name="icon_grip_2"/>
          <p:cNvSpPr txBox="1"/>
          <p:nvPr/>
        </p:nvSpPr>
        <p:spPr>
          <a:xfrm>
            <a:off x="972000" y="3972000"/>
            <a:ext cx="360000" cy="360000"/>
          </a:xfrm>
          <a:prstGeom prst="rect">
            <a:avLst/>
          </a:prstGeom>
          <a:noFill/>
        </p:spPr>
        <p:txBody>
          <a:bodyPr wrap="none" lIns="90000" rIns="90000" tIns="46800" bIns="46800">
            <a:spAutoFit/>
          </a:bodyPr>
          <a:lstStyle/>
          <a:p>
            <a:pPr algn="l" rtl="1"/>
            <a:r>
              <a:rPr sz="1400" b="0" lang="ar-JO">
                <a:solidFill>
                  <a:srgbClr val="6B6B6B"/>
                </a:solidFill>
                <a:cs typeface="Tajawal"/>
                <a:latin typeface="Tajawal"/>
                <a:ea typeface="Tajawal"/>
              </a:rPr>
              <a:t>☰</a:t>
            </a:r>
          </a:p>
        </p:txBody>
      </p:sp>
      <p:sp>
        <p:nvSpPr>
          <p:cNvPr id="12" name="drag_item_3"/>
          <p:cNvSpPr/>
          <p:nvPr/>
        </p:nvSpPr>
        <p:spPr>
          <a:xfrm>
            <a:off x="900000" y="4740000"/>
            <a:ext cx="4320000" cy="720000"/>
          </a:xfrm>
          <a:prstGeom prst="roundRect">
            <a:avLst/>
          </a:prstGeom>
          <a:solidFill>
            <a:srgbClr val="F5F7FA"/>
          </a:solidFill>
          <a:ln w="19050">
            <a:solidFill>
              <a:srgbClr val="2D588C"/>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2000" b="0" lang="ar-JO">
                <a:solidFill>
                  <a:srgbClr val="333333"/>
                </a:solidFill>
                <a:cs typeface="Tajawal"/>
                <a:latin typeface="Tajawal"/>
                <a:ea typeface="Tajawal"/>
              </a:rPr>
              <a:t>كتابة التاريخ بصيغتين مختلفتين</a:t>
            </a:r>
          </a:p>
        </p:txBody>
      </p:sp>
      <p:sp>
        <p:nvSpPr>
          <p:cNvPr id="13" name="icon_grip_3"/>
          <p:cNvSpPr txBox="1"/>
          <p:nvPr/>
        </p:nvSpPr>
        <p:spPr>
          <a:xfrm>
            <a:off x="972000" y="4812000"/>
            <a:ext cx="360000" cy="360000"/>
          </a:xfrm>
          <a:prstGeom prst="rect">
            <a:avLst/>
          </a:prstGeom>
          <a:noFill/>
        </p:spPr>
        <p:txBody>
          <a:bodyPr wrap="none" lIns="90000" rIns="90000" tIns="46800" bIns="46800">
            <a:spAutoFit/>
          </a:bodyPr>
          <a:lstStyle/>
          <a:p>
            <a:pPr algn="l" rtl="1"/>
            <a:r>
              <a:rPr sz="1400" b="0" lang="ar-JO">
                <a:solidFill>
                  <a:srgbClr val="6B6B6B"/>
                </a:solidFill>
                <a:cs typeface="Tajawal"/>
                <a:latin typeface="Tajawal"/>
                <a:ea typeface="Tajawal"/>
              </a:rPr>
              <a:t>☰</a:t>
            </a:r>
          </a:p>
        </p:txBody>
      </p:sp>
      <p:sp>
        <p:nvSpPr>
          <p:cNvPr id="14" name="drag_item_4"/>
          <p:cNvSpPr/>
          <p:nvPr/>
        </p:nvSpPr>
        <p:spPr>
          <a:xfrm>
            <a:off x="900000" y="5580000"/>
            <a:ext cx="4320000" cy="720000"/>
          </a:xfrm>
          <a:prstGeom prst="roundRect">
            <a:avLst/>
          </a:prstGeom>
          <a:solidFill>
            <a:srgbClr val="F5F7FA"/>
          </a:solidFill>
          <a:ln w="19050">
            <a:solidFill>
              <a:srgbClr val="2D588C"/>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2000" b="0" lang="ar-JO">
                <a:solidFill>
                  <a:srgbClr val="333333"/>
                </a:solidFill>
                <a:cs typeface="Tajawal"/>
                <a:latin typeface="Tajawal"/>
                <a:ea typeface="Tajawal"/>
              </a:rPr>
              <a:t>استخدام بيانات مبيعات قديمة</a:t>
            </a:r>
          </a:p>
        </p:txBody>
      </p:sp>
      <p:sp>
        <p:nvSpPr>
          <p:cNvPr id="15" name="icon_grip_4"/>
          <p:cNvSpPr txBox="1"/>
          <p:nvPr/>
        </p:nvSpPr>
        <p:spPr>
          <a:xfrm>
            <a:off x="972000" y="5652000"/>
            <a:ext cx="360000" cy="360000"/>
          </a:xfrm>
          <a:prstGeom prst="rect">
            <a:avLst/>
          </a:prstGeom>
          <a:noFill/>
        </p:spPr>
        <p:txBody>
          <a:bodyPr wrap="none" lIns="90000" rIns="90000" tIns="46800" bIns="46800">
            <a:spAutoFit/>
          </a:bodyPr>
          <a:lstStyle/>
          <a:p>
            <a:pPr algn="l" rtl="1"/>
            <a:r>
              <a:rPr sz="1400" b="0" lang="ar-JO">
                <a:solidFill>
                  <a:srgbClr val="6B6B6B"/>
                </a:solidFill>
                <a:cs typeface="Tajawal"/>
                <a:latin typeface="Tajawal"/>
                <a:ea typeface="Tajawal"/>
              </a:rPr>
              <a:t>☰</a:t>
            </a:r>
          </a:p>
        </p:txBody>
      </p:sp>
      <p:sp>
        <p:nvSpPr>
          <p:cNvPr id="16" name="drop_zone_1"/>
          <p:cNvSpPr/>
          <p:nvPr/>
        </p:nvSpPr>
        <p:spPr>
          <a:xfrm>
            <a:off x="6480000" y="3060000"/>
            <a:ext cx="4320000" cy="720000"/>
          </a:xfrm>
          <a:prstGeom prst="roundRect">
            <a:avLst/>
          </a:prstGeom>
          <a:solidFill>
            <a:srgbClr val="FAFBFC"/>
          </a:solidFill>
          <a:ln w="19050">
            <a:solidFill>
              <a:srgbClr val="E0E5EC"/>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400" b="0" lang="ar-JO">
                <a:solidFill>
                  <a:srgbClr val="6B6B6B"/>
                </a:solidFill>
                <a:cs typeface="Tajawal"/>
                <a:latin typeface="Tajawal"/>
                <a:ea typeface="Tajawal"/>
              </a:rPr>
              <a:t>اسحب هنا</a:t>
            </a:r>
          </a:p>
        </p:txBody>
      </p:sp>
      <p:sp>
        <p:nvSpPr>
          <p:cNvPr id="17" name="Oval 16"/>
          <p:cNvSpPr/>
          <p:nvPr/>
        </p:nvSpPr>
        <p:spPr>
          <a:xfrm>
            <a:off x="10152000" y="315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1</a:t>
            </a:r>
          </a:p>
        </p:txBody>
      </p:sp>
      <p:sp>
        <p:nvSpPr>
          <p:cNvPr id="18" name="drop_zone_2"/>
          <p:cNvSpPr/>
          <p:nvPr/>
        </p:nvSpPr>
        <p:spPr>
          <a:xfrm>
            <a:off x="6480000" y="3900000"/>
            <a:ext cx="4320000" cy="720000"/>
          </a:xfrm>
          <a:prstGeom prst="roundRect">
            <a:avLst/>
          </a:prstGeom>
          <a:solidFill>
            <a:srgbClr val="FAFBFC"/>
          </a:solidFill>
          <a:ln w="19050">
            <a:solidFill>
              <a:srgbClr val="E0E5EC"/>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400" b="0" lang="ar-JO">
                <a:solidFill>
                  <a:srgbClr val="6B6B6B"/>
                </a:solidFill>
                <a:cs typeface="Tajawal"/>
                <a:latin typeface="Tajawal"/>
                <a:ea typeface="Tajawal"/>
              </a:rPr>
              <a:t>اسحب هنا</a:t>
            </a:r>
          </a:p>
        </p:txBody>
      </p:sp>
      <p:sp>
        <p:nvSpPr>
          <p:cNvPr id="19" name="Oval 18"/>
          <p:cNvSpPr/>
          <p:nvPr/>
        </p:nvSpPr>
        <p:spPr>
          <a:xfrm>
            <a:off x="10152000" y="399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2</a:t>
            </a:r>
          </a:p>
        </p:txBody>
      </p:sp>
      <p:sp>
        <p:nvSpPr>
          <p:cNvPr id="20" name="drop_zone_3"/>
          <p:cNvSpPr/>
          <p:nvPr/>
        </p:nvSpPr>
        <p:spPr>
          <a:xfrm>
            <a:off x="6480000" y="4740000"/>
            <a:ext cx="4320000" cy="720000"/>
          </a:xfrm>
          <a:prstGeom prst="roundRect">
            <a:avLst/>
          </a:prstGeom>
          <a:solidFill>
            <a:srgbClr val="FAFBFC"/>
          </a:solidFill>
          <a:ln w="19050">
            <a:solidFill>
              <a:srgbClr val="E0E5EC"/>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400" b="0" lang="ar-JO">
                <a:solidFill>
                  <a:srgbClr val="6B6B6B"/>
                </a:solidFill>
                <a:cs typeface="Tajawal"/>
                <a:latin typeface="Tajawal"/>
                <a:ea typeface="Tajawal"/>
              </a:rPr>
              <a:t>اسحب هنا</a:t>
            </a:r>
          </a:p>
        </p:txBody>
      </p:sp>
      <p:sp>
        <p:nvSpPr>
          <p:cNvPr id="21" name="Oval 20"/>
          <p:cNvSpPr/>
          <p:nvPr/>
        </p:nvSpPr>
        <p:spPr>
          <a:xfrm>
            <a:off x="10152000" y="483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3</a:t>
            </a:r>
          </a:p>
        </p:txBody>
      </p:sp>
      <p:sp>
        <p:nvSpPr>
          <p:cNvPr id="22" name="drop_zone_4"/>
          <p:cNvSpPr/>
          <p:nvPr/>
        </p:nvSpPr>
        <p:spPr>
          <a:xfrm>
            <a:off x="6480000" y="5580000"/>
            <a:ext cx="4320000" cy="720000"/>
          </a:xfrm>
          <a:prstGeom prst="roundRect">
            <a:avLst/>
          </a:prstGeom>
          <a:solidFill>
            <a:srgbClr val="FAFBFC"/>
          </a:solidFill>
          <a:ln w="19050">
            <a:solidFill>
              <a:srgbClr val="E0E5EC"/>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400" b="0" lang="ar-JO">
                <a:solidFill>
                  <a:srgbClr val="6B6B6B"/>
                </a:solidFill>
                <a:cs typeface="Tajawal"/>
                <a:latin typeface="Tajawal"/>
                <a:ea typeface="Tajawal"/>
              </a:rPr>
              <a:t>اسحب هنا</a:t>
            </a:r>
          </a:p>
        </p:txBody>
      </p:sp>
      <p:sp>
        <p:nvSpPr>
          <p:cNvPr id="23" name="Oval 22"/>
          <p:cNvSpPr/>
          <p:nvPr/>
        </p:nvSpPr>
        <p:spPr>
          <a:xfrm>
            <a:off x="10152000" y="567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القسم الثالث: التواصل والتطبيقات</a:t>
            </a:r>
          </a:p>
        </p:txBody>
      </p:sp>
      <p:sp>
        <p:nvSpPr>
          <p:cNvPr id="3" name="bg_divider"/>
          <p:cNvSpPr/>
          <p:nvPr/>
        </p:nvSpPr>
        <p:spPr>
          <a:xfrm>
            <a:off x="720000" y="720000"/>
            <a:ext cx="10752000" cy="5418000"/>
          </a:xfrm>
          <a:prstGeom prst="round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_divider_depth"/>
          <p:cNvSpPr/>
          <p:nvPr/>
        </p:nvSpPr>
        <p:spPr>
          <a:xfrm>
            <a:off x="720000" y="5418000"/>
            <a:ext cx="10752000" cy="720000"/>
          </a:xfrm>
          <a:prstGeom prst="rect">
            <a:avLst/>
          </a:prstGeom>
          <a:solidFill>
            <a:srgbClr val="1E3D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ccent_right_bar"/>
          <p:cNvSpPr/>
          <p:nvPr/>
        </p:nvSpPr>
        <p:spPr>
          <a:xfrm>
            <a:off x="11292000" y="720000"/>
            <a:ext cx="108000" cy="54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img_section_bg" descr="img_20260212_133641.png"/>
          <p:cNvPicPr>
            <a:picLocks noChangeAspect="1"/>
          </p:cNvPicPr>
          <p:nvPr/>
        </p:nvPicPr>
        <p:blipFill>
          <a:blip r:embed="rId2"/>
          <a:stretch>
            <a:fillRect/>
          </a:stretch>
        </p:blipFill>
        <p:spPr>
          <a:xfrm>
            <a:off x="1080000" y="1734545"/>
            <a:ext cx="2880000" cy="1570909"/>
          </a:xfrm>
          <a:prstGeom prst="rect">
            <a:avLst/>
          </a:prstGeom>
        </p:spPr>
      </p:pic>
      <p:sp>
        <p:nvSpPr>
          <p:cNvPr id="7" name="deco_corner_tr_h"/>
          <p:cNvSpPr/>
          <p:nvPr/>
        </p:nvSpPr>
        <p:spPr>
          <a:xfrm>
            <a:off x="9672000" y="900000"/>
            <a:ext cx="14400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eco_corner_tr_v"/>
          <p:cNvSpPr/>
          <p:nvPr/>
        </p:nvSpPr>
        <p:spPr>
          <a:xfrm>
            <a:off x="11112000" y="900000"/>
            <a:ext cx="25400" cy="1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eco_corner_tr_dot"/>
          <p:cNvSpPr/>
          <p:nvPr/>
        </p:nvSpPr>
        <p:spPr>
          <a:xfrm>
            <a:off x="11040000" y="828000"/>
            <a:ext cx="144000" cy="144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_corner_bl_h"/>
          <p:cNvSpPr/>
          <p:nvPr/>
        </p:nvSpPr>
        <p:spPr>
          <a:xfrm>
            <a:off x="1080000" y="5958000"/>
            <a:ext cx="14400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co_corner_bl_v"/>
          <p:cNvSpPr/>
          <p:nvPr/>
        </p:nvSpPr>
        <p:spPr>
          <a:xfrm>
            <a:off x="1080000" y="4518000"/>
            <a:ext cx="25400" cy="1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co_corner_bl_dot"/>
          <p:cNvSpPr/>
          <p:nvPr/>
        </p:nvSpPr>
        <p:spPr>
          <a:xfrm>
            <a:off x="1008000" y="5886000"/>
            <a:ext cx="144000" cy="144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t_section_title"/>
          <p:cNvSpPr txBox="1"/>
          <p:nvPr/>
        </p:nvSpPr>
        <p:spPr>
          <a:xfrm>
            <a:off x="1440000" y="1800000"/>
            <a:ext cx="9360000" cy="1260000"/>
          </a:xfrm>
          <a:prstGeom prst="rect">
            <a:avLst/>
          </a:prstGeom>
          <a:noFill/>
        </p:spPr>
        <p:txBody>
          <a:bodyPr wrap="square" lIns="90000" rIns="90000" tIns="46800" bIns="46800" anchor="ctr">
            <a:spAutoFit/>
          </a:bodyPr>
          <a:lstStyle/>
          <a:p>
            <a:pPr algn="ctr" rtl="1">
              <a:lnSpc>
                <a:spcPct val="130000"/>
              </a:lnSpc>
            </a:pPr>
            <a:r>
              <a:rPr sz="4000" b="0" lang="ar-JO">
                <a:solidFill>
                  <a:srgbClr val="FFFFFF"/>
                </a:solidFill>
                <a:cs typeface="Tajawal ExtraBold"/>
                <a:latin typeface="Tajawal ExtraBold"/>
                <a:ea typeface="Tajawal ExtraBold"/>
              </a:rPr>
              <a:t>القسم الثالث: التواصل والتطبيقات</a:t>
            </a:r>
          </a:p>
        </p:txBody>
      </p:sp>
      <p:sp>
        <p:nvSpPr>
          <p:cNvPr id="14" name="divider_line"/>
          <p:cNvSpPr/>
          <p:nvPr/>
        </p:nvSpPr>
        <p:spPr>
          <a:xfrm>
            <a:off x="3240000" y="3131999"/>
            <a:ext cx="5400000" cy="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xt_section_subtitle"/>
          <p:cNvSpPr txBox="1"/>
          <p:nvPr/>
        </p:nvSpPr>
        <p:spPr>
          <a:xfrm>
            <a:off x="1440000" y="3348000"/>
            <a:ext cx="9360000" cy="900000"/>
          </a:xfrm>
          <a:prstGeom prst="rect">
            <a:avLst/>
          </a:prstGeom>
          <a:noFill/>
        </p:spPr>
        <p:txBody>
          <a:bodyPr wrap="square" lIns="90000" rIns="90000" tIns="46800" bIns="46800">
            <a:spAutoFit/>
          </a:bodyPr>
          <a:lstStyle/>
          <a:p>
            <a:pPr algn="ctr" rtl="1">
              <a:lnSpc>
                <a:spcPct val="130000"/>
              </a:lnSpc>
            </a:pPr>
            <a:r>
              <a:rPr sz="2400" b="0" lang="ar-JO">
                <a:solidFill>
                  <a:srgbClr val="FFFFFF"/>
                </a:solidFill>
                <a:cs typeface="Tajawal Medium"/>
                <a:latin typeface="Tajawal Medium"/>
                <a:ea typeface="Tajawal Medium"/>
              </a:rPr>
              <a:t>كيف نجعل البيانات مفهومة؟</a:t>
            </a:r>
          </a:p>
        </p:txBody>
      </p:sp>
      <p:sp>
        <p:nvSpPr>
          <p:cNvPr id="16" name="dot_section_1"/>
          <p:cNvSpPr/>
          <p:nvPr/>
        </p:nvSpPr>
        <p:spPr>
          <a:xfrm>
            <a:off x="5412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_section_2"/>
          <p:cNvSpPr/>
          <p:nvPr/>
        </p:nvSpPr>
        <p:spPr>
          <a:xfrm>
            <a:off x="5988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_section_3"/>
          <p:cNvSpPr/>
          <p:nvPr/>
        </p:nvSpPr>
        <p:spPr>
          <a:xfrm>
            <a:off x="6528000" y="5742000"/>
            <a:ext cx="288000" cy="288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التواصل باستخدام البيانات</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عقلية البيانات: التعلم والتواصل باستخدام البيانات الوحدة الثالثة - المهارات الرقمية</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التواصل باستخدام البيانات</a:t>
            </a:r>
          </a:p>
        </p:txBody>
      </p:sp>
      <p:sp>
        <p:nvSpPr>
          <p:cNvPr id="6" name="bg_col1_card"/>
          <p:cNvSpPr/>
          <p:nvPr/>
        </p:nvSpPr>
        <p:spPr>
          <a:xfrm>
            <a:off x="6012000" y="1692000"/>
            <a:ext cx="5076000" cy="3816000"/>
          </a:xfrm>
          <a:prstGeom prst="roundRect">
            <a:avLst>
              <a:gd name="adj" fmla="val 4000"/>
            </a:avLst>
          </a:prstGeom>
          <a:solidFill>
            <a:srgbClr val="FFFFFF"/>
          </a:solidFill>
          <a:ln w="12700">
            <a:solidFill>
              <a:srgbClr val="E0E5EC"/>
            </a:solidFill>
          </a:ln>
          <a:effectLst>
            <a:outerShdw blurRad="508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t_col1_title"/>
          <p:cNvSpPr txBox="1"/>
          <p:nvPr/>
        </p:nvSpPr>
        <p:spPr>
          <a:xfrm>
            <a:off x="6120000" y="1800000"/>
            <a:ext cx="4860000" cy="540000"/>
          </a:xfrm>
          <a:prstGeom prst="rect">
            <a:avLst/>
          </a:prstGeom>
          <a:noFill/>
        </p:spPr>
        <p:txBody>
          <a:bodyPr wrap="square" lIns="90000" rIns="90000" tIns="46800" bIns="46800">
            <a:spAutoFit/>
          </a:bodyPr>
          <a:lstStyle/>
          <a:p>
            <a:pPr algn="ctr" rtl="1">
              <a:lnSpc>
                <a:spcPct val="130000"/>
              </a:lnSpc>
            </a:pPr>
            <a:r>
              <a:rPr sz="2000" b="0" lang="ar-JO">
                <a:solidFill>
                  <a:srgbClr val="2D588C"/>
                </a:solidFill>
                <a:cs typeface="Tajawal ExtraBold"/>
                <a:latin typeface="Tajawal ExtraBold"/>
                <a:ea typeface="Tajawal ExtraBold"/>
              </a:rPr>
              <a:t>أدوات التواصل</a:t>
            </a:r>
          </a:p>
        </p:txBody>
      </p:sp>
      <p:sp>
        <p:nvSpPr>
          <p:cNvPr id="8" name="Rectangle 7"/>
          <p:cNvSpPr/>
          <p:nvPr/>
        </p:nvSpPr>
        <p:spPr>
          <a:xfrm>
            <a:off x="6840000" y="2340000"/>
            <a:ext cx="3420000" cy="54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xt_col1_body"/>
          <p:cNvSpPr txBox="1"/>
          <p:nvPr/>
        </p:nvSpPr>
        <p:spPr>
          <a:xfrm>
            <a:off x="6120000" y="2520000"/>
            <a:ext cx="4860000" cy="2880000"/>
          </a:xfrm>
          <a:prstGeom prst="rect">
            <a:avLst/>
          </a:prstGeom>
          <a:noFill/>
        </p:spPr>
        <p:txBody>
          <a:bodyPr wrap="square" lIns="90000" rIns="90000" tIns="46800" bIns="46800">
            <a:noAutofit/>
          </a:bodyPr>
          <a:lstStyle/>
          <a:p>
            <a:pPr algn="r" rtl="1">
              <a:lnSpc>
                <a:spcPct val="140000"/>
              </a:lnSpc>
              <a:spcBef>
                <a:spcPts val="1000"/>
              </a:spcBef>
              <a:spcAft>
                <a:spcPts val="1000"/>
              </a:spcAft>
            </a:pPr>
            <a:r>
              <a:rPr sz="1600" b="0" lang="ar-JO">
                <a:solidFill>
                  <a:srgbClr val="2D588C"/>
                </a:solidFill>
                <a:cs typeface="Tajawal"/>
                <a:latin typeface="Tajawal"/>
                <a:ea typeface="Tajawal"/>
              </a:rPr>
              <a:t>● </a:t>
            </a:r>
            <a:r>
              <a:rPr sz="1800" b="0" lang="ar-JO">
                <a:solidFill>
                  <a:srgbClr val="333333"/>
                </a:solidFill>
                <a:cs typeface="Tajawal"/>
                <a:latin typeface="Tajawal"/>
                <a:ea typeface="Tajawal"/>
              </a:rPr>
              <a:t>الرسوم البيانية (Charts)</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800" b="0" lang="ar-JO">
                <a:solidFill>
                  <a:srgbClr val="333333"/>
                </a:solidFill>
                <a:cs typeface="Tajawal"/>
                <a:latin typeface="Tajawal"/>
                <a:ea typeface="Tajawal"/>
              </a:rPr>
              <a:t>المخططات (Diagrams)</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800" b="0" lang="ar-JO">
                <a:solidFill>
                  <a:srgbClr val="333333"/>
                </a:solidFill>
                <a:cs typeface="Tajawal"/>
                <a:latin typeface="Tajawal"/>
                <a:ea typeface="Tajawal"/>
              </a:rPr>
              <a:t>الإنفوجرافيك (Infographics)</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800" b="0" lang="ar-JO">
                <a:solidFill>
                  <a:srgbClr val="333333"/>
                </a:solidFill>
                <a:cs typeface="Tajawal"/>
                <a:latin typeface="Tajawal"/>
                <a:ea typeface="Tajawal"/>
              </a:rPr>
              <a:t>لوحات المعلومات (Dashboards)</a:t>
            </a:r>
          </a:p>
        </p:txBody>
      </p:sp>
      <p:sp>
        <p:nvSpPr>
          <p:cNvPr id="10" name="bg_col2_card"/>
          <p:cNvSpPr/>
          <p:nvPr/>
        </p:nvSpPr>
        <p:spPr>
          <a:xfrm>
            <a:off x="792000" y="1692000"/>
            <a:ext cx="5076000" cy="3816000"/>
          </a:xfrm>
          <a:prstGeom prst="roundRect">
            <a:avLst>
              <a:gd name="adj" fmla="val 4000"/>
            </a:avLst>
          </a:prstGeom>
          <a:solidFill>
            <a:srgbClr val="FFFFFF"/>
          </a:solidFill>
          <a:ln w="12700">
            <a:solidFill>
              <a:srgbClr val="E0E5EC"/>
            </a:solidFill>
          </a:ln>
          <a:effectLst>
            <a:outerShdw blurRad="508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xt_col2_title"/>
          <p:cNvSpPr txBox="1"/>
          <p:nvPr/>
        </p:nvSpPr>
        <p:spPr>
          <a:xfrm>
            <a:off x="900000" y="1800000"/>
            <a:ext cx="4860000" cy="540000"/>
          </a:xfrm>
          <a:prstGeom prst="rect">
            <a:avLst/>
          </a:prstGeom>
          <a:noFill/>
        </p:spPr>
        <p:txBody>
          <a:bodyPr wrap="square" lIns="90000" rIns="90000" tIns="46800" bIns="46800">
            <a:spAutoFit/>
          </a:bodyPr>
          <a:lstStyle/>
          <a:p>
            <a:pPr algn="ctr" rtl="1">
              <a:lnSpc>
                <a:spcPct val="130000"/>
              </a:lnSpc>
            </a:pPr>
            <a:r>
              <a:rPr sz="2000" b="0" lang="ar-JO">
                <a:solidFill>
                  <a:srgbClr val="156082"/>
                </a:solidFill>
                <a:cs typeface="Tajawal ExtraBold"/>
                <a:latin typeface="Tajawal ExtraBold"/>
                <a:ea typeface="Tajawal ExtraBold"/>
              </a:rPr>
              <a:t>تواصل جيد مقابل سيء</a:t>
            </a:r>
          </a:p>
        </p:txBody>
      </p:sp>
      <p:sp>
        <p:nvSpPr>
          <p:cNvPr id="12" name="Rectangle 11"/>
          <p:cNvSpPr/>
          <p:nvPr/>
        </p:nvSpPr>
        <p:spPr>
          <a:xfrm>
            <a:off x="1620000" y="2340000"/>
            <a:ext cx="3420000" cy="5400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t_col2_body"/>
          <p:cNvSpPr txBox="1"/>
          <p:nvPr/>
        </p:nvSpPr>
        <p:spPr>
          <a:xfrm>
            <a:off x="900000" y="2520000"/>
            <a:ext cx="4860000" cy="2880000"/>
          </a:xfrm>
          <a:prstGeom prst="rect">
            <a:avLst/>
          </a:prstGeom>
          <a:noFill/>
        </p:spPr>
        <p:txBody>
          <a:bodyPr wrap="square" lIns="90000" rIns="90000" tIns="46800" bIns="46800">
            <a:noAutofit/>
          </a:bodyPr>
          <a:lstStyle/>
          <a:p>
            <a:pPr algn="r" rtl="1">
              <a:lnSpc>
                <a:spcPct val="140000"/>
              </a:lnSpc>
              <a:spcBef>
                <a:spcPts val="1000"/>
              </a:spcBef>
              <a:spcAft>
                <a:spcPts val="1000"/>
              </a:spcAft>
            </a:pPr>
            <a:r>
              <a:rPr sz="1600" b="0" lang="ar-JO">
                <a:solidFill>
                  <a:srgbClr val="2D588C"/>
                </a:solidFill>
                <a:cs typeface="Tajawal"/>
                <a:latin typeface="Tajawal"/>
                <a:ea typeface="Tajawal"/>
              </a:rPr>
              <a:t>● </a:t>
            </a:r>
            <a:r>
              <a:rPr sz="1800" b="0" lang="ar-JO">
                <a:solidFill>
                  <a:srgbClr val="333333"/>
                </a:solidFill>
                <a:cs typeface="Tajawal"/>
                <a:latin typeface="Tajawal"/>
                <a:ea typeface="Tajawal"/>
              </a:rPr>
              <a:t>سيء: جداول كبيرة تحتوي على مئات الأرقام</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800" b="0" lang="ar-JO">
                <a:solidFill>
                  <a:srgbClr val="333333"/>
                </a:solidFill>
                <a:cs typeface="Tajawal"/>
                <a:latin typeface="Tajawal"/>
                <a:ea typeface="Tajawal"/>
              </a:rPr>
              <a:t>جيد: مخطط بسيط بالأعمدة يوضّح الاتجاه</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800" b="0" lang="ar-JO">
                <a:solidFill>
                  <a:srgbClr val="333333"/>
                </a:solidFill>
                <a:cs typeface="Tajawal"/>
                <a:latin typeface="Tajawal"/>
                <a:ea typeface="Tajawal"/>
              </a:rPr>
              <a:t>القاعدة: كلما كان العرض أبسط كان أوضح</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تطبيقات عملية: إنترنت الأشياء والجيل الخامس</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عقلية البيانات: التعلم والتواصل باستخدام البيانات الوحدة الثالثة - المهارات الرقمية</a:t>
            </a:r>
          </a:p>
        </p:txBody>
      </p:sp>
      <p:pic>
        <p:nvPicPr>
          <p:cNvPr id="4" name="header_banner" descr="banner_narrow.png"/>
          <p:cNvPicPr>
            <a:picLocks noChangeAspect="1"/>
          </p:cNvPicPr>
          <p:nvPr/>
        </p:nvPicPr>
        <p:blipFill>
          <a:blip r:embed="rId2"/>
          <a:stretch>
            <a:fillRect/>
          </a:stretch>
        </p:blipFill>
        <p:spPr>
          <a:xfrm>
            <a:off x="4790969" y="898751"/>
            <a:ext cx="2610062" cy="695099"/>
          </a:xfrm>
          <a:prstGeom prst="rect">
            <a:avLst/>
          </a:prstGeom>
        </p:spPr>
      </p:pic>
      <p:sp>
        <p:nvSpPr>
          <p:cNvPr id="5" name="header_banner_text"/>
          <p:cNvSpPr txBox="1"/>
          <p:nvPr/>
        </p:nvSpPr>
        <p:spPr>
          <a:xfrm>
            <a:off x="4947367" y="1035917"/>
            <a:ext cx="2297266"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تطبيقات عملية: إنترنت الأشياء والجيل الخامس</a:t>
            </a:r>
          </a:p>
        </p:txBody>
      </p:sp>
      <p:pic>
        <p:nvPicPr>
          <p:cNvPr id="6" name="img_content" descr="img_20260212_133706.png"/>
          <p:cNvPicPr>
            <a:picLocks noChangeAspect="1"/>
          </p:cNvPicPr>
          <p:nvPr/>
        </p:nvPicPr>
        <p:blipFill>
          <a:blip r:embed="rId3"/>
          <a:stretch>
            <a:fillRect/>
          </a:stretch>
        </p:blipFill>
        <p:spPr>
          <a:xfrm>
            <a:off x="900000" y="2716364"/>
            <a:ext cx="3240000" cy="1767272"/>
          </a:xfrm>
          <a:prstGeom prst="rect">
            <a:avLst/>
          </a:prstGeom>
        </p:spPr>
      </p:pic>
      <p:sp>
        <p:nvSpPr>
          <p:cNvPr id="7" name="bg_content_card"/>
          <p:cNvSpPr/>
          <p:nvPr/>
        </p:nvSpPr>
        <p:spPr>
          <a:xfrm>
            <a:off x="4500000" y="1692000"/>
            <a:ext cx="6840000" cy="4356000"/>
          </a:xfrm>
          <a:prstGeom prst="roundRect">
            <a:avLst>
              <a:gd name="adj" fmla="val 4000"/>
            </a:avLst>
          </a:prstGeom>
          <a:solidFill>
            <a:srgbClr val="F5F7FA"/>
          </a:solidFill>
          <a:ln w="12700">
            <a:solidFill>
              <a:srgbClr val="E0E5EC"/>
            </a:solidFill>
          </a:ln>
          <a:effectLst>
            <a:outerShdw blurRad="50800" dist="38100" dir="2700000" rotWithShape="0">
              <a:srgbClr val="000000">
                <a:alpha val="8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xt_body"/>
          <p:cNvSpPr txBox="1"/>
          <p:nvPr/>
        </p:nvSpPr>
        <p:spPr>
          <a:xfrm>
            <a:off x="4680000" y="1800000"/>
            <a:ext cx="6480000" cy="4140000"/>
          </a:xfrm>
          <a:prstGeom prst="rect">
            <a:avLst/>
          </a:prstGeom>
          <a:noFill/>
        </p:spPr>
        <p:txBody>
          <a:bodyPr wrap="square" lIns="90000" rIns="90000" tIns="46800" bIns="46800">
            <a:noAutofit/>
          </a:bodyPr>
          <a:lstStyle/>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إنترنت الأشياء (IoT) = الأجهزة اليومية المتصلة بالإنترنت</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أول مثال تاريخي: آلة بيع كوكاكولا في الثمانينات</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اليوم: الثلاجات الذكية، الساعات الذكية، المنازل الذكية</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الجيل الخامس (5G): سرعات أعلى ودعم المدن الذكية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الخصوصية والأخلاقيات</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عقلية البيانات: التعلم والتواصل باستخدام البيانات الوحدة الثالثة - المهارات الرقمية</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الخصوصية والأخلاقيات</a:t>
            </a:r>
          </a:p>
        </p:txBody>
      </p:sp>
      <p:sp>
        <p:nvSpPr>
          <p:cNvPr id="6" name="card_1"/>
          <p:cNvSpPr/>
          <p:nvPr/>
        </p:nvSpPr>
        <p:spPr>
          <a:xfrm>
            <a:off x="900000" y="1980000"/>
            <a:ext cx="1470000" cy="3240000"/>
          </a:xfrm>
          <a:prstGeom prst="roundRect">
            <a:avLst/>
          </a:prstGeom>
          <a:solidFill>
            <a:srgbClr val="FAFBFC"/>
          </a:solidFill>
          <a:ln w="25400">
            <a:solidFill>
              <a:srgbClr val="2D588C"/>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0000" y="1980000"/>
            <a:ext cx="1470000" cy="432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xt_card_1_title"/>
          <p:cNvSpPr txBox="1"/>
          <p:nvPr/>
        </p:nvSpPr>
        <p:spPr>
          <a:xfrm>
            <a:off x="1080000" y="2412000"/>
            <a:ext cx="1110000" cy="540000"/>
          </a:xfrm>
          <a:prstGeom prst="rect">
            <a:avLst/>
          </a:prstGeom>
          <a:noFill/>
        </p:spPr>
        <p:txBody>
          <a:bodyPr wrap="square" lIns="90000" rIns="90000" tIns="46800" bIns="46800">
            <a:spAutoFit/>
          </a:bodyPr>
          <a:lstStyle/>
          <a:p>
            <a:pPr algn="ctr" rtl="1">
              <a:lnSpc>
                <a:spcPct val="130000"/>
              </a:lnSpc>
            </a:pPr>
            <a:r>
              <a:rPr sz="2000" b="0" lang="ar-JO">
                <a:solidFill>
                  <a:srgbClr val="2D588C"/>
                </a:solidFill>
                <a:cs typeface="Tajawal ExtraBold"/>
                <a:latin typeface="Tajawal ExtraBold"/>
                <a:ea typeface="Tajawal ExtraBold"/>
              </a:rPr>
              <a:t>الإعلانات الموجّهة</a:t>
            </a:r>
          </a:p>
        </p:txBody>
      </p:sp>
      <p:sp>
        <p:nvSpPr>
          <p:cNvPr id="9" name="txt_card_1_body"/>
          <p:cNvSpPr txBox="1"/>
          <p:nvPr/>
        </p:nvSpPr>
        <p:spPr>
          <a:xfrm>
            <a:off x="1080000" y="3060000"/>
            <a:ext cx="1110000" cy="198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تتبع سلوكك على الإنترنت لعرض إعلانات مخصصة بناءً على بياناتك الشخصية</a:t>
            </a:r>
          </a:p>
        </p:txBody>
      </p:sp>
      <p:sp>
        <p:nvSpPr>
          <p:cNvPr id="10" name="card_2"/>
          <p:cNvSpPr/>
          <p:nvPr/>
        </p:nvSpPr>
        <p:spPr>
          <a:xfrm>
            <a:off x="2658000" y="1980000"/>
            <a:ext cx="1470000" cy="3240000"/>
          </a:xfrm>
          <a:prstGeom prst="roundRect">
            <a:avLst/>
          </a:prstGeom>
          <a:solidFill>
            <a:srgbClr val="FAFBFC"/>
          </a:solidFill>
          <a:ln w="25400">
            <a:solidFill>
              <a:srgbClr val="156082"/>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658000" y="1980000"/>
            <a:ext cx="1470000" cy="43200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xt_card_2_title"/>
          <p:cNvSpPr txBox="1"/>
          <p:nvPr/>
        </p:nvSpPr>
        <p:spPr>
          <a:xfrm>
            <a:off x="2838000" y="2412000"/>
            <a:ext cx="1110000" cy="540000"/>
          </a:xfrm>
          <a:prstGeom prst="rect">
            <a:avLst/>
          </a:prstGeom>
          <a:noFill/>
        </p:spPr>
        <p:txBody>
          <a:bodyPr wrap="square" lIns="90000" rIns="90000" tIns="46800" bIns="46800">
            <a:spAutoFit/>
          </a:bodyPr>
          <a:lstStyle/>
          <a:p>
            <a:pPr algn="ctr" rtl="1">
              <a:lnSpc>
                <a:spcPct val="130000"/>
              </a:lnSpc>
            </a:pPr>
            <a:r>
              <a:rPr sz="2000" b="0" lang="ar-JO">
                <a:solidFill>
                  <a:srgbClr val="156082"/>
                </a:solidFill>
                <a:cs typeface="Tajawal ExtraBold"/>
                <a:latin typeface="Tajawal ExtraBold"/>
                <a:ea typeface="Tajawal ExtraBold"/>
              </a:rPr>
              <a:t>المراقبة الشاملة</a:t>
            </a:r>
          </a:p>
        </p:txBody>
      </p:sp>
      <p:sp>
        <p:nvSpPr>
          <p:cNvPr id="13" name="txt_card_2_body"/>
          <p:cNvSpPr txBox="1"/>
          <p:nvPr/>
        </p:nvSpPr>
        <p:spPr>
          <a:xfrm>
            <a:off x="2838000" y="3060000"/>
            <a:ext cx="1110000" cy="198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استخدام الكاميرات والتقنيات لمراقبة الأفراد دون علمهم أو موافقتهم</a:t>
            </a:r>
          </a:p>
        </p:txBody>
      </p:sp>
      <p:sp>
        <p:nvSpPr>
          <p:cNvPr id="14" name="card_3"/>
          <p:cNvSpPr/>
          <p:nvPr/>
        </p:nvSpPr>
        <p:spPr>
          <a:xfrm>
            <a:off x="4416000" y="1980000"/>
            <a:ext cx="1470000" cy="3240000"/>
          </a:xfrm>
          <a:prstGeom prst="roundRect">
            <a:avLst/>
          </a:prstGeom>
          <a:solidFill>
            <a:srgbClr val="FAFBFC"/>
          </a:solidFill>
          <a:ln w="25400">
            <a:solidFill>
              <a:srgbClr val="009688"/>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6000" y="1980000"/>
            <a:ext cx="1470000" cy="432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xt_card_3_title"/>
          <p:cNvSpPr txBox="1"/>
          <p:nvPr/>
        </p:nvSpPr>
        <p:spPr>
          <a:xfrm>
            <a:off x="4596000" y="2412000"/>
            <a:ext cx="1110000" cy="540000"/>
          </a:xfrm>
          <a:prstGeom prst="rect">
            <a:avLst/>
          </a:prstGeom>
          <a:noFill/>
        </p:spPr>
        <p:txBody>
          <a:bodyPr wrap="square" lIns="90000" rIns="90000" tIns="46800" bIns="46800">
            <a:spAutoFit/>
          </a:bodyPr>
          <a:lstStyle/>
          <a:p>
            <a:pPr algn="ctr" rtl="1">
              <a:lnSpc>
                <a:spcPct val="130000"/>
              </a:lnSpc>
            </a:pPr>
            <a:r>
              <a:rPr sz="2000" b="0" lang="ar-JO">
                <a:solidFill>
                  <a:srgbClr val="009688"/>
                </a:solidFill>
                <a:cs typeface="Tajawal ExtraBold"/>
                <a:latin typeface="Tajawal ExtraBold"/>
                <a:ea typeface="Tajawal ExtraBold"/>
              </a:rPr>
              <a:t>خروقات البيانات</a:t>
            </a:r>
          </a:p>
        </p:txBody>
      </p:sp>
      <p:sp>
        <p:nvSpPr>
          <p:cNvPr id="17" name="txt_card_3_body"/>
          <p:cNvSpPr txBox="1"/>
          <p:nvPr/>
        </p:nvSpPr>
        <p:spPr>
          <a:xfrm>
            <a:off x="4596000" y="3060000"/>
            <a:ext cx="1110000" cy="198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تسريب بيانات المستخدمين من الشركات والمؤسسات بسبب ضعف الحماية</a:t>
            </a:r>
          </a:p>
        </p:txBody>
      </p:sp>
      <p:sp>
        <p:nvSpPr>
          <p:cNvPr id="18" name="card_4"/>
          <p:cNvSpPr/>
          <p:nvPr/>
        </p:nvSpPr>
        <p:spPr>
          <a:xfrm>
            <a:off x="6174000" y="1980000"/>
            <a:ext cx="1470000" cy="3240000"/>
          </a:xfrm>
          <a:prstGeom prst="roundRect">
            <a:avLst/>
          </a:prstGeom>
          <a:solidFill>
            <a:srgbClr val="FAFBFC"/>
          </a:solidFill>
          <a:ln w="25400">
            <a:solidFill>
              <a:srgbClr val="0E2841"/>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4000" y="1980000"/>
            <a:ext cx="1470000" cy="43200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xt_card_4_title"/>
          <p:cNvSpPr txBox="1"/>
          <p:nvPr/>
        </p:nvSpPr>
        <p:spPr>
          <a:xfrm>
            <a:off x="6354000" y="2412000"/>
            <a:ext cx="1110000" cy="540000"/>
          </a:xfrm>
          <a:prstGeom prst="rect">
            <a:avLst/>
          </a:prstGeom>
          <a:noFill/>
        </p:spPr>
        <p:txBody>
          <a:bodyPr wrap="square" lIns="90000" rIns="90000" tIns="46800" bIns="46800">
            <a:spAutoFit/>
          </a:bodyPr>
          <a:lstStyle/>
          <a:p>
            <a:pPr algn="ctr" rtl="1">
              <a:lnSpc>
                <a:spcPct val="130000"/>
              </a:lnSpc>
            </a:pPr>
            <a:r>
              <a:rPr sz="2000" b="0" lang="ar-JO">
                <a:solidFill>
                  <a:srgbClr val="0E2841"/>
                </a:solidFill>
                <a:cs typeface="Tajawal ExtraBold"/>
                <a:latin typeface="Tajawal ExtraBold"/>
                <a:ea typeface="Tajawal ExtraBold"/>
              </a:rPr>
              <a:t>رفع وعي المستخدمين</a:t>
            </a:r>
          </a:p>
        </p:txBody>
      </p:sp>
      <p:sp>
        <p:nvSpPr>
          <p:cNvPr id="21" name="txt_card_4_body"/>
          <p:cNvSpPr txBox="1"/>
          <p:nvPr/>
        </p:nvSpPr>
        <p:spPr>
          <a:xfrm>
            <a:off x="6354000" y="3060000"/>
            <a:ext cx="1110000" cy="198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ضبط إعدادات الخصوصية في التطبيقات والتحكم بالبيانات المشاركة</a:t>
            </a:r>
          </a:p>
        </p:txBody>
      </p:sp>
      <p:sp>
        <p:nvSpPr>
          <p:cNvPr id="22" name="card_5"/>
          <p:cNvSpPr/>
          <p:nvPr/>
        </p:nvSpPr>
        <p:spPr>
          <a:xfrm>
            <a:off x="7932000" y="1980000"/>
            <a:ext cx="1470000" cy="3240000"/>
          </a:xfrm>
          <a:prstGeom prst="roundRect">
            <a:avLst/>
          </a:prstGeom>
          <a:solidFill>
            <a:srgbClr val="FAFBFC"/>
          </a:solidFill>
          <a:ln w="25400">
            <a:solidFill>
              <a:srgbClr val="FF8F00"/>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32000" y="1980000"/>
            <a:ext cx="1470000" cy="432000"/>
          </a:xfrm>
          <a:prstGeom prst="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xt_card_5_title"/>
          <p:cNvSpPr txBox="1"/>
          <p:nvPr/>
        </p:nvSpPr>
        <p:spPr>
          <a:xfrm>
            <a:off x="8112000" y="2412000"/>
            <a:ext cx="1110000" cy="540000"/>
          </a:xfrm>
          <a:prstGeom prst="rect">
            <a:avLst/>
          </a:prstGeom>
          <a:noFill/>
        </p:spPr>
        <p:txBody>
          <a:bodyPr wrap="square" lIns="90000" rIns="90000" tIns="46800" bIns="46800">
            <a:spAutoFit/>
          </a:bodyPr>
          <a:lstStyle/>
          <a:p>
            <a:pPr algn="ctr" rtl="1">
              <a:lnSpc>
                <a:spcPct val="130000"/>
              </a:lnSpc>
            </a:pPr>
            <a:r>
              <a:rPr sz="2000" b="0" lang="ar-JO">
                <a:solidFill>
                  <a:srgbClr val="FF8F00"/>
                </a:solidFill>
                <a:cs typeface="Tajawal ExtraBold"/>
                <a:latin typeface="Tajawal ExtraBold"/>
                <a:ea typeface="Tajawal ExtraBold"/>
              </a:rPr>
              <a:t>قانون خصوصية المستهلك</a:t>
            </a:r>
          </a:p>
        </p:txBody>
      </p:sp>
      <p:sp>
        <p:nvSpPr>
          <p:cNvPr id="25" name="txt_card_5_body"/>
          <p:cNvSpPr txBox="1"/>
          <p:nvPr/>
        </p:nvSpPr>
        <p:spPr>
          <a:xfrm>
            <a:off x="8112000" y="3060000"/>
            <a:ext cx="1110000" cy="198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قوانين تمنح المستهلكين حق معرفة بياناتهم وحذفها ورفض بيعها</a:t>
            </a:r>
          </a:p>
        </p:txBody>
      </p:sp>
      <p:sp>
        <p:nvSpPr>
          <p:cNvPr id="26" name="card_6"/>
          <p:cNvSpPr/>
          <p:nvPr/>
        </p:nvSpPr>
        <p:spPr>
          <a:xfrm>
            <a:off x="9690000" y="1980000"/>
            <a:ext cx="1470000" cy="3240000"/>
          </a:xfrm>
          <a:prstGeom prst="roundRect">
            <a:avLst/>
          </a:prstGeom>
          <a:solidFill>
            <a:srgbClr val="FAFBFC"/>
          </a:solidFill>
          <a:ln w="25400">
            <a:solidFill>
              <a:srgbClr val="2D588C"/>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90000" y="1980000"/>
            <a:ext cx="1470000" cy="432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xt_card_6_title"/>
          <p:cNvSpPr txBox="1"/>
          <p:nvPr/>
        </p:nvSpPr>
        <p:spPr>
          <a:xfrm>
            <a:off x="9870000" y="2412000"/>
            <a:ext cx="1110000" cy="540000"/>
          </a:xfrm>
          <a:prstGeom prst="rect">
            <a:avLst/>
          </a:prstGeom>
          <a:noFill/>
        </p:spPr>
        <p:txBody>
          <a:bodyPr wrap="square" lIns="90000" rIns="90000" tIns="46800" bIns="46800">
            <a:spAutoFit/>
          </a:bodyPr>
          <a:lstStyle/>
          <a:p>
            <a:pPr algn="ctr" rtl="1">
              <a:lnSpc>
                <a:spcPct val="130000"/>
              </a:lnSpc>
            </a:pPr>
            <a:r>
              <a:rPr sz="2000" b="0" lang="ar-JO">
                <a:solidFill>
                  <a:srgbClr val="2D588C"/>
                </a:solidFill>
                <a:cs typeface="Tajawal ExtraBold"/>
                <a:latin typeface="Tajawal ExtraBold"/>
                <a:ea typeface="Tajawal ExtraBold"/>
              </a:rPr>
              <a:t>اللائحة العامة GDPR</a:t>
            </a:r>
          </a:p>
        </p:txBody>
      </p:sp>
      <p:sp>
        <p:nvSpPr>
          <p:cNvPr id="29" name="txt_card_6_body"/>
          <p:cNvSpPr txBox="1"/>
          <p:nvPr/>
        </p:nvSpPr>
        <p:spPr>
          <a:xfrm>
            <a:off x="9870000" y="3060000"/>
            <a:ext cx="1110000" cy="198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قانون أوروبي يفرض حماية صارمة لبيانات المستخدمين ويغرّم المخالفين</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نشاط: أيّ من التالي يُعتبر حلاً لحما</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عقلية البيانات: التعلم والتواصل باستخدام البيانات الوحدة الثالثة - المهارات الرقمية</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نشاط تفاعلي: اختيار من متعدد</a:t>
            </a:r>
          </a:p>
        </p:txBody>
      </p:sp>
      <p:sp>
        <p:nvSpPr>
          <p:cNvPr id="6" name="txt_question"/>
          <p:cNvSpPr txBox="1"/>
          <p:nvPr/>
        </p:nvSpPr>
        <p:spPr>
          <a:xfrm>
            <a:off x="900000" y="1800000"/>
            <a:ext cx="10440000" cy="720000"/>
          </a:xfrm>
          <a:prstGeom prst="rect">
            <a:avLst/>
          </a:prstGeom>
          <a:noFill/>
        </p:spPr>
        <p:txBody>
          <a:bodyPr wrap="square" lIns="90000" rIns="90000" tIns="46800" bIns="46800">
            <a:noAutofit/>
          </a:bodyPr>
          <a:lstStyle/>
          <a:p>
            <a:pPr algn="r" rtl="1">
              <a:lnSpc>
                <a:spcPct val="130000"/>
              </a:lnSpc>
            </a:pPr>
            <a:r>
              <a:rPr sz="2400" b="0" lang="ar-JO">
                <a:solidFill>
                  <a:srgbClr val="333333"/>
                </a:solidFill>
                <a:cs typeface="Tajawal ExtraBold"/>
                <a:latin typeface="Tajawal ExtraBold"/>
                <a:ea typeface="Tajawal ExtraBold"/>
              </a:rPr>
              <a:t>أيّ من التالي يُعتبر حلاً لحماية خصوصية البيانات؟</a:t>
            </a:r>
          </a:p>
        </p:txBody>
      </p:sp>
      <p:sp>
        <p:nvSpPr>
          <p:cNvPr id="7" name="bg_opt_a"/>
          <p:cNvSpPr/>
          <p:nvPr/>
        </p:nvSpPr>
        <p:spPr>
          <a:xfrm>
            <a:off x="900000" y="2664000"/>
            <a:ext cx="10080000" cy="684000"/>
          </a:xfrm>
          <a:prstGeom prst="roundRect">
            <a:avLst>
              <a:gd name="adj" fmla="val 6000"/>
            </a:avLst>
          </a:prstGeom>
          <a:solidFill>
            <a:srgbClr val="F5F7FA"/>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pt_a"/>
          <p:cNvSpPr/>
          <p:nvPr/>
        </p:nvSpPr>
        <p:spPr>
          <a:xfrm>
            <a:off x="10260000" y="2736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أ</a:t>
            </a:r>
          </a:p>
        </p:txBody>
      </p:sp>
      <p:sp>
        <p:nvSpPr>
          <p:cNvPr id="9" name="txt_opt_a"/>
          <p:cNvSpPr txBox="1"/>
          <p:nvPr/>
        </p:nvSpPr>
        <p:spPr>
          <a:xfrm>
            <a:off x="1080000" y="2700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زيادة حجم البيانات المخزنة</a:t>
            </a:r>
          </a:p>
        </p:txBody>
      </p:sp>
      <p:sp>
        <p:nvSpPr>
          <p:cNvPr id="10" name="bg_opt_b"/>
          <p:cNvSpPr/>
          <p:nvPr/>
        </p:nvSpPr>
        <p:spPr>
          <a:xfrm>
            <a:off x="900000" y="3456000"/>
            <a:ext cx="10080000" cy="684000"/>
          </a:xfrm>
          <a:prstGeom prst="roundRect">
            <a:avLst>
              <a:gd name="adj" fmla="val 6000"/>
            </a:avLst>
          </a:prstGeom>
          <a:solidFill>
            <a:srgbClr val="FFFFFF"/>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pt_b"/>
          <p:cNvSpPr/>
          <p:nvPr/>
        </p:nvSpPr>
        <p:spPr>
          <a:xfrm>
            <a:off x="10260000" y="3528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ب</a:t>
            </a:r>
          </a:p>
        </p:txBody>
      </p:sp>
      <p:sp>
        <p:nvSpPr>
          <p:cNvPr id="12" name="txt_opt_b"/>
          <p:cNvSpPr txBox="1"/>
          <p:nvPr/>
        </p:nvSpPr>
        <p:spPr>
          <a:xfrm>
            <a:off x="1080000" y="3492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تطبيق اللائحة العامة لحماية البيانات GDPR</a:t>
            </a:r>
          </a:p>
        </p:txBody>
      </p:sp>
      <p:sp>
        <p:nvSpPr>
          <p:cNvPr id="13" name="bg_opt_c"/>
          <p:cNvSpPr/>
          <p:nvPr/>
        </p:nvSpPr>
        <p:spPr>
          <a:xfrm>
            <a:off x="900000" y="4248000"/>
            <a:ext cx="10080000" cy="684000"/>
          </a:xfrm>
          <a:prstGeom prst="roundRect">
            <a:avLst>
              <a:gd name="adj" fmla="val 6000"/>
            </a:avLst>
          </a:prstGeom>
          <a:solidFill>
            <a:srgbClr val="F5F7FA"/>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t_c"/>
          <p:cNvSpPr/>
          <p:nvPr/>
        </p:nvSpPr>
        <p:spPr>
          <a:xfrm>
            <a:off x="10260000" y="432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ج</a:t>
            </a:r>
          </a:p>
        </p:txBody>
      </p:sp>
      <p:sp>
        <p:nvSpPr>
          <p:cNvPr id="15" name="txt_opt_c"/>
          <p:cNvSpPr txBox="1"/>
          <p:nvPr/>
        </p:nvSpPr>
        <p:spPr>
          <a:xfrm>
            <a:off x="1080000" y="4284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مشاركة البيانات مع أكبر عدد من الشركات</a:t>
            </a:r>
          </a:p>
        </p:txBody>
      </p:sp>
      <p:sp>
        <p:nvSpPr>
          <p:cNvPr id="16" name="bg_opt_d"/>
          <p:cNvSpPr/>
          <p:nvPr/>
        </p:nvSpPr>
        <p:spPr>
          <a:xfrm>
            <a:off x="900000" y="5040000"/>
            <a:ext cx="10080000" cy="684000"/>
          </a:xfrm>
          <a:prstGeom prst="roundRect">
            <a:avLst>
              <a:gd name="adj" fmla="val 6000"/>
            </a:avLst>
          </a:prstGeom>
          <a:solidFill>
            <a:srgbClr val="FFFFFF"/>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pt_d"/>
          <p:cNvSpPr/>
          <p:nvPr/>
        </p:nvSpPr>
        <p:spPr>
          <a:xfrm>
            <a:off x="10260000" y="5112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د</a:t>
            </a:r>
          </a:p>
        </p:txBody>
      </p:sp>
      <p:sp>
        <p:nvSpPr>
          <p:cNvPr id="18" name="txt_opt_d"/>
          <p:cNvSpPr txBox="1"/>
          <p:nvPr/>
        </p:nvSpPr>
        <p:spPr>
          <a:xfrm>
            <a:off x="1080000" y="5076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تجاهل إعدادات الخصوصية في التطبيقات</a:t>
            </a:r>
          </a:p>
        </p:txBody>
      </p:sp>
      <p:sp>
        <p:nvSpPr>
          <p:cNvPr id="19" name="btn_check"/>
          <p:cNvSpPr/>
          <p:nvPr/>
        </p:nvSpPr>
        <p:spPr>
          <a:xfrm>
            <a:off x="3600000" y="5760000"/>
            <a:ext cx="3600000" cy="576000"/>
          </a:xfrm>
          <a:prstGeom prst="roundRect">
            <a:avLst/>
          </a:prstGeom>
          <a:solidFill>
            <a:srgbClr val="156082"/>
          </a:solidFill>
          <a:ln w="19050">
            <a:solidFill>
              <a:srgbClr val="08283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2200" b="0" lang="ar-JO">
                <a:solidFill>
                  <a:srgbClr val="FFFFFF"/>
                </a:solidFill>
                <a:cs typeface="Tajawal ExtraBold"/>
                <a:latin typeface="Tajawal ExtraBold"/>
                <a:ea typeface="Tajawal ExtraBold"/>
              </a:rPr>
              <a:t>تحقق من الإجابة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شكراً لكم</a:t>
            </a:r>
          </a:p>
        </p:txBody>
      </p:sp>
      <p:sp>
        <p:nvSpPr>
          <p:cNvPr id="3" name="Rectangle 2"/>
          <p:cNvSpPr/>
          <p:nvPr/>
        </p:nvSpPr>
        <p:spPr>
          <a:xfrm>
            <a:off x="0" y="0"/>
            <a:ext cx="12192000" cy="6858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_card"/>
          <p:cNvSpPr/>
          <p:nvPr/>
        </p:nvSpPr>
        <p:spPr>
          <a:xfrm>
            <a:off x="1080000" y="1080000"/>
            <a:ext cx="10032000" cy="4698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eco_corner_tr_h"/>
          <p:cNvSpPr/>
          <p:nvPr/>
        </p:nvSpPr>
        <p:spPr>
          <a:xfrm>
            <a:off x="10032000" y="900000"/>
            <a:ext cx="1080000" cy="25400"/>
          </a:xfrm>
          <a:prstGeom prst="rect">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co_corner_tr_v"/>
          <p:cNvSpPr/>
          <p:nvPr/>
        </p:nvSpPr>
        <p:spPr>
          <a:xfrm>
            <a:off x="11112000" y="900000"/>
            <a:ext cx="25400" cy="1080000"/>
          </a:xfrm>
          <a:prstGeom prst="rect">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eco_corner_tr_dot"/>
          <p:cNvSpPr/>
          <p:nvPr/>
        </p:nvSpPr>
        <p:spPr>
          <a:xfrm>
            <a:off x="11040000" y="828000"/>
            <a:ext cx="144000" cy="144000"/>
          </a:xfrm>
          <a:prstGeom prst="ellipse">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img_closing" descr="img_20260212_133726.png"/>
          <p:cNvPicPr>
            <a:picLocks noChangeAspect="1"/>
          </p:cNvPicPr>
          <p:nvPr/>
        </p:nvPicPr>
        <p:blipFill>
          <a:blip r:embed="rId2"/>
          <a:stretch>
            <a:fillRect/>
          </a:stretch>
        </p:blipFill>
        <p:spPr>
          <a:xfrm>
            <a:off x="4290000" y="1260000"/>
            <a:ext cx="3300000" cy="1800000"/>
          </a:xfrm>
          <a:prstGeom prst="rect">
            <a:avLst/>
          </a:prstGeom>
        </p:spPr>
      </p:pic>
      <p:sp>
        <p:nvSpPr>
          <p:cNvPr id="9" name="txt_thanks"/>
          <p:cNvSpPr txBox="1"/>
          <p:nvPr/>
        </p:nvSpPr>
        <p:spPr>
          <a:xfrm>
            <a:off x="1800000" y="3240000"/>
            <a:ext cx="8640000" cy="900000"/>
          </a:xfrm>
          <a:prstGeom prst="rect">
            <a:avLst/>
          </a:prstGeom>
          <a:noFill/>
        </p:spPr>
        <p:txBody>
          <a:bodyPr wrap="square" lIns="90000" rIns="90000" tIns="46800" bIns="46800">
            <a:spAutoFit/>
          </a:bodyPr>
          <a:lstStyle/>
          <a:p>
            <a:pPr algn="ctr" rtl="1">
              <a:lnSpc>
                <a:spcPct val="130000"/>
              </a:lnSpc>
            </a:pPr>
            <a:r>
              <a:rPr sz="3600" b="0" lang="ar-JO">
                <a:solidFill>
                  <a:srgbClr val="2D588C"/>
                </a:solidFill>
                <a:cs typeface="Tajawal ExtraBold"/>
                <a:latin typeface="Tajawal ExtraBold"/>
                <a:ea typeface="Tajawal ExtraBold"/>
              </a:rPr>
              <a:t>شكراً لكم</a:t>
            </a:r>
          </a:p>
        </p:txBody>
      </p:sp>
      <p:sp>
        <p:nvSpPr>
          <p:cNvPr id="10" name="accent_steps_line"/>
          <p:cNvSpPr/>
          <p:nvPr/>
        </p:nvSpPr>
        <p:spPr>
          <a:xfrm>
            <a:off x="3600000" y="2700000"/>
            <a:ext cx="5040000" cy="36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xt_next_steps_label"/>
          <p:cNvSpPr txBox="1"/>
          <p:nvPr/>
        </p:nvSpPr>
        <p:spPr>
          <a:xfrm>
            <a:off x="1800000" y="2880000"/>
            <a:ext cx="8640000" cy="54000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الخطوات القادمة:</a:t>
            </a:r>
          </a:p>
        </p:txBody>
      </p:sp>
      <p:sp>
        <p:nvSpPr>
          <p:cNvPr id="12" name="num_step_1"/>
          <p:cNvSpPr/>
          <p:nvPr/>
        </p:nvSpPr>
        <p:spPr>
          <a:xfrm>
            <a:off x="8640000" y="360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0" lang="ar-JO">
                <a:solidFill>
                  <a:srgbClr val="FFFFFF"/>
                </a:solidFill>
                <a:cs typeface="Tajawal ExtraBold"/>
                <a:latin typeface="Tajawal ExtraBold"/>
                <a:ea typeface="Tajawal ExtraBold"/>
              </a:rPr>
              <a:t>1</a:t>
            </a:r>
          </a:p>
        </p:txBody>
      </p:sp>
      <p:sp>
        <p:nvSpPr>
          <p:cNvPr id="13" name="txt_step_1"/>
          <p:cNvSpPr txBox="1"/>
          <p:nvPr/>
        </p:nvSpPr>
        <p:spPr>
          <a:xfrm>
            <a:off x="2160000" y="3600000"/>
            <a:ext cx="6120000" cy="5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عقلية البيانات هي أسلوب تفكير يعتمد على البيانات في فهم المشكلات واتخاذ القرارات</a:t>
            </a:r>
          </a:p>
        </p:txBody>
      </p:sp>
      <p:sp>
        <p:nvSpPr>
          <p:cNvPr id="14" name="num_step_2"/>
          <p:cNvSpPr/>
          <p:nvPr/>
        </p:nvSpPr>
        <p:spPr>
          <a:xfrm>
            <a:off x="8640000" y="432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0" lang="ar-JO">
                <a:solidFill>
                  <a:srgbClr val="FFFFFF"/>
                </a:solidFill>
                <a:cs typeface="Tajawal ExtraBold"/>
                <a:latin typeface="Tajawal ExtraBold"/>
                <a:ea typeface="Tajawal ExtraBold"/>
              </a:rPr>
              <a:t>2</a:t>
            </a:r>
          </a:p>
        </p:txBody>
      </p:sp>
      <p:sp>
        <p:nvSpPr>
          <p:cNvPr id="15" name="txt_step_2"/>
          <p:cNvSpPr txBox="1"/>
          <p:nvPr/>
        </p:nvSpPr>
        <p:spPr>
          <a:xfrm>
            <a:off x="2160000" y="4320000"/>
            <a:ext cx="6120000" cy="5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البيانات الضخمة تتميز بثلاث خصائص: الحجم، السرعة، التنوع</a:t>
            </a:r>
          </a:p>
        </p:txBody>
      </p:sp>
      <p:sp>
        <p:nvSpPr>
          <p:cNvPr id="16" name="num_step_3"/>
          <p:cNvSpPr/>
          <p:nvPr/>
        </p:nvSpPr>
        <p:spPr>
          <a:xfrm>
            <a:off x="8640000" y="504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0" lang="ar-JO">
                <a:solidFill>
                  <a:srgbClr val="FFFFFF"/>
                </a:solidFill>
                <a:cs typeface="Tajawal ExtraBold"/>
                <a:latin typeface="Tajawal ExtraBold"/>
                <a:ea typeface="Tajawal ExtraBold"/>
              </a:rPr>
              <a:t>3</a:t>
            </a:r>
          </a:p>
        </p:txBody>
      </p:sp>
      <p:sp>
        <p:nvSpPr>
          <p:cNvPr id="17" name="txt_step_3"/>
          <p:cNvSpPr txBox="1"/>
          <p:nvPr/>
        </p:nvSpPr>
        <p:spPr>
          <a:xfrm>
            <a:off x="2160000" y="5040000"/>
            <a:ext cx="6120000" cy="5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جودة البيانات تعتمد على أربعة أبعاد: الدقة، الاكتمال، الاتساق، التوقيت</a:t>
            </a:r>
          </a:p>
        </p:txBody>
      </p:sp>
      <p:sp>
        <p:nvSpPr>
          <p:cNvPr id="18" name="num_step_4"/>
          <p:cNvSpPr/>
          <p:nvPr/>
        </p:nvSpPr>
        <p:spPr>
          <a:xfrm>
            <a:off x="8640000" y="576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0" lang="ar-JO">
                <a:solidFill>
                  <a:srgbClr val="FFFFFF"/>
                </a:solidFill>
                <a:cs typeface="Tajawal ExtraBold"/>
                <a:latin typeface="Tajawal ExtraBold"/>
                <a:ea typeface="Tajawal ExtraBold"/>
              </a:rPr>
              <a:t>4</a:t>
            </a:r>
          </a:p>
        </p:txBody>
      </p:sp>
      <p:sp>
        <p:nvSpPr>
          <p:cNvPr id="19" name="txt_step_4"/>
          <p:cNvSpPr txBox="1"/>
          <p:nvPr/>
        </p:nvSpPr>
        <p:spPr>
          <a:xfrm>
            <a:off x="2160000" y="5760000"/>
            <a:ext cx="6120000" cy="5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التواصل الفعّال بالبيانات يعني تبسيط المعلومات باستخدام الرسوم البيانية والمخططات</a:t>
            </a:r>
          </a:p>
        </p:txBody>
      </p:sp>
      <p:sp>
        <p:nvSpPr>
          <p:cNvPr id="20" name="num_step_5"/>
          <p:cNvSpPr/>
          <p:nvPr/>
        </p:nvSpPr>
        <p:spPr>
          <a:xfrm>
            <a:off x="8640000" y="648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0" lang="ar-JO">
                <a:solidFill>
                  <a:srgbClr val="FFFFFF"/>
                </a:solidFill>
                <a:cs typeface="Tajawal ExtraBold"/>
                <a:latin typeface="Tajawal ExtraBold"/>
                <a:ea typeface="Tajawal ExtraBold"/>
              </a:rPr>
              <a:t>5</a:t>
            </a:r>
          </a:p>
        </p:txBody>
      </p:sp>
      <p:sp>
        <p:nvSpPr>
          <p:cNvPr id="21" name="txt_step_5"/>
          <p:cNvSpPr txBox="1"/>
          <p:nvPr/>
        </p:nvSpPr>
        <p:spPr>
          <a:xfrm>
            <a:off x="2160000" y="6480000"/>
            <a:ext cx="6120000" cy="5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حماية الخصوصية مسؤولية مشتركة بين الأفراد والمؤسسات والقوانين</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2025-11-02T06:11:04Z</dcterms:created>
  <dc:creator>hadeel alserhan</dc:creator>
</cp:coreProperties>
</file>