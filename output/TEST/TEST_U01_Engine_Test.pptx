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المحاضرة الأولى:</a:t>
            </a:r>
          </a:p>
          <a:p>
            <a:r>
              <a:t>Generated: 2026-02-11</a:t>
            </a:r>
          </a:p>
          <a:p>
            <a:r>
              <a:t>Designer: مصمم الاختبار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اختبار الملاحظات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أي من العبارات الآتية تعبر بدقة عن التقنية الناشئة؟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Drag and Drop - Ordering</a:t>
            </a:r>
          </a:p>
          <a:p>
            <a:r>
              <a:t>Correct Order:</a:t>
            </a:r>
          </a:p>
          <a:p>
            <a:r>
              <a:t>drag_item_1 → drop_zone_1: فائدة</a:t>
            </a:r>
          </a:p>
          <a:p>
            <a:r>
              <a:t>drag_item_2 → drop_zone_2: سلبية</a:t>
            </a:r>
          </a:p>
          <a:p>
            <a:r>
              <a:t>drag_item_3 → drop_zone_3: فائدة</a:t>
            </a:r>
          </a:p>
          <a:p/>
          <a:p>
            <a:r>
              <a:t>=== FREEFORM SETUP ===</a:t>
            </a:r>
          </a:p>
          <a:p>
            <a:r>
              <a:t>1. Insert &gt; Convert to Freeform &gt; Drag and Drop</a:t>
            </a:r>
          </a:p>
          <a:p>
            <a:r>
              <a:t>2. Match drag_item shapes to drop_zone shapes</a:t>
            </a:r>
          </a:p>
          <a:p>
            <a:r>
              <a:t>3. Set correct order as shown above</a:t>
            </a:r>
          </a:p>
          <a:p/>
          <a:p>
            <a:r>
              <a:t>=== NARRATOR SCRIPT ===</a:t>
            </a:r>
          </a:p>
          <a:p>
            <a:r>
              <a:t>صنف العبارات: فوائد أم سلبيات؟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Click to Reveal</a:t>
            </a:r>
          </a:p>
          <a:p>
            <a:r>
              <a:t>Items: btn_reveal_1, btn_reveal_2, btn_reveal_3</a:t>
            </a:r>
          </a:p>
          <a:p/>
          <a:p>
            <a:r>
              <a:t>=== LAYER INSTRUCTIONS ===</a:t>
            </a:r>
          </a:p>
          <a:p>
            <a:r>
              <a:t>Layer 1: Show content when btn_reveal_1 clicked — التعليم</a:t>
            </a:r>
          </a:p>
          <a:p>
            <a:r>
              <a:t>Layer 2: Show content when btn_reveal_2 clicked — الصحة</a:t>
            </a:r>
          </a:p>
          <a:p>
            <a:r>
              <a:t>Layer 3: Show content when btn_reveal_3 clicked — الاقتصاد</a:t>
            </a:r>
          </a:p>
          <a:p/>
          <a:p>
            <a:r>
              <a:t>=== CONTENT ===</a:t>
            </a:r>
          </a:p>
          <a:p>
            <a:r>
              <a:t>btn_reveal_1 (التعليم): أثرت التقنية على التعليم بشكل كبير</a:t>
            </a:r>
          </a:p>
          <a:p>
            <a:r>
              <a:t>btn_reveal_2 (الصحة): ساهمت التقنية في تطوير الرعاية الصحية</a:t>
            </a:r>
          </a:p>
          <a:p>
            <a:r>
              <a:t>btn_reveal_3 (الاقتصاد): غيرت التقنية أنماط العمل والتجارة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المحاضرة الأولى: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الاختبار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الأولى: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التحديثات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التحقق من عمل المحرك المحدث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007805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007805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413852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التخطيطات المتنوعة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583072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التحقق من التوافق مع ستوريلاين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المقدمة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المقدمة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 في الاختبار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 في الاختبار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المحتوى الثاني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المحتوى الثاني</a:t>
            </a:r>
          </a:p>
        </p:txBody>
      </p:sp>
      <p:sp>
        <p:nvSpPr>
          <p:cNvPr id="6" name="bg_accent_stripe"/>
          <p:cNvSpPr/>
          <p:nvPr/>
        </p:nvSpPr>
        <p:spPr>
          <a:xfrm>
            <a:off x="11160000" y="1440000"/>
            <a:ext cx="432000" cy="46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_content_card"/>
          <p:cNvSpPr/>
          <p:nvPr/>
        </p:nvSpPr>
        <p:spPr>
          <a:xfrm>
            <a:off x="900000" y="1692000"/>
            <a:ext cx="972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1080000" y="1800000"/>
            <a:ext cx="936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في التخطيط الثاني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أخرى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المحتوى الثالث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المحتوى الثالث</a:t>
            </a:r>
          </a:p>
        </p:txBody>
      </p:sp>
      <p:sp>
        <p:nvSpPr>
          <p:cNvPr id="6" name="num_point_1"/>
          <p:cNvSpPr/>
          <p:nvPr/>
        </p:nvSpPr>
        <p:spPr>
          <a:xfrm>
            <a:off x="10512000" y="19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7" name="txt_point_1"/>
          <p:cNvSpPr txBox="1"/>
          <p:nvPr/>
        </p:nvSpPr>
        <p:spPr>
          <a:xfrm>
            <a:off x="1080000" y="19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النقطة المرقمة الأولى</a:t>
            </a:r>
          </a:p>
        </p:txBody>
      </p:sp>
      <p:sp>
        <p:nvSpPr>
          <p:cNvPr id="8" name="num_point_2"/>
          <p:cNvSpPr/>
          <p:nvPr/>
        </p:nvSpPr>
        <p:spPr>
          <a:xfrm>
            <a:off x="10512000" y="28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9" name="txt_point_2"/>
          <p:cNvSpPr txBox="1"/>
          <p:nvPr/>
        </p:nvSpPr>
        <p:spPr>
          <a:xfrm>
            <a:off x="1080000" y="28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النقطة المرقمة الثانية</a:t>
            </a:r>
          </a:p>
        </p:txBody>
      </p:sp>
      <p:sp>
        <p:nvSpPr>
          <p:cNvPr id="10" name="num_point_3"/>
          <p:cNvSpPr/>
          <p:nvPr/>
        </p:nvSpPr>
        <p:spPr>
          <a:xfrm>
            <a:off x="10512000" y="37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1" name="txt_point_3"/>
          <p:cNvSpPr txBox="1"/>
          <p:nvPr/>
        </p:nvSpPr>
        <p:spPr>
          <a:xfrm>
            <a:off x="1080000" y="37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النقطة المرقمة الثالثة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أمثلة على التقنيات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أمثلة على التقنيات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الذكاء الاصطناعي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الذكاء الاصطناعي</a:t>
            </a:r>
          </a:p>
        </p:txBody>
      </p:sp>
      <p:sp>
        <p:nvSpPr>
          <p:cNvPr id="10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إنترنت الأشياء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إنترنت الأشياء</a:t>
            </a:r>
          </a:p>
        </p:txBody>
      </p:sp>
      <p:sp>
        <p:nvSpPr>
          <p:cNvPr id="14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الحوسبة السحابية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الحوسبة السحابية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الثاني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right_bar"/>
          <p:cNvSpPr/>
          <p:nvPr/>
        </p:nvSpPr>
        <p:spPr>
          <a:xfrm>
            <a:off x="11292000" y="720000"/>
            <a:ext cx="180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6" name="Picture 5" descr="corner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158000"/>
            <a:ext cx="2520000" cy="2520000"/>
          </a:xfrm>
          <a:prstGeom prst="rect">
            <a:avLst/>
          </a:prstGeom>
        </p:spPr>
      </p:pic>
      <p:sp>
        <p:nvSpPr>
          <p:cNvPr id="7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8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فوائد التقنية الرقمية</a:t>
            </a:r>
          </a:p>
        </p:txBody>
      </p:sp>
      <p:sp>
        <p:nvSpPr>
          <p:cNvPr id="10" name="dot_section_1"/>
          <p:cNvSpPr/>
          <p:nvPr/>
        </p:nvSpPr>
        <p:spPr>
          <a:xfrm>
            <a:off x="512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_section_2"/>
          <p:cNvSpPr/>
          <p:nvPr/>
        </p:nvSpPr>
        <p:spPr>
          <a:xfrm>
            <a:off x="5664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_section_3"/>
          <p:cNvSpPr/>
          <p:nvPr/>
        </p:nvSpPr>
        <p:spPr>
          <a:xfrm>
            <a:off x="627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_section_4"/>
          <p:cNvSpPr/>
          <p:nvPr/>
        </p:nvSpPr>
        <p:spPr>
          <a:xfrm>
            <a:off x="685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بين الفوائد والسلبيات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بين الفوائد والسلبيات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الفوائد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السلبيات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فقدان الخصوصية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أي من العبارات الآتية تعبر بدق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أي من العبارات الآتية تعبر بدقة عن التقنية الناشئة؟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تستخدم أجهزة حديثة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تقدم طرقاً جديدة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مرتبطة بالإنترنت</a:t>
            </a:r>
          </a:p>
        </p:txBody>
      </p:sp>
      <p:sp>
        <p:nvSpPr>
          <p:cNvPr id="16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سحب وإفلات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سحب وترتيب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صنف العبارات: فوائد أم سلبيات؟</a:t>
            </a:r>
          </a:p>
        </p:txBody>
      </p:sp>
      <p:sp>
        <p:nvSpPr>
          <p:cNvPr id="7" name="txt_instruction"/>
          <p:cNvSpPr txBox="1"/>
          <p:nvPr/>
        </p:nvSpPr>
        <p:spPr>
          <a:xfrm>
            <a:off x="900000" y="2520000"/>
            <a:ext cx="1044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156082"/>
                </a:solidFill>
                <a:cs typeface="Tajawal Medium"/>
                <a:latin typeface="Tajawal Medium"/>
                <a:ea typeface="Tajawal Medium"/>
              </a:rPr>
              <a:t>اسحب العناصر التالية إلى الترتيب الصحيح</a:t>
            </a:r>
          </a:p>
        </p:txBody>
      </p:sp>
      <p:sp>
        <p:nvSpPr>
          <p:cNvPr id="8" name="drag_item_1"/>
          <p:cNvSpPr/>
          <p:nvPr/>
        </p:nvSpPr>
        <p:spPr>
          <a:xfrm>
            <a:off x="900000" y="306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</a:t>
            </a:r>
          </a:p>
        </p:txBody>
      </p:sp>
      <p:sp>
        <p:nvSpPr>
          <p:cNvPr id="9" name="icon_grip_1"/>
          <p:cNvSpPr txBox="1"/>
          <p:nvPr/>
        </p:nvSpPr>
        <p:spPr>
          <a:xfrm>
            <a:off x="972000" y="313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0" name="drag_item_2"/>
          <p:cNvSpPr/>
          <p:nvPr/>
        </p:nvSpPr>
        <p:spPr>
          <a:xfrm>
            <a:off x="900000" y="432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</p:txBody>
      </p:sp>
      <p:sp>
        <p:nvSpPr>
          <p:cNvPr id="11" name="icon_grip_2"/>
          <p:cNvSpPr txBox="1"/>
          <p:nvPr/>
        </p:nvSpPr>
        <p:spPr>
          <a:xfrm>
            <a:off x="972000" y="439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2" name="drag_item_3"/>
          <p:cNvSpPr/>
          <p:nvPr/>
        </p:nvSpPr>
        <p:spPr>
          <a:xfrm>
            <a:off x="900000" y="558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13" name="icon_grip_3"/>
          <p:cNvSpPr txBox="1"/>
          <p:nvPr/>
        </p:nvSpPr>
        <p:spPr>
          <a:xfrm>
            <a:off x="972000" y="565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4" name="drop_zone_1"/>
          <p:cNvSpPr/>
          <p:nvPr/>
        </p:nvSpPr>
        <p:spPr>
          <a:xfrm>
            <a:off x="6480000" y="306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5" name="Oval 14"/>
          <p:cNvSpPr/>
          <p:nvPr/>
        </p:nvSpPr>
        <p:spPr>
          <a:xfrm>
            <a:off x="10152000" y="31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6" name="drop_zone_2"/>
          <p:cNvSpPr/>
          <p:nvPr/>
        </p:nvSpPr>
        <p:spPr>
          <a:xfrm>
            <a:off x="6480000" y="432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7" name="Oval 16"/>
          <p:cNvSpPr/>
          <p:nvPr/>
        </p:nvSpPr>
        <p:spPr>
          <a:xfrm>
            <a:off x="10152000" y="441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8" name="drop_zone_3"/>
          <p:cNvSpPr/>
          <p:nvPr/>
        </p:nvSpPr>
        <p:spPr>
          <a:xfrm>
            <a:off x="6480000" y="558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9" name="Oval 18"/>
          <p:cNvSpPr/>
          <p:nvPr/>
        </p:nvSpPr>
        <p:spPr>
          <a:xfrm>
            <a:off x="10152000" y="567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تأثير التقنية على الحياة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تأثير التقنية على الحياة</a:t>
            </a:r>
          </a:p>
        </p:txBody>
      </p:sp>
      <p:sp>
        <p:nvSpPr>
          <p:cNvPr id="6" name="txt_instruction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جانب لاكتشاف المزيد</a:t>
            </a:r>
          </a:p>
        </p:txBody>
      </p:sp>
      <p:sp>
        <p:nvSpPr>
          <p:cNvPr id="7" name="btn_reveal_1"/>
          <p:cNvSpPr/>
          <p:nvPr/>
        </p:nvSpPr>
        <p:spPr>
          <a:xfrm>
            <a:off x="90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التعليم</a:t>
            </a:r>
          </a:p>
        </p:txBody>
      </p:sp>
      <p:sp>
        <p:nvSpPr>
          <p:cNvPr id="8" name="btn_reveal_2"/>
          <p:cNvSpPr/>
          <p:nvPr/>
        </p:nvSpPr>
        <p:spPr>
          <a:xfrm>
            <a:off x="438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الصحة</a:t>
            </a:r>
          </a:p>
        </p:txBody>
      </p:sp>
      <p:sp>
        <p:nvSpPr>
          <p:cNvPr id="9" name="btn_reveal_3"/>
          <p:cNvSpPr/>
          <p:nvPr/>
        </p:nvSpPr>
        <p:spPr>
          <a:xfrm>
            <a:off x="786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الاقتصاد</a:t>
            </a:r>
          </a:p>
        </p:txBody>
      </p:sp>
      <p:sp>
        <p:nvSpPr>
          <p:cNvPr id="10" name="bg_reveal_desc"/>
          <p:cNvSpPr/>
          <p:nvPr/>
        </p:nvSpPr>
        <p:spPr>
          <a:xfrm>
            <a:off x="900000" y="3780000"/>
            <a:ext cx="10260000" cy="180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_desc_bar"/>
          <p:cNvSpPr/>
          <p:nvPr/>
        </p:nvSpPr>
        <p:spPr>
          <a:xfrm>
            <a:off x="10980000" y="3780000"/>
            <a:ext cx="144000" cy="180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reveal_desc"/>
          <p:cNvSpPr txBox="1"/>
          <p:nvPr/>
        </p:nvSpPr>
        <p:spPr>
          <a:xfrm>
            <a:off x="1080000" y="3960000"/>
            <a:ext cx="990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أثرت التقنية على التعليم بشكل كبير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التحديثات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التقنيات الناشئة هي تقنيات في مراحلها الأولى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للتقنية الرقمية فوائد وسلبيات يجب مراعاتها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sp>
        <p:nvSpPr>
          <p:cNvPr id="6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7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9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المحاضرة التفاعلية</a:t>
            </a:r>
          </a:p>
        </p:txBody>
      </p:sp>
      <p:sp>
        <p:nvSpPr>
          <p:cNvPr id="11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2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حل النشاط التفاعلي</a:t>
            </a:r>
          </a:p>
        </p:txBody>
      </p:sp>
      <p:sp>
        <p:nvSpPr>
          <p:cNvPr id="13" name="num_step_3"/>
          <p:cNvSpPr/>
          <p:nvPr/>
        </p:nvSpPr>
        <p:spPr>
          <a:xfrm>
            <a:off x="8640000" y="50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xt_step_3"/>
          <p:cNvSpPr txBox="1"/>
          <p:nvPr/>
        </p:nvSpPr>
        <p:spPr>
          <a:xfrm>
            <a:off x="2160000" y="504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الاستعداد للاختبار البعدي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