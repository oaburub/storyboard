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محاضرة:</a:t>
            </a:r>
          </a:p>
          <a:p>
            <a:r>
              <a:t>Generated: 2026-02-12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أ (opt_a)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opt_a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ما هو الذكاء الاصطناعي؟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محاضرة: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محاضرة: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اختبار الصور الحقيقية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مع صورة مربعة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الصور الحقيقية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مع صورة مربعة</a:t>
            </a:r>
          </a:p>
        </p:txBody>
      </p:sp>
      <p:pic>
        <p:nvPicPr>
          <p:cNvPr id="6" name="img_content" descr="tes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1980000"/>
            <a:ext cx="3240000" cy="3240000"/>
          </a:xfrm>
          <a:prstGeom prst="rect">
            <a:avLst/>
          </a:prstGeom>
        </p:spPr>
      </p:pic>
      <p:sp>
        <p:nvSpPr>
          <p:cNvPr id="7" name="bg_content_card"/>
          <p:cNvSpPr/>
          <p:nvPr/>
        </p:nvSpPr>
        <p:spPr>
          <a:xfrm>
            <a:off x="4500000" y="1692000"/>
            <a:ext cx="68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4680000" y="1800000"/>
            <a:ext cx="64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ثالثة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مع صورة طولية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الصور الحقيقية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مع صورة طولية</a:t>
            </a:r>
          </a:p>
        </p:txBody>
      </p:sp>
      <p:pic>
        <p:nvPicPr>
          <p:cNvPr id="6" name="img_content" descr="test_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000" y="1980000"/>
            <a:ext cx="1620000" cy="3240000"/>
          </a:xfrm>
          <a:prstGeom prst="rect">
            <a:avLst/>
          </a:prstGeom>
        </p:spPr>
      </p:pic>
      <p:sp>
        <p:nvSpPr>
          <p:cNvPr id="7" name="bg_content_card"/>
          <p:cNvSpPr/>
          <p:nvPr/>
        </p:nvSpPr>
        <p:spPr>
          <a:xfrm>
            <a:off x="4500000" y="1692000"/>
            <a:ext cx="68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4680000" y="1800000"/>
            <a:ext cx="64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مع صورة عرضية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الصور الحقيقية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مع صورة عرضية</a:t>
            </a:r>
          </a:p>
        </p:txBody>
      </p:sp>
      <p:pic>
        <p:nvPicPr>
          <p:cNvPr id="6" name="img_content" descr="test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2790000"/>
            <a:ext cx="3240000" cy="1620000"/>
          </a:xfrm>
          <a:prstGeom prst="rect">
            <a:avLst/>
          </a:prstGeom>
        </p:spPr>
      </p:pic>
      <p:sp>
        <p:nvSpPr>
          <p:cNvPr id="7" name="bg_content_card"/>
          <p:cNvSpPr/>
          <p:nvPr/>
        </p:nvSpPr>
        <p:spPr>
          <a:xfrm>
            <a:off x="4500000" y="1692000"/>
            <a:ext cx="68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4680000" y="1800000"/>
            <a:ext cx="64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بطاقات مع صور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الصور الحقيقية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بطاقات مع صور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g_card_1" descr="tes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000" y="2520000"/>
            <a:ext cx="1080000" cy="1080000"/>
          </a:xfrm>
          <a:prstGeom prst="rect">
            <a:avLst/>
          </a:prstGeom>
        </p:spPr>
      </p:pic>
      <p:sp>
        <p:nvSpPr>
          <p:cNvPr id="9" name="txt_card_1_title"/>
          <p:cNvSpPr txBox="1"/>
          <p:nvPr/>
        </p:nvSpPr>
        <p:spPr>
          <a:xfrm>
            <a:off x="1080000" y="3708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AI</a:t>
            </a:r>
          </a:p>
        </p:txBody>
      </p:sp>
      <p:sp>
        <p:nvSpPr>
          <p:cNvPr id="10" name="txt_card_1_body"/>
          <p:cNvSpPr txBox="1"/>
          <p:nvPr/>
        </p:nvSpPr>
        <p:spPr>
          <a:xfrm>
            <a:off x="1080000" y="4320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ذكاء اصطناعي</a:t>
            </a:r>
          </a:p>
        </p:txBody>
      </p:sp>
      <p:sp>
        <p:nvSpPr>
          <p:cNvPr id="11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IoT</a:t>
            </a:r>
          </a:p>
        </p:txBody>
      </p:sp>
      <p:sp>
        <p:nvSpPr>
          <p:cNvPr id="14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إنترنت الأشياء</a:t>
            </a:r>
          </a:p>
        </p:txBody>
      </p:sp>
      <p:sp>
        <p:nvSpPr>
          <p:cNvPr id="15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g_card_3" descr="test_landsc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000" y="2520000"/>
            <a:ext cx="2160000" cy="1080000"/>
          </a:xfrm>
          <a:prstGeom prst="rect">
            <a:avLst/>
          </a:prstGeom>
        </p:spPr>
      </p:pic>
      <p:sp>
        <p:nvSpPr>
          <p:cNvPr id="18" name="txt_card_3_title"/>
          <p:cNvSpPr txBox="1"/>
          <p:nvPr/>
        </p:nvSpPr>
        <p:spPr>
          <a:xfrm>
            <a:off x="8112000" y="3708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Cloud</a:t>
            </a:r>
          </a:p>
        </p:txBody>
      </p:sp>
      <p:sp>
        <p:nvSpPr>
          <p:cNvPr id="19" name="txt_card_3_body"/>
          <p:cNvSpPr txBox="1"/>
          <p:nvPr/>
        </p:nvSpPr>
        <p:spPr>
          <a:xfrm>
            <a:off x="8112000" y="4320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حوسبة سحابية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الأول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right_bar"/>
          <p:cNvSpPr/>
          <p:nvPr/>
        </p:nvSpPr>
        <p:spPr>
          <a:xfrm>
            <a:off x="11292000" y="720000"/>
            <a:ext cx="180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mg_section_bg" descr="test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2880000" cy="2880000"/>
          </a:xfrm>
          <a:prstGeom prst="rect">
            <a:avLst/>
          </a:prstGeom>
        </p:spPr>
      </p:pic>
      <p:pic>
        <p:nvPicPr>
          <p:cNvPr id="6" name="Picture 5" descr="corner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000" y="180000"/>
            <a:ext cx="2520000" cy="2520000"/>
          </a:xfrm>
          <a:prstGeom prst="rect">
            <a:avLst/>
          </a:prstGeom>
        </p:spPr>
      </p:pic>
      <p:pic>
        <p:nvPicPr>
          <p:cNvPr id="7" name="Picture 6" descr="corner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" y="4158000"/>
            <a:ext cx="2520000" cy="2520000"/>
          </a:xfrm>
          <a:prstGeom prst="rect">
            <a:avLst/>
          </a:prstGeom>
        </p:spPr>
      </p:pic>
      <p:sp>
        <p:nvSpPr>
          <p:cNvPr id="8" name="txt_section_title"/>
          <p:cNvSpPr txBox="1"/>
          <p:nvPr/>
        </p:nvSpPr>
        <p:spPr>
          <a:xfrm>
            <a:off x="1440000" y="198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الأول</a:t>
            </a:r>
          </a:p>
        </p:txBody>
      </p:sp>
      <p:sp>
        <p:nvSpPr>
          <p:cNvPr id="9" name="divider_line"/>
          <p:cNvSpPr/>
          <p:nvPr/>
        </p:nvSpPr>
        <p:spPr>
          <a:xfrm>
            <a:off x="3240000" y="331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section_subtitle"/>
          <p:cNvSpPr txBox="1"/>
          <p:nvPr/>
        </p:nvSpPr>
        <p:spPr>
          <a:xfrm>
            <a:off x="1440000" y="352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مع صورة خلفية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ما هو الذكاء الاصطناعي؟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الصور الحقيقية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pic>
        <p:nvPicPr>
          <p:cNvPr id="6" name="img_quiz" descr="tes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1440000"/>
            <a:ext cx="1800000" cy="1800000"/>
          </a:xfrm>
          <a:prstGeom prst="rect">
            <a:avLst/>
          </a:prstGeom>
        </p:spPr>
      </p:pic>
      <p:sp>
        <p:nvSpPr>
          <p:cNvPr id="7" name="txt_question"/>
          <p:cNvSpPr txBox="1"/>
          <p:nvPr/>
        </p:nvSpPr>
        <p:spPr>
          <a:xfrm>
            <a:off x="3600000" y="1800000"/>
            <a:ext cx="756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الذكاء الاصطناعي؟</a:t>
            </a:r>
          </a:p>
        </p:txBody>
      </p:sp>
      <p:sp>
        <p:nvSpPr>
          <p:cNvPr id="8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10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محاكاة الذكاء البشري</a:t>
            </a:r>
          </a:p>
        </p:txBody>
      </p:sp>
      <p:sp>
        <p:nvSpPr>
          <p:cNvPr id="11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3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نوع من الحوسبة</a:t>
            </a:r>
          </a:p>
        </p:txBody>
      </p:sp>
      <p:sp>
        <p:nvSpPr>
          <p:cNvPr id="14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6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برنامج حاسوب</a:t>
            </a:r>
          </a:p>
        </p:txBody>
      </p:sp>
      <p:sp>
        <p:nvSpPr>
          <p:cNvPr id="17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 مع صور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الصور الحقيقية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 مع صور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543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mg_col1" descr="tes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000" y="1908000"/>
            <a:ext cx="1440000" cy="1440000"/>
          </a:xfrm>
          <a:prstGeom prst="rect">
            <a:avLst/>
          </a:prstGeom>
        </p:spPr>
      </p:pic>
      <p:sp>
        <p:nvSpPr>
          <p:cNvPr id="8" name="txt_col1_title"/>
          <p:cNvSpPr txBox="1"/>
          <p:nvPr/>
        </p:nvSpPr>
        <p:spPr>
          <a:xfrm>
            <a:off x="6120000" y="342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الفوائد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396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col1_body"/>
          <p:cNvSpPr txBox="1"/>
          <p:nvPr/>
        </p:nvSpPr>
        <p:spPr>
          <a:xfrm>
            <a:off x="6120000" y="414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تسريع الوصول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زيادة الإنتاجية</a:t>
            </a:r>
          </a:p>
        </p:txBody>
      </p:sp>
      <p:sp>
        <p:nvSpPr>
          <p:cNvPr id="11" name="bg_col2_card"/>
          <p:cNvSpPr/>
          <p:nvPr/>
        </p:nvSpPr>
        <p:spPr>
          <a:xfrm>
            <a:off x="792000" y="1692000"/>
            <a:ext cx="5076000" cy="543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g_col2" descr="test_landsc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000" y="1908000"/>
            <a:ext cx="2880000" cy="1440000"/>
          </a:xfrm>
          <a:prstGeom prst="rect">
            <a:avLst/>
          </a:prstGeom>
        </p:spPr>
      </p:pic>
      <p:sp>
        <p:nvSpPr>
          <p:cNvPr id="13" name="txt_col2_title"/>
          <p:cNvSpPr txBox="1"/>
          <p:nvPr/>
        </p:nvSpPr>
        <p:spPr>
          <a:xfrm>
            <a:off x="900000" y="342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السلبيات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0000" y="396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col2_body"/>
          <p:cNvSpPr txBox="1"/>
          <p:nvPr/>
        </p:nvSpPr>
        <p:spPr>
          <a:xfrm>
            <a:off x="900000" y="414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الإدمان الرقمي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فقدان الخصوصية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ner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000" y="180000"/>
            <a:ext cx="2520000" cy="2520000"/>
          </a:xfrm>
          <a:prstGeom prst="rect">
            <a:avLst/>
          </a:prstGeom>
        </p:spPr>
      </p:pic>
      <p:pic>
        <p:nvPicPr>
          <p:cNvPr id="6" name="img_closing" descr="test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1260000"/>
            <a:ext cx="3600000" cy="1800000"/>
          </a:xfrm>
          <a:prstGeom prst="rect">
            <a:avLst/>
          </a:prstGeom>
        </p:spPr>
      </p:pic>
      <p:sp>
        <p:nvSpPr>
          <p:cNvPr id="7" name="txt_thanks"/>
          <p:cNvSpPr txBox="1"/>
          <p:nvPr/>
        </p:nvSpPr>
        <p:spPr>
          <a:xfrm>
            <a:off x="1800000" y="324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8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0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1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مراجعة المحاضرة</a:t>
            </a:r>
          </a:p>
        </p:txBody>
      </p:sp>
      <p:sp>
        <p:nvSpPr>
          <p:cNvPr id="12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3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حل النشاط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