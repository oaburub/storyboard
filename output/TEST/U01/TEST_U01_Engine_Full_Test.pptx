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2"/>
    <p:sldId id="265" r:id="rId23"/>
    <p:sldId id="266" r:id="rId24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TEST</a:t>
            </a:r>
          </a:p>
          <a:p>
            <a:r>
              <a:t>Unit: 1</a:t>
            </a:r>
          </a:p>
          <a:p>
            <a:r>
              <a:t>Lecture: المحاضرة التجريبية:</a:t>
            </a:r>
          </a:p>
          <a:p>
            <a:r>
              <a:t>Generated: 2026-02-22</a:t>
            </a:r>
          </a:p>
          <a:p>
            <a:r>
              <a:t>Designer: 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ب (opt_b)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opt_b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كم عدد أساليب الشرائح المتاحة في المحرك الجديد؟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Branching Scenario</a:t>
            </a:r>
          </a:p>
          <a:p>
            <a:r>
              <a:t>Correct Choice: btn_choice_1 (Choice 2)</a:t>
            </a:r>
          </a:p>
          <a:p>
            <a:r>
              <a:t>Choice Buttons: btn_choice_0, btn_choice_1, btn_choice_2</a:t>
            </a:r>
          </a:p>
          <a:p/>
          <a:p>
            <a:r>
              <a:t>=== LAYER SETUP ===</a:t>
            </a:r>
          </a:p>
          <a:p>
            <a:r>
              <a:t>Layer 'outcome_0': Shows feedback when btn_choice_0 clicked</a:t>
            </a:r>
          </a:p>
          <a:p>
            <a:r>
              <a:t>Layer 'outcome_1': Shows feedback when btn_choice_1 clicked</a:t>
            </a:r>
          </a:p>
          <a:p>
            <a:r>
              <a:t>Layer 'outcome_2': Shows feedback when btn_choice_2 clicked</a:t>
            </a:r>
          </a:p>
          <a:p/>
          <a:p>
            <a:r>
              <a:t>=== TRIGGER SETUP ===</a:t>
            </a:r>
          </a:p>
          <a:p>
            <a:r>
              <a:t>Trigger 1: Show layer 'outcome_0' when user clicks btn_choice_0 [INCORRECT]</a:t>
            </a:r>
          </a:p>
          <a:p>
            <a:r>
              <a:t>Trigger 2: Show layer 'outcome_1' when user clicks btn_choice_1 [CORRECT]</a:t>
            </a:r>
          </a:p>
          <a:p>
            <a:r>
              <a:t>Trigger 3: Show layer 'outcome_2' when user clicks btn_choice_2 [INCORRECT]</a:t>
            </a:r>
          </a:p>
          <a:p/>
          <a:p>
            <a:r>
              <a:t>=== FEEDBACK CONTENT ===</a:t>
            </a:r>
          </a:p>
          <a:p>
            <a:r>
              <a:t>outcome_1 (Correct): احسنت! هذا هو القرار الصحيح.</a:t>
            </a:r>
          </a:p>
          <a:p>
            <a:r>
              <a:t>outcome_0 (Incorrect): هذا ليس القرار الأفضل. حاول مرة أخرى.</a:t>
            </a:r>
          </a:p>
          <a:p>
            <a:r>
              <a:t>outcome_2 (Incorrect): هذا ليس القرار الأفضل. حاول مرة أخرى.</a:t>
            </a:r>
          </a:p>
          <a:p/>
          <a:p>
            <a:r>
              <a:t>=== NARRATOR SCRIPT ===</a:t>
            </a:r>
          </a:p>
          <a:p>
            <a:r>
              <a:t>أنت مصمم تعليمي وطُلب منك إنشاء محاضرة تفاعلية عن الذكاء الاصطناعي. المحتوى يحتوي على 5 مفاهيم أساسية و3 تطبيقات عملية. ما أفضل نهج للتصميم؟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المحاضرة التجريبية: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اختبار شامل للمحرك المعياري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المحاضرة التجريبية: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اختبار شامل للمحرك المعياري الجديد</a:t>
            </a:r>
          </a:p>
        </p:txBody>
      </p:sp>
      <p:sp>
        <p:nvSpPr>
          <p:cNvPr id="5" name="btn_start">
            <a:hlinkClick action="ppaction://hlinksldjump" r:id="rId5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الأهداف التعليمية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الأهداف التعليمية</a:t>
            </a:r>
          </a:p>
        </p:txBody>
      </p:sp>
      <p:sp>
        <p:nvSpPr>
          <p:cNvPr id="6" name="txt_obj_intro"/>
          <p:cNvSpPr txBox="1"/>
          <p:nvPr/>
        </p:nvSpPr>
        <p:spPr>
          <a:xfrm>
            <a:off x="6280654" y="1830945"/>
            <a:ext cx="536194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يتوقع منك في نهاية هذه المحاضرة أن تكون قادرًا على:</a:t>
            </a:r>
          </a:p>
        </p:txBody>
      </p:sp>
      <p:pic>
        <p:nvPicPr>
          <p:cNvPr id="7" name="bg_obj_1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2315612"/>
            <a:ext cx="11029824" cy="600002"/>
          </a:xfrm>
          <a:prstGeom prst="rect">
            <a:avLst/>
          </a:prstGeom>
        </p:spPr>
      </p:pic>
      <p:pic>
        <p:nvPicPr>
          <p:cNvPr id="8" name="icon_obj_1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2315612"/>
            <a:ext cx="703228" cy="600002"/>
          </a:xfrm>
          <a:prstGeom prst="rect">
            <a:avLst/>
          </a:prstGeom>
        </p:spPr>
      </p:pic>
      <p:sp>
        <p:nvSpPr>
          <p:cNvPr id="9" name="txt_obj_1"/>
          <p:cNvSpPr txBox="1"/>
          <p:nvPr/>
        </p:nvSpPr>
        <p:spPr>
          <a:xfrm>
            <a:off x="1462617" y="2446336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التعرف على مكونات المحرك المعياري الجديد.</a:t>
            </a:r>
          </a:p>
        </p:txBody>
      </p:sp>
      <p:pic>
        <p:nvPicPr>
          <p:cNvPr id="10" name="bg_obj_2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3443740"/>
            <a:ext cx="11029824" cy="600002"/>
          </a:xfrm>
          <a:prstGeom prst="rect">
            <a:avLst/>
          </a:prstGeom>
        </p:spPr>
      </p:pic>
      <p:pic>
        <p:nvPicPr>
          <p:cNvPr id="11" name="icon_obj_2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3443740"/>
            <a:ext cx="703228" cy="600002"/>
          </a:xfrm>
          <a:prstGeom prst="rect">
            <a:avLst/>
          </a:prstGeom>
        </p:spPr>
      </p:pic>
      <p:sp>
        <p:nvSpPr>
          <p:cNvPr id="12" name="txt_obj_2"/>
          <p:cNvSpPr txBox="1"/>
          <p:nvPr/>
        </p:nvSpPr>
        <p:spPr>
          <a:xfrm>
            <a:off x="1462617" y="3574464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تطبيق أنماط القواعد البصرية المختلفة.</a:t>
            </a:r>
          </a:p>
        </p:txBody>
      </p:sp>
      <p:pic>
        <p:nvPicPr>
          <p:cNvPr id="13" name="bg_obj_3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4571868"/>
            <a:ext cx="11029824" cy="600002"/>
          </a:xfrm>
          <a:prstGeom prst="rect">
            <a:avLst/>
          </a:prstGeom>
        </p:spPr>
      </p:pic>
      <p:pic>
        <p:nvPicPr>
          <p:cNvPr id="14" name="icon_obj_3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4571868"/>
            <a:ext cx="703228" cy="600002"/>
          </a:xfrm>
          <a:prstGeom prst="rect">
            <a:avLst/>
          </a:prstGeom>
        </p:spPr>
      </p:pic>
      <p:sp>
        <p:nvSpPr>
          <p:cNvPr id="15" name="txt_obj_3"/>
          <p:cNvSpPr txBox="1"/>
          <p:nvPr/>
        </p:nvSpPr>
        <p:spPr>
          <a:xfrm>
            <a:off x="1462617" y="4702592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تقييم جودة المخرجات التفاعلية.</a:t>
            </a:r>
          </a:p>
        </p:txBody>
      </p:sp>
      <p:pic>
        <p:nvPicPr>
          <p:cNvPr id="16" name="bg_obj_4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5699996"/>
            <a:ext cx="11029824" cy="600002"/>
          </a:xfrm>
          <a:prstGeom prst="rect">
            <a:avLst/>
          </a:prstGeom>
        </p:spPr>
      </p:pic>
      <p:pic>
        <p:nvPicPr>
          <p:cNvPr id="17" name="icon_obj_4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5699996"/>
            <a:ext cx="703228" cy="600002"/>
          </a:xfrm>
          <a:prstGeom prst="rect">
            <a:avLst/>
          </a:prstGeom>
        </p:spPr>
      </p:pic>
      <p:sp>
        <p:nvSpPr>
          <p:cNvPr id="18" name="txt_obj_4"/>
          <p:cNvSpPr txBox="1"/>
          <p:nvPr/>
        </p:nvSpPr>
        <p:spPr>
          <a:xfrm>
            <a:off x="1462617" y="5830720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تحليل الفروقات بين الأنماط البصرية.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أرقام المحرك الجديد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أرقام المحرك الجديد</a:t>
            </a:r>
          </a:p>
        </p:txBody>
      </p:sp>
      <p:sp>
        <p:nvSpPr>
          <p:cNvPr id="6" name="bg_depth_wash"/>
          <p:cNvSpPr/>
          <p:nvPr/>
        </p:nvSpPr>
        <p:spPr>
          <a:xfrm>
            <a:off x="6432000" y="-1080000"/>
            <a:ext cx="7200000" cy="504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_stat_1"/>
          <p:cNvSpPr/>
          <p:nvPr/>
        </p:nvSpPr>
        <p:spPr>
          <a:xfrm>
            <a:off x="900000" y="1980000"/>
            <a:ext cx="3180000" cy="30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cent_stat_1"/>
          <p:cNvSpPr/>
          <p:nvPr/>
        </p:nvSpPr>
        <p:spPr>
          <a:xfrm>
            <a:off x="900000" y="1980000"/>
            <a:ext cx="3180000" cy="180000"/>
          </a:xfrm>
          <a:prstGeom prst="rect">
            <a:avLst/>
          </a:prstGeom>
          <a:ln>
            <a:noFill/>
          </a:ln>
          <a:gradFill>
            <a:gsLst>
              <a:gs pos="0">
                <a:srgbClr val="2D588C"/>
              </a:gs>
              <a:gs pos="100000">
                <a:srgbClr val="5580B4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stat_1_number"/>
          <p:cNvSpPr txBox="1"/>
          <p:nvPr/>
        </p:nvSpPr>
        <p:spPr>
          <a:xfrm>
            <a:off x="1080000" y="2448000"/>
            <a:ext cx="2820000" cy="900000"/>
          </a:xfrm>
          <a:prstGeom prst="rect">
            <a:avLst/>
          </a:prstGeom>
          <a:noFill/>
          <a:effectLst>
            <a:glow rad="76200">
              <a:srgbClr val="2D588C">
                <a:alpha val="25000"/>
              </a:srgbClr>
            </a:glow>
          </a:effectLst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48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28</a:t>
            </a:r>
          </a:p>
        </p:txBody>
      </p:sp>
      <p:sp>
        <p:nvSpPr>
          <p:cNvPr id="10" name="icon_trend_1"/>
          <p:cNvSpPr txBox="1"/>
          <p:nvPr/>
        </p:nvSpPr>
        <p:spPr>
          <a:xfrm>
            <a:off x="1080000" y="3348000"/>
            <a:ext cx="282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4CAF50"/>
                </a:solidFill>
                <a:cs typeface="Tajawal ExtraBold"/>
                <a:latin typeface="Tajawal ExtraBold"/>
                <a:ea typeface="Tajawal ExtraBold"/>
              </a:rPr>
              <a:t>↑</a:t>
            </a:r>
          </a:p>
        </p:txBody>
      </p:sp>
      <p:sp>
        <p:nvSpPr>
          <p:cNvPr id="11" name="txt_stat_1_label"/>
          <p:cNvSpPr txBox="1"/>
          <p:nvPr/>
        </p:nvSpPr>
        <p:spPr>
          <a:xfrm>
            <a:off x="1008000" y="3780000"/>
            <a:ext cx="2964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6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طريقة شريحة</a:t>
            </a:r>
          </a:p>
        </p:txBody>
      </p:sp>
      <p:sp>
        <p:nvSpPr>
          <p:cNvPr id="12" name="txt_stat_1_desc"/>
          <p:cNvSpPr txBox="1"/>
          <p:nvPr/>
        </p:nvSpPr>
        <p:spPr>
          <a:xfrm>
            <a:off x="1008000" y="4428000"/>
            <a:ext cx="2964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2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أساليب متنوعة</a:t>
            </a:r>
          </a:p>
        </p:txBody>
      </p:sp>
      <p:sp>
        <p:nvSpPr>
          <p:cNvPr id="13" name="card_stat_2"/>
          <p:cNvSpPr/>
          <p:nvPr/>
        </p:nvSpPr>
        <p:spPr>
          <a:xfrm>
            <a:off x="4440000" y="1980000"/>
            <a:ext cx="3180000" cy="30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ccent_stat_2"/>
          <p:cNvSpPr/>
          <p:nvPr/>
        </p:nvSpPr>
        <p:spPr>
          <a:xfrm>
            <a:off x="4440000" y="1980000"/>
            <a:ext cx="3180000" cy="180000"/>
          </a:xfrm>
          <a:prstGeom prst="rect">
            <a:avLst/>
          </a:prstGeom>
          <a:ln>
            <a:noFill/>
          </a:ln>
          <a:gradFill>
            <a:gsLst>
              <a:gs pos="0">
                <a:srgbClr val="156082"/>
              </a:gs>
              <a:gs pos="100000">
                <a:srgbClr val="3D88AA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_stat_2_number"/>
          <p:cNvSpPr txBox="1"/>
          <p:nvPr/>
        </p:nvSpPr>
        <p:spPr>
          <a:xfrm>
            <a:off x="4620000" y="2448000"/>
            <a:ext cx="2820000" cy="900000"/>
          </a:xfrm>
          <a:prstGeom prst="rect">
            <a:avLst/>
          </a:prstGeom>
          <a:noFill/>
          <a:effectLst>
            <a:glow rad="76200">
              <a:srgbClr val="156082">
                <a:alpha val="25000"/>
              </a:srgbClr>
            </a:glow>
          </a:effectLst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48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7</a:t>
            </a:r>
          </a:p>
        </p:txBody>
      </p:sp>
      <p:sp>
        <p:nvSpPr>
          <p:cNvPr id="16" name="icon_trend_2"/>
          <p:cNvSpPr txBox="1"/>
          <p:nvPr/>
        </p:nvSpPr>
        <p:spPr>
          <a:xfrm>
            <a:off x="4620000" y="3348000"/>
            <a:ext cx="282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4CAF50"/>
                </a:solidFill>
                <a:cs typeface="Tajawal ExtraBold"/>
                <a:latin typeface="Tajawal ExtraBold"/>
                <a:ea typeface="Tajawal ExtraBold"/>
              </a:rPr>
              <a:t>↑</a:t>
            </a:r>
          </a:p>
        </p:txBody>
      </p:sp>
      <p:sp>
        <p:nvSpPr>
          <p:cNvPr id="17" name="txt_stat_2_label"/>
          <p:cNvSpPr txBox="1"/>
          <p:nvPr/>
        </p:nvSpPr>
        <p:spPr>
          <a:xfrm>
            <a:off x="4548000" y="3780000"/>
            <a:ext cx="2964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6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وحدات معيارية</a:t>
            </a:r>
          </a:p>
        </p:txBody>
      </p:sp>
      <p:sp>
        <p:nvSpPr>
          <p:cNvPr id="18" name="txt_stat_2_desc"/>
          <p:cNvSpPr txBox="1"/>
          <p:nvPr/>
        </p:nvSpPr>
        <p:spPr>
          <a:xfrm>
            <a:off x="4548000" y="4428000"/>
            <a:ext cx="2964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2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بنية نظيفة</a:t>
            </a:r>
          </a:p>
        </p:txBody>
      </p:sp>
      <p:sp>
        <p:nvSpPr>
          <p:cNvPr id="19" name="card_stat_3"/>
          <p:cNvSpPr/>
          <p:nvPr/>
        </p:nvSpPr>
        <p:spPr>
          <a:xfrm>
            <a:off x="7980000" y="1980000"/>
            <a:ext cx="3180000" cy="30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ccent_stat_3"/>
          <p:cNvSpPr/>
          <p:nvPr/>
        </p:nvSpPr>
        <p:spPr>
          <a:xfrm>
            <a:off x="7980000" y="1980000"/>
            <a:ext cx="3180000" cy="180000"/>
          </a:xfrm>
          <a:prstGeom prst="rect">
            <a:avLst/>
          </a:prstGeom>
          <a:ln>
            <a:noFill/>
          </a:ln>
          <a:gradFill>
            <a:gsLst>
              <a:gs pos="0">
                <a:srgbClr val="009688"/>
              </a:gs>
              <a:gs pos="100000">
                <a:srgbClr val="28BEB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xt_stat_3_number"/>
          <p:cNvSpPr txBox="1"/>
          <p:nvPr/>
        </p:nvSpPr>
        <p:spPr>
          <a:xfrm>
            <a:off x="8160000" y="2448000"/>
            <a:ext cx="2820000" cy="900000"/>
          </a:xfrm>
          <a:prstGeom prst="rect">
            <a:avLst/>
          </a:prstGeom>
          <a:noFill/>
          <a:effectLst>
            <a:glow rad="76200">
              <a:srgbClr val="009688">
                <a:alpha val="25000"/>
              </a:srgbClr>
            </a:glow>
          </a:effectLst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48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13</a:t>
            </a:r>
          </a:p>
        </p:txBody>
      </p:sp>
      <p:sp>
        <p:nvSpPr>
          <p:cNvPr id="22" name="icon_trend_3"/>
          <p:cNvSpPr txBox="1"/>
          <p:nvPr/>
        </p:nvSpPr>
        <p:spPr>
          <a:xfrm>
            <a:off x="8160000" y="3348000"/>
            <a:ext cx="282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4CAF50"/>
                </a:solidFill>
                <a:cs typeface="Tajawal ExtraBold"/>
                <a:latin typeface="Tajawal ExtraBold"/>
                <a:ea typeface="Tajawal ExtraBold"/>
              </a:rPr>
              <a:t>↑</a:t>
            </a:r>
          </a:p>
        </p:txBody>
      </p:sp>
      <p:sp>
        <p:nvSpPr>
          <p:cNvPr id="23" name="txt_stat_3_label"/>
          <p:cNvSpPr txBox="1"/>
          <p:nvPr/>
        </p:nvSpPr>
        <p:spPr>
          <a:xfrm>
            <a:off x="8088000" y="3780000"/>
            <a:ext cx="2964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6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مرجع تعليمي</a:t>
            </a:r>
          </a:p>
        </p:txBody>
      </p:sp>
      <p:sp>
        <p:nvSpPr>
          <p:cNvPr id="24" name="txt_stat_3_desc"/>
          <p:cNvSpPr txBox="1"/>
          <p:nvPr/>
        </p:nvSpPr>
        <p:spPr>
          <a:xfrm>
            <a:off x="8088000" y="4428000"/>
            <a:ext cx="2964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2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توثيق شامل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المحور الأول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المحور الأول</a:t>
            </a:r>
          </a:p>
        </p:txBody>
      </p:sp>
      <p:sp>
        <p:nvSpPr>
          <p:cNvPr id="13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القواعد البصرية</a:t>
            </a:r>
          </a:p>
        </p:txBody>
      </p:sp>
      <p:sp>
        <p:nvSpPr>
          <p:cNvPr id="15" name="dot_section_1"/>
          <p:cNvSpPr/>
          <p:nvPr/>
        </p:nvSpPr>
        <p:spPr>
          <a:xfrm>
            <a:off x="5376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_section_2"/>
          <p:cNvSpPr/>
          <p:nvPr/>
        </p:nvSpPr>
        <p:spPr>
          <a:xfrm>
            <a:off x="5988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3"/>
          <p:cNvSpPr/>
          <p:nvPr/>
        </p:nvSpPr>
        <p:spPr>
          <a:xfrm>
            <a:off x="6564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مراحل بناء المحاضرة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مراحل بناء المحاضرة</a:t>
            </a:r>
          </a:p>
        </p:txBody>
      </p:sp>
      <p:sp>
        <p:nvSpPr>
          <p:cNvPr id="6" name="bg_depth_wash"/>
          <p:cNvSpPr/>
          <p:nvPr/>
        </p:nvSpPr>
        <p:spPr>
          <a:xfrm>
            <a:off x="6432000" y="-1080000"/>
            <a:ext cx="7200000" cy="5040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_step_1"/>
          <p:cNvSpPr/>
          <p:nvPr/>
        </p:nvSpPr>
        <p:spPr>
          <a:xfrm>
            <a:off x="9009000" y="1980000"/>
            <a:ext cx="2331000" cy="180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cent_step_1"/>
          <p:cNvSpPr/>
          <p:nvPr/>
        </p:nvSpPr>
        <p:spPr>
          <a:xfrm>
            <a:off x="9009000" y="1980000"/>
            <a:ext cx="2331000" cy="180000"/>
          </a:xfrm>
          <a:prstGeom prst="rect">
            <a:avLst/>
          </a:prstGeom>
          <a:ln>
            <a:noFill/>
          </a:ln>
          <a:gradFill>
            <a:gsLst>
              <a:gs pos="0">
                <a:srgbClr val="FF9800"/>
              </a:gs>
              <a:gs pos="100000">
                <a:srgbClr val="FFC02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_step_1"/>
          <p:cNvSpPr/>
          <p:nvPr/>
        </p:nvSpPr>
        <p:spPr>
          <a:xfrm>
            <a:off x="9922500" y="2268000"/>
            <a:ext cx="503999" cy="503999"/>
          </a:xfrm>
          <a:prstGeom prst="ellipse">
            <a:avLst/>
          </a:prstGeom>
          <a:solidFill>
            <a:srgbClr val="FF9800"/>
          </a:solidFill>
          <a:ln>
            <a:noFill/>
          </a:ln>
          <a:effectLst>
            <a:glow rad="76200">
              <a:srgbClr val="FF98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0" name="txt_step_1_label"/>
          <p:cNvSpPr txBox="1"/>
          <p:nvPr/>
        </p:nvSpPr>
        <p:spPr>
          <a:xfrm>
            <a:off x="9117000" y="2843999"/>
            <a:ext cx="2115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تحليل المحتوى</a:t>
            </a:r>
          </a:p>
        </p:txBody>
      </p:sp>
      <p:sp>
        <p:nvSpPr>
          <p:cNvPr id="11" name="txt_step_1_desc"/>
          <p:cNvSpPr txBox="1"/>
          <p:nvPr/>
        </p:nvSpPr>
        <p:spPr>
          <a:xfrm>
            <a:off x="9117000" y="3275999"/>
            <a:ext cx="2115000" cy="46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قراءة المادة الخام</a:t>
            </a:r>
          </a:p>
        </p:txBody>
      </p:sp>
      <p:sp>
        <p:nvSpPr>
          <p:cNvPr id="12" name="arrow_1_2"/>
          <p:cNvSpPr/>
          <p:nvPr/>
        </p:nvSpPr>
        <p:spPr>
          <a:xfrm rot="10800000">
            <a:off x="8577000" y="2736000"/>
            <a:ext cx="432000" cy="288000"/>
          </a:xfrm>
          <a:prstGeom prst="notchedRightArrow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_step_2"/>
          <p:cNvSpPr/>
          <p:nvPr/>
        </p:nvSpPr>
        <p:spPr>
          <a:xfrm>
            <a:off x="6246000" y="1980000"/>
            <a:ext cx="2331000" cy="180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ccent_step_2"/>
          <p:cNvSpPr/>
          <p:nvPr/>
        </p:nvSpPr>
        <p:spPr>
          <a:xfrm>
            <a:off x="6246000" y="1980000"/>
            <a:ext cx="2331000" cy="180000"/>
          </a:xfrm>
          <a:prstGeom prst="rect">
            <a:avLst/>
          </a:prstGeom>
          <a:ln>
            <a:noFill/>
          </a:ln>
          <a:gradFill>
            <a:gsLst>
              <a:gs pos="0">
                <a:srgbClr val="4A7AAE"/>
              </a:gs>
              <a:gs pos="100000">
                <a:srgbClr val="72A2D6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um_step_2"/>
          <p:cNvSpPr/>
          <p:nvPr/>
        </p:nvSpPr>
        <p:spPr>
          <a:xfrm>
            <a:off x="7159500" y="2268000"/>
            <a:ext cx="503999" cy="503999"/>
          </a:xfrm>
          <a:prstGeom prst="ellipse">
            <a:avLst/>
          </a:prstGeom>
          <a:solidFill>
            <a:srgbClr val="4A7AAE"/>
          </a:solidFill>
          <a:ln>
            <a:noFill/>
          </a:ln>
          <a:effectLst>
            <a:glow rad="76200">
              <a:srgbClr val="4A7AAE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6" name="txt_step_2_label"/>
          <p:cNvSpPr txBox="1"/>
          <p:nvPr/>
        </p:nvSpPr>
        <p:spPr>
          <a:xfrm>
            <a:off x="6354000" y="2843999"/>
            <a:ext cx="2115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صياغة الأهداف</a:t>
            </a:r>
          </a:p>
        </p:txBody>
      </p:sp>
      <p:sp>
        <p:nvSpPr>
          <p:cNvPr id="17" name="txt_step_2_desc"/>
          <p:cNvSpPr txBox="1"/>
          <p:nvPr/>
        </p:nvSpPr>
        <p:spPr>
          <a:xfrm>
            <a:off x="6354000" y="3275999"/>
            <a:ext cx="2115000" cy="46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تصنيف بلوم</a:t>
            </a:r>
          </a:p>
        </p:txBody>
      </p:sp>
      <p:sp>
        <p:nvSpPr>
          <p:cNvPr id="18" name="arrow_2_3"/>
          <p:cNvSpPr/>
          <p:nvPr/>
        </p:nvSpPr>
        <p:spPr>
          <a:xfrm rot="10800000">
            <a:off x="5814000" y="2736000"/>
            <a:ext cx="432000" cy="288000"/>
          </a:xfrm>
          <a:prstGeom prst="notchedRightArrow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_step_3"/>
          <p:cNvSpPr/>
          <p:nvPr/>
        </p:nvSpPr>
        <p:spPr>
          <a:xfrm>
            <a:off x="3483000" y="1980000"/>
            <a:ext cx="2331000" cy="180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ccent_step_3"/>
          <p:cNvSpPr/>
          <p:nvPr/>
        </p:nvSpPr>
        <p:spPr>
          <a:xfrm>
            <a:off x="3483000" y="1980000"/>
            <a:ext cx="2331000" cy="180000"/>
          </a:xfrm>
          <a:prstGeom prst="rect">
            <a:avLst/>
          </a:prstGeom>
          <a:ln>
            <a:noFill/>
          </a:ln>
          <a:gradFill>
            <a:gsLst>
              <a:gs pos="0">
                <a:srgbClr val="2D588C"/>
              </a:gs>
              <a:gs pos="100000">
                <a:srgbClr val="5580B4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um_step_3"/>
          <p:cNvSpPr/>
          <p:nvPr/>
        </p:nvSpPr>
        <p:spPr>
          <a:xfrm>
            <a:off x="4396500" y="2268000"/>
            <a:ext cx="503999" cy="503999"/>
          </a:xfrm>
          <a:prstGeom prst="ellipse">
            <a:avLst/>
          </a:prstGeom>
          <a:solidFill>
            <a:srgbClr val="2D588C"/>
          </a:solidFill>
          <a:ln>
            <a:noFill/>
          </a:ln>
          <a:effectLst>
            <a:glow rad="76200">
              <a:srgbClr val="2D588C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22" name="txt_step_3_label"/>
          <p:cNvSpPr txBox="1"/>
          <p:nvPr/>
        </p:nvSpPr>
        <p:spPr>
          <a:xfrm>
            <a:off x="3591000" y="2843999"/>
            <a:ext cx="2115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تصميم الشرائح</a:t>
            </a:r>
          </a:p>
        </p:txBody>
      </p:sp>
      <p:sp>
        <p:nvSpPr>
          <p:cNvPr id="23" name="txt_step_3_desc"/>
          <p:cNvSpPr txBox="1"/>
          <p:nvPr/>
        </p:nvSpPr>
        <p:spPr>
          <a:xfrm>
            <a:off x="3591000" y="3275999"/>
            <a:ext cx="2115000" cy="46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القواعد البصرية</a:t>
            </a:r>
          </a:p>
        </p:txBody>
      </p:sp>
      <p:sp>
        <p:nvSpPr>
          <p:cNvPr id="24" name="arrow_3_4"/>
          <p:cNvSpPr/>
          <p:nvPr/>
        </p:nvSpPr>
        <p:spPr>
          <a:xfrm rot="10800000">
            <a:off x="3051000" y="2736000"/>
            <a:ext cx="432000" cy="288000"/>
          </a:xfrm>
          <a:prstGeom prst="notchedRightArrow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_step_4"/>
          <p:cNvSpPr/>
          <p:nvPr/>
        </p:nvSpPr>
        <p:spPr>
          <a:xfrm>
            <a:off x="720000" y="1980000"/>
            <a:ext cx="2331000" cy="180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ccent_step_4"/>
          <p:cNvSpPr/>
          <p:nvPr/>
        </p:nvSpPr>
        <p:spPr>
          <a:xfrm>
            <a:off x="720000" y="1980000"/>
            <a:ext cx="2331000" cy="180000"/>
          </a:xfrm>
          <a:prstGeom prst="rect">
            <a:avLst/>
          </a:prstGeom>
          <a:ln>
            <a:noFill/>
          </a:ln>
          <a:gradFill>
            <a:gsLst>
              <a:gs pos="0">
                <a:srgbClr val="156082"/>
              </a:gs>
              <a:gs pos="100000">
                <a:srgbClr val="3D88AA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um_step_4"/>
          <p:cNvSpPr/>
          <p:nvPr/>
        </p:nvSpPr>
        <p:spPr>
          <a:xfrm>
            <a:off x="1633500" y="2268000"/>
            <a:ext cx="503999" cy="503999"/>
          </a:xfrm>
          <a:prstGeom prst="ellipse">
            <a:avLst/>
          </a:prstGeom>
          <a:solidFill>
            <a:srgbClr val="156082"/>
          </a:solidFill>
          <a:ln>
            <a:noFill/>
          </a:ln>
          <a:effectLst>
            <a:glow rad="76200">
              <a:srgbClr val="156082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4</a:t>
            </a:r>
          </a:p>
        </p:txBody>
      </p:sp>
      <p:sp>
        <p:nvSpPr>
          <p:cNvPr id="28" name="txt_step_4_label"/>
          <p:cNvSpPr txBox="1"/>
          <p:nvPr/>
        </p:nvSpPr>
        <p:spPr>
          <a:xfrm>
            <a:off x="828000" y="2843999"/>
            <a:ext cx="2115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المراجعة</a:t>
            </a:r>
          </a:p>
        </p:txBody>
      </p:sp>
      <p:sp>
        <p:nvSpPr>
          <p:cNvPr id="29" name="txt_step_4_desc"/>
          <p:cNvSpPr txBox="1"/>
          <p:nvPr/>
        </p:nvSpPr>
        <p:spPr>
          <a:xfrm>
            <a:off x="828000" y="3275999"/>
            <a:ext cx="2115000" cy="46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/>
            <a:r>
              <a:rPr sz="11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ضمان الجودة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رؤية التصميم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رؤية التصميم</a:t>
            </a:r>
          </a:p>
        </p:txBody>
      </p:sp>
      <p:sp>
        <p:nvSpPr>
          <p:cNvPr id="6" name="bg_depth_wash"/>
          <p:cNvSpPr/>
          <p:nvPr/>
        </p:nvSpPr>
        <p:spPr>
          <a:xfrm>
            <a:off x="2856000" y="1269000"/>
            <a:ext cx="6480000" cy="4320000"/>
          </a:xfrm>
          <a:prstGeom prst="ellipse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quote_mark_right"/>
          <p:cNvSpPr txBox="1"/>
          <p:nvPr/>
        </p:nvSpPr>
        <p:spPr>
          <a:xfrm>
            <a:off x="7200000" y="1620000"/>
            <a:ext cx="2160000" cy="1440000"/>
          </a:xfrm>
          <a:prstGeom prst="rect">
            <a:avLst/>
          </a:prstGeom>
          <a:noFill/>
          <a:effectLst>
            <a:softEdge rad="101600"/>
          </a:effectLst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12000" b="0" lang="ar-JO">
                <a:solidFill>
                  <a:srgbClr val="E0E8F0"/>
                </a:solidFill>
                <a:cs typeface="Tajawal ExtraBold"/>
                <a:latin typeface="Tajawal ExtraBold"/>
                <a:ea typeface="Tajawal ExtraBold"/>
              </a:rPr>
              <a:t>»</a:t>
            </a:r>
          </a:p>
        </p:txBody>
      </p:sp>
      <p:sp>
        <p:nvSpPr>
          <p:cNvPr id="8" name="deco_quote_mark_left"/>
          <p:cNvSpPr txBox="1"/>
          <p:nvPr/>
        </p:nvSpPr>
        <p:spPr>
          <a:xfrm>
            <a:off x="2520000" y="3240000"/>
            <a:ext cx="2160000" cy="1440000"/>
          </a:xfrm>
          <a:prstGeom prst="rect">
            <a:avLst/>
          </a:prstGeom>
          <a:noFill/>
          <a:effectLst>
            <a:softEdge rad="101600"/>
          </a:effectLst>
        </p:spPr>
        <p:txBody>
          <a:bodyPr wrap="non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12000" b="0" lang="ar-JO">
                <a:solidFill>
                  <a:srgbClr val="E0E8F0"/>
                </a:solidFill>
                <a:cs typeface="Tajawal ExtraBold"/>
                <a:latin typeface="Tajawal ExtraBold"/>
                <a:ea typeface="Tajawal ExtraBold"/>
              </a:rPr>
              <a:t>«</a:t>
            </a:r>
          </a:p>
        </p:txBody>
      </p:sp>
      <p:sp>
        <p:nvSpPr>
          <p:cNvPr id="9" name="txt_quote"/>
          <p:cNvSpPr txBox="1"/>
          <p:nvPr/>
        </p:nvSpPr>
        <p:spPr>
          <a:xfrm>
            <a:off x="2136000" y="2160000"/>
            <a:ext cx="7920000" cy="18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>
              <a:lnSpc>
                <a:spcPct val="150000"/>
              </a:lnSpc>
            </a:pPr>
            <a:r>
              <a:rPr sz="2600" b="0" lang="ar-JO">
                <a:solidFill>
                  <a:srgbClr val="1E3D63"/>
                </a:solidFill>
                <a:cs typeface="Tajawal Medium"/>
                <a:latin typeface="Tajawal Medium"/>
                <a:ea typeface="Tajawal Medium"/>
              </a:rPr>
              <a:t>المحرك الجيد لا يُنتج شرائح — بل يُنتج تجربة تعلم متكاملة</a:t>
            </a:r>
          </a:p>
        </p:txBody>
      </p:sp>
      <p:sp>
        <p:nvSpPr>
          <p:cNvPr id="10" name="txt_attribution"/>
          <p:cNvSpPr txBox="1"/>
          <p:nvPr/>
        </p:nvSpPr>
        <p:spPr>
          <a:xfrm>
            <a:off x="2136000" y="4140000"/>
            <a:ext cx="7920000" cy="540000"/>
          </a:xfrm>
          <a:prstGeom prst="rect">
            <a:avLst/>
          </a:prstGeom>
          <a:noFill/>
        </p:spPr>
        <p:txBody>
          <a:bodyPr wrap="none" lIns="90000" rIns="90000" tIns="46800" bIns="46800">
            <a:noAutofit/>
          </a:bodyPr>
          <a:lstStyle/>
          <a:p>
            <a:pPr algn="ctr" rtl="1"/>
            <a:r>
              <a:rPr sz="14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— فلسفة المحرك المعياري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أنواع الشرائح التفاعلية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أنواع الشرائح التفاعلية</a:t>
            </a:r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card_1_title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اختيار من متعدد</a:t>
            </a:r>
          </a:p>
        </p:txBody>
      </p:sp>
      <p:sp>
        <p:nvSpPr>
          <p:cNvPr id="9" name="txt_card_1_body"/>
          <p:cNvSpPr txBox="1"/>
          <p:nvPr/>
        </p:nvSpPr>
        <p:spPr>
          <a:xfrm>
            <a:off x="1080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أسئلة مع شارات حروف عربية</a:t>
            </a:r>
          </a:p>
        </p:txBody>
      </p:sp>
      <p:sp>
        <p:nvSpPr>
          <p:cNvPr id="10" name="card_2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000" y="1980000"/>
            <a:ext cx="3228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card_2_title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اسحب وأفلت</a:t>
            </a:r>
          </a:p>
        </p:txBody>
      </p:sp>
      <p:sp>
        <p:nvSpPr>
          <p:cNvPr id="13" name="txt_card_2_body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تصنيف العناصر في مناطق</a:t>
            </a:r>
          </a:p>
        </p:txBody>
      </p:sp>
      <p:sp>
        <p:nvSpPr>
          <p:cNvPr id="14" name="card_3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09688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32000" y="1980000"/>
            <a:ext cx="3228000" cy="43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xt_card_3_title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سيناريو متفرع</a:t>
            </a:r>
          </a:p>
        </p:txBody>
      </p:sp>
      <p:sp>
        <p:nvSpPr>
          <p:cNvPr id="17" name="txt_card_3_body"/>
          <p:cNvSpPr txBox="1"/>
          <p:nvPr/>
        </p:nvSpPr>
        <p:spPr>
          <a:xfrm>
            <a:off x="8112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قرارات مع نتائج مختلفة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كم عدد أساليب الشرائح المتاحة 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6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كم عدد أساليب الشرائح المتاحة في المحرك الجديد؟</a:t>
            </a:r>
          </a:p>
        </p:txBody>
      </p:sp>
      <p:sp>
        <p:nvSpPr>
          <p:cNvPr id="7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t_a"/>
          <p:cNvSpPr/>
          <p:nvPr/>
        </p:nvSpPr>
        <p:spPr>
          <a:xfrm>
            <a:off x="1026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9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12 أسلوب</a:t>
            </a:r>
          </a:p>
        </p:txBody>
      </p:sp>
      <p:sp>
        <p:nvSpPr>
          <p:cNvPr id="10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pt_b"/>
          <p:cNvSpPr/>
          <p:nvPr/>
        </p:nvSpPr>
        <p:spPr>
          <a:xfrm>
            <a:off x="1026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2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28 أسلوب</a:t>
            </a:r>
          </a:p>
        </p:txBody>
      </p:sp>
      <p:sp>
        <p:nvSpPr>
          <p:cNvPr id="13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t_c"/>
          <p:cNvSpPr/>
          <p:nvPr/>
        </p:nvSpPr>
        <p:spPr>
          <a:xfrm>
            <a:off x="1026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5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15 أسلوب</a:t>
            </a:r>
          </a:p>
        </p:txBody>
      </p:sp>
      <p:sp>
        <p:nvSpPr>
          <p:cNvPr id="16" name="bg_opt_d"/>
          <p:cNvSpPr/>
          <p:nvPr/>
        </p:nvSpPr>
        <p:spPr>
          <a:xfrm>
            <a:off x="900000" y="5040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pt_d"/>
          <p:cNvSpPr/>
          <p:nvPr/>
        </p:nvSpPr>
        <p:spPr>
          <a:xfrm>
            <a:off x="10260000" y="5112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18" name="txt_opt_d"/>
          <p:cNvSpPr txBox="1"/>
          <p:nvPr/>
        </p:nvSpPr>
        <p:spPr>
          <a:xfrm>
            <a:off x="1080000" y="5076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20 أسلوب</a:t>
            </a:r>
          </a:p>
        </p:txBody>
      </p:sp>
      <p:sp>
        <p:nvSpPr>
          <p:cNvPr id="19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سيناريو تطبيقي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سيناريو تطبيقي</a:t>
            </a:r>
          </a:p>
        </p:txBody>
      </p:sp>
      <p:sp>
        <p:nvSpPr>
          <p:cNvPr id="6" name="bg_situation"/>
          <p:cNvSpPr/>
          <p:nvPr/>
        </p:nvSpPr>
        <p:spPr>
          <a:xfrm>
            <a:off x="900000" y="1620000"/>
            <a:ext cx="10260000" cy="180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cent_situation_bar"/>
          <p:cNvSpPr/>
          <p:nvPr/>
        </p:nvSpPr>
        <p:spPr>
          <a:xfrm>
            <a:off x="10980000" y="1620000"/>
            <a:ext cx="144000" cy="1800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situation"/>
          <p:cNvSpPr txBox="1"/>
          <p:nvPr/>
        </p:nvSpPr>
        <p:spPr>
          <a:xfrm>
            <a:off x="1260000" y="1800000"/>
            <a:ext cx="9540000" cy="14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أنت مصمم تعليمي وطُلب منك إنشاء محاضرة تفاعلية عن الذكاء الاصطناعي. المحتوى يحتوي على 5 مفاهيم أساسية و3 تطبيقات عملية. ما أفضل نهج للتصميم؟</a:t>
            </a:r>
          </a:p>
        </p:txBody>
      </p:sp>
      <p:sp>
        <p:nvSpPr>
          <p:cNvPr id="9" name="btn_choice_0"/>
          <p:cNvSpPr/>
          <p:nvPr/>
        </p:nvSpPr>
        <p:spPr>
          <a:xfrm>
            <a:off x="900000" y="3780000"/>
            <a:ext cx="3228000" cy="1260000"/>
          </a:xfrm>
          <a:prstGeom prst="roundRect">
            <a:avLst>
              <a:gd name="adj" fmla="val 6000"/>
            </a:avLst>
          </a:prstGeom>
          <a:solidFill>
            <a:srgbClr val="2D588C"/>
          </a:solidFill>
          <a:ln>
            <a:noFill/>
          </a:ln>
          <a:effectLst>
            <a:outerShdw blurRad="63500" dist="38100" dir="2700000" rotWithShape="0">
              <a:srgbClr val="00000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con_choice_0"/>
          <p:cNvSpPr/>
          <p:nvPr/>
        </p:nvSpPr>
        <p:spPr>
          <a:xfrm>
            <a:off x="3552000" y="3888000"/>
            <a:ext cx="468000" cy="46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1" name="txt_choice_0"/>
          <p:cNvSpPr txBox="1"/>
          <p:nvPr/>
        </p:nvSpPr>
        <p:spPr>
          <a:xfrm>
            <a:off x="1080000" y="4068000"/>
            <a:ext cx="2868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وضع كل المحتوى في شرائح نصية متتالية</a:t>
            </a:r>
          </a:p>
        </p:txBody>
      </p:sp>
      <p:sp>
        <p:nvSpPr>
          <p:cNvPr id="12" name="btn_choice_1"/>
          <p:cNvSpPr/>
          <p:nvPr/>
        </p:nvSpPr>
        <p:spPr>
          <a:xfrm>
            <a:off x="4416000" y="3780000"/>
            <a:ext cx="3228000" cy="1260000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>
            <a:noFill/>
          </a:ln>
          <a:effectLst>
            <a:outerShdw blurRad="63500" dist="38100" dir="2700000" rotWithShape="0">
              <a:srgbClr val="00000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con_choice_1"/>
          <p:cNvSpPr/>
          <p:nvPr/>
        </p:nvSpPr>
        <p:spPr>
          <a:xfrm>
            <a:off x="7068000" y="3888000"/>
            <a:ext cx="468000" cy="46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4" name="txt_choice_1"/>
          <p:cNvSpPr txBox="1"/>
          <p:nvPr/>
        </p:nvSpPr>
        <p:spPr>
          <a:xfrm>
            <a:off x="4596000" y="4068000"/>
            <a:ext cx="2868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استخدام أنماط بصرية متنوعة مع تفاعلات بين كل قسم</a:t>
            </a:r>
          </a:p>
        </p:txBody>
      </p:sp>
      <p:sp>
        <p:nvSpPr>
          <p:cNvPr id="15" name="btn_choice_2"/>
          <p:cNvSpPr/>
          <p:nvPr/>
        </p:nvSpPr>
        <p:spPr>
          <a:xfrm>
            <a:off x="7932000" y="3780000"/>
            <a:ext cx="3228000" cy="1260000"/>
          </a:xfrm>
          <a:prstGeom prst="roundRect">
            <a:avLst>
              <a:gd name="adj" fmla="val 6000"/>
            </a:avLst>
          </a:prstGeom>
          <a:solidFill>
            <a:srgbClr val="1E3D63"/>
          </a:solidFill>
          <a:ln>
            <a:noFill/>
          </a:ln>
          <a:effectLst>
            <a:outerShdw blurRad="63500" dist="38100" dir="2700000" rotWithShape="0">
              <a:srgbClr val="000000">
                <a:alpha val="8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con_choice_2"/>
          <p:cNvSpPr/>
          <p:nvPr/>
        </p:nvSpPr>
        <p:spPr>
          <a:xfrm>
            <a:off x="10584000" y="3888000"/>
            <a:ext cx="468000" cy="46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1E3D63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7" name="txt_choice_2"/>
          <p:cNvSpPr txBox="1"/>
          <p:nvPr/>
        </p:nvSpPr>
        <p:spPr>
          <a:xfrm>
            <a:off x="8112000" y="4068000"/>
            <a:ext cx="2868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الاكتفاء بفيديو واحد يشرح كل شيء</a:t>
            </a:r>
          </a:p>
        </p:txBody>
      </p:sp>
      <p:sp>
        <p:nvSpPr>
          <p:cNvPr id="18" name="txt_choose_prompt"/>
          <p:cNvSpPr txBox="1"/>
          <p:nvPr/>
        </p:nvSpPr>
        <p:spPr>
          <a:xfrm>
            <a:off x="900000" y="3420000"/>
            <a:ext cx="1026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اختر القرار المناسب: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ملخص المحاضرة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التجريبية: اختبار شامل للمحرك المعياري الجديد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ملخّص الوحدة الدراسيّة</a:t>
            </a:r>
          </a:p>
        </p:txBody>
      </p:sp>
      <p:sp>
        <p:nvSpPr>
          <p:cNvPr id="6" name="bg_summary_card"/>
          <p:cNvSpPr/>
          <p:nvPr/>
        </p:nvSpPr>
        <p:spPr>
          <a:xfrm>
            <a:off x="720000" y="1512000"/>
            <a:ext cx="10800000" cy="378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summary"/>
          <p:cNvSpPr txBox="1"/>
          <p:nvPr/>
        </p:nvSpPr>
        <p:spPr>
          <a:xfrm>
            <a:off x="900000" y="1620000"/>
            <a:ext cx="1044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المحرك المعياري يدعم 28 أسلوب شريحة مختلف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القواعد البصرية تضمن التنوع ومنع الرتابة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التفاعلات تشمل اختيار وسحب وسيناريو متفرع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المعايير التعليمية مدمجة في سير العمل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شكراً لكم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_corner_tr_h"/>
          <p:cNvSpPr/>
          <p:nvPr/>
        </p:nvSpPr>
        <p:spPr>
          <a:xfrm>
            <a:off x="10032000" y="900000"/>
            <a:ext cx="1080000" cy="254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v"/>
          <p:cNvSpPr/>
          <p:nvPr/>
        </p:nvSpPr>
        <p:spPr>
          <a:xfrm>
            <a:off x="11112000" y="900000"/>
            <a:ext cx="25400" cy="10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thanks"/>
          <p:cNvSpPr txBox="1"/>
          <p:nvPr/>
        </p:nvSpPr>
        <p:spPr>
          <a:xfrm>
            <a:off x="1800000" y="18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9" name="accent_steps_line"/>
          <p:cNvSpPr/>
          <p:nvPr/>
        </p:nvSpPr>
        <p:spPr>
          <a:xfrm>
            <a:off x="3600000" y="2700000"/>
            <a:ext cx="5040000" cy="3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11" name="num_step_1"/>
          <p:cNvSpPr/>
          <p:nvPr/>
        </p:nvSpPr>
        <p:spPr>
          <a:xfrm>
            <a:off x="8640000" y="36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2" name="txt_step_1"/>
          <p:cNvSpPr txBox="1"/>
          <p:nvPr/>
        </p:nvSpPr>
        <p:spPr>
          <a:xfrm>
            <a:off x="2160000" y="360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تجربة المحرك مع محتوى حقيقي</a:t>
            </a:r>
          </a:p>
        </p:txBody>
      </p:sp>
      <p:sp>
        <p:nvSpPr>
          <p:cNvPr id="13" name="num_step_2"/>
          <p:cNvSpPr/>
          <p:nvPr/>
        </p:nvSpPr>
        <p:spPr>
          <a:xfrm>
            <a:off x="864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4" name="txt_step_2"/>
          <p:cNvSpPr txBox="1"/>
          <p:nvPr/>
        </p:nvSpPr>
        <p:spPr>
          <a:xfrm>
            <a:off x="2160000" y="432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مراجعة ملفات التوثيق الـ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