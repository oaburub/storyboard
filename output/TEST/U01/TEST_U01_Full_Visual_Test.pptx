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13"/>
    <p:sldId id="257" r:id="rId12"/>
    <p:sldId id="258" r:id="rId11"/>
    <p:sldId id="259" r:id="rId10"/>
    <p:sldId id="260" r:id="rId9"/>
    <p:sldId id="261" r:id="rId8"/>
    <p:sldId id="262" r:id="rId7"/>
    <p:sldId id="263" r:id="rId6"/>
    <p:sldId id="264" r:id="rId22"/>
    <p:sldId id="265" r:id="rId23"/>
    <p:sldId id="266" r:id="rId24"/>
    <p:sldId id="267" r:id="rId25"/>
    <p:sldId id="268" r:id="rId26"/>
  </p:sldIdLst>
  <p:sldSz cy="6858000" cx="12192000"/>
  <p:notesSz cx="6858000" cy="9144000"/>
  <p:embeddedFontLst>
    <p:embeddedFont>
      <p:font typeface="Play"/>
      <p:regular r:id="rId14"/>
      <p:bold r:id="rId15"/>
    </p:embeddedFont>
    <p:embeddedFont>
      <p:font typeface="Tajawal ExtraBold"/>
      <p:bold r:id="rId16"/>
    </p:embeddedFont>
    <p:embeddedFont>
      <p:font typeface="Tajawal Medium"/>
      <p:regular r:id="rId17"/>
      <p:bold r:id="rId18"/>
    </p:embeddedFont>
    <p:embeddedFont>
      <p:font typeface="Tajawal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76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936">
          <p15:clr>
            <a:srgbClr val="A4A3A4"/>
          </p15:clr>
        </p15:guide>
        <p15:guide id="4" pos="4896">
          <p15:clr>
            <a:srgbClr val="A4A3A4"/>
          </p15:clr>
        </p15:guide>
        <p15:guide id="5" pos="6912">
          <p15:clr>
            <a:srgbClr val="A4A3A4"/>
          </p15:clr>
        </p15:guide>
        <p15:guide id="6" orient="horz" pos="1224">
          <p15:clr>
            <a:srgbClr val="A4A3A4"/>
          </p15:clr>
        </p15:guide>
        <p15:guide id="7" orient="horz" pos="3264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jdE2pY+TZRQAyXDRzz/zrrGoHQ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" orient="horz"/>
        <p:guide pos="3840"/>
        <p:guide pos="936" orient="horz"/>
        <p:guide pos="4896"/>
        <p:guide pos="6912"/>
        <p:guide pos="1224" orient="horz"/>
        <p:guide pos="326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slide" Target="slides/slide4.xml"/><Relationship Id="rId11" Type="http://schemas.openxmlformats.org/officeDocument/2006/relationships/slide" Target="slides/slide3.xml"/><Relationship Id="rId12" Type="http://schemas.openxmlformats.org/officeDocument/2006/relationships/slide" Target="slides/slide2.xml"/><Relationship Id="rId13" Type="http://schemas.openxmlformats.org/officeDocument/2006/relationships/slide" Target="slides/slide1.xml"/><Relationship Id="rId14" Type="http://schemas.openxmlformats.org/officeDocument/2006/relationships/font" Target="fonts/Play-regular.fntdata"/><Relationship Id="rId15" Type="http://schemas.openxmlformats.org/officeDocument/2006/relationships/font" Target="fonts/Play-bold.fntdata"/><Relationship Id="rId16" Type="http://schemas.openxmlformats.org/officeDocument/2006/relationships/font" Target="fonts/TajawalExtraBold-bold.fntdata"/><Relationship Id="rId17" Type="http://schemas.openxmlformats.org/officeDocument/2006/relationships/font" Target="fonts/TajawalMedium-regular.fntdata"/><Relationship Id="rId18" Type="http://schemas.openxmlformats.org/officeDocument/2006/relationships/font" Target="fonts/TajawalMedium-bold.fntdata"/><Relationship Id="rId19" Type="http://schemas.openxmlformats.org/officeDocument/2006/relationships/font" Target="fonts/Tajawal-regular.fntdata"/><Relationship Id="rId20" Type="http://schemas.openxmlformats.org/officeDocument/2006/relationships/font" Target="fonts/Tajawal-bold.fntdata"/><Relationship Id="rId21" Type="http://customschemas.google.com/relationships/presentationmetadata" Target="metadata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ar-J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=== STORYLINE 360 IMPORT INSTRUCTIONS ===</a:t>
            </a:r>
          </a:p>
          <a:p/>
          <a:p>
            <a:r>
              <a:t>Project: TEST</a:t>
            </a:r>
          </a:p>
          <a:p>
            <a:r>
              <a:t>Unit: 1</a:t>
            </a:r>
          </a:p>
          <a:p>
            <a:r>
              <a:t>Lecture: المحاضرة التجريبية:</a:t>
            </a:r>
          </a:p>
          <a:p>
            <a:r>
              <a:t>Generated: 2026-02-22</a:t>
            </a:r>
          </a:p>
          <a:p>
            <a:r>
              <a:t>Designer: </a:t>
            </a:r>
          </a:p>
          <a:p/>
          <a:p>
            <a:r>
              <a:t>--- REQUIRED FONTS ---</a:t>
            </a:r>
          </a:p>
          <a:p>
            <a:r>
              <a:t>Install BEFORE importing:</a:t>
            </a:r>
          </a:p>
          <a:p>
            <a:r>
              <a:t>  1. Tajawal ExtraBold</a:t>
            </a:r>
          </a:p>
          <a:p>
            <a:r>
              <a:t>  2. Tajawal Medium</a:t>
            </a:r>
          </a:p>
          <a:p>
            <a:r>
              <a:t>  3. Tajawal (Regular)</a:t>
            </a:r>
          </a:p>
          <a:p>
            <a:r>
              <a:t>Download: https://fonts.google.com/specimen/Tajawal</a:t>
            </a:r>
          </a:p>
          <a:p/>
          <a:p>
            <a:r>
              <a:t>--- IMPORT STEPS ---</a:t>
            </a:r>
          </a:p>
          <a:p>
            <a:r>
              <a:t>1. File &gt; Import &gt; PowerPoint</a:t>
            </a:r>
          </a:p>
          <a:p>
            <a:r>
              <a:t>2. Select THIS .pptx file</a:t>
            </a:r>
          </a:p>
          <a:p>
            <a:r>
              <a:t>3. Import ALL slides</a:t>
            </a:r>
          </a:p>
          <a:p>
            <a:r>
              <a:t>4. Story Size: 1280 x 720 pixels (must match)</a:t>
            </a:r>
          </a:p>
          <a:p/>
          <a:p>
            <a:r>
              <a:t>--- POST-IMPORT QA ---</a:t>
            </a:r>
          </a:p>
          <a:p>
            <a:r>
              <a:t>[ ] Verify TOC shows Arabic slide titles (not 'Untitled')</a:t>
            </a:r>
          </a:p>
          <a:p>
            <a:r>
              <a:t>[ ] Verify fonts render correctly (Tajawal family)</a:t>
            </a:r>
          </a:p>
          <a:p>
            <a:r>
              <a:t>[ ] Check RTL text direction on all slides</a:t>
            </a:r>
          </a:p>
          <a:p>
            <a:r>
              <a:t>[ ] Test all interactive elements (buttons, quiz, drag-drop)</a:t>
            </a:r>
          </a:p>
          <a:p>
            <a:r>
              <a:t>[ ] Verify speaker notes contain Storyline instructions per slide</a:t>
            </a:r>
          </a:p>
          <a:p/>
          <a:p>
            <a:r>
              <a:t>--- SHAPE NAMING CONVENTION ---</a:t>
            </a:r>
          </a:p>
          <a:p>
            <a:r>
              <a:t>txt_*  = Text elements</a:t>
            </a:r>
          </a:p>
          <a:p>
            <a:r>
              <a:t>btn_*  = Clickable buttons (add triggers)</a:t>
            </a:r>
          </a:p>
          <a:p>
            <a:r>
              <a:t>icon_* = Decorative icons</a:t>
            </a:r>
          </a:p>
          <a:p>
            <a:r>
              <a:t>bg_*   = Background shapes</a:t>
            </a:r>
          </a:p>
          <a:p>
            <a:r>
              <a:t>opt_*  = Quiz option shapes (add triggers)</a:t>
            </a:r>
          </a:p>
          <a:p>
            <a:r>
              <a:t>num_*  = Numbered elements</a:t>
            </a:r>
          </a:p>
          <a:p>
            <a:r>
              <a:t>title  = Hidden TOC title (do not move)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=== STORYLINE INSTRUCTIONS ===</a:t>
            </a:r>
          </a:p>
          <a:p>
            <a:r>
              <a:t>Slide Type: Quiz - Multiple Choice</a:t>
            </a:r>
          </a:p>
          <a:p>
            <a:r>
              <a:t>Correct Answer: ب (opt_b)</a:t>
            </a:r>
          </a:p>
          <a:p>
            <a:r>
              <a:t>Feedback (Correct): احسنت! الاجابة صحيحة</a:t>
            </a:r>
          </a:p>
          <a:p>
            <a:r>
              <a:t>Feedback (Incorrect): الاجابة غير صحيحة، حاول مرة اخرى</a:t>
            </a:r>
          </a:p>
          <a:p>
            <a:r>
              <a:t>Points: 10</a:t>
            </a:r>
          </a:p>
          <a:p>
            <a:r>
              <a:t>Attempts: 2</a:t>
            </a:r>
          </a:p>
          <a:p/>
          <a:p>
            <a:r>
              <a:t>=== FREEFORM SETUP ===</a:t>
            </a:r>
          </a:p>
          <a:p>
            <a:r>
              <a:t>1. Insert &gt; Convert to Freeform &gt; Pick One</a:t>
            </a:r>
          </a:p>
          <a:p>
            <a:r>
              <a:t>2. Assign opt_a, opt_b, opt_c, opt_d as choices</a:t>
            </a:r>
          </a:p>
          <a:p>
            <a:r>
              <a:t>3. Set opt_b as correct answer</a:t>
            </a:r>
          </a:p>
          <a:p>
            <a:r>
              <a:t>4. btn_check triggers submit</a:t>
            </a:r>
          </a:p>
          <a:p/>
          <a:p>
            <a:r>
              <a:t>=== NARRATOR SCRIPT ===</a:t>
            </a:r>
          </a:p>
          <a:p>
            <a:r>
              <a:t>أي من التالي يصف أفضل فلسفة المحرك الجديد؟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=== STORYLINE INSTRUCTIONS ===</a:t>
            </a:r>
          </a:p>
          <a:p>
            <a:r>
              <a:t>Slide Type: Branching Scenario</a:t>
            </a:r>
          </a:p>
          <a:p>
            <a:r>
              <a:t>Correct Choice: btn_choice_1 (Choice 2)</a:t>
            </a:r>
          </a:p>
          <a:p>
            <a:r>
              <a:t>Choice Buttons: btn_choice_0, btn_choice_1, btn_choice_2</a:t>
            </a:r>
          </a:p>
          <a:p/>
          <a:p>
            <a:r>
              <a:t>=== LAYER SETUP ===</a:t>
            </a:r>
          </a:p>
          <a:p>
            <a:r>
              <a:t>Layer 'outcome_0': Shows feedback when btn_choice_0 clicked</a:t>
            </a:r>
          </a:p>
          <a:p>
            <a:r>
              <a:t>Layer 'outcome_1': Shows feedback when btn_choice_1 clicked</a:t>
            </a:r>
          </a:p>
          <a:p>
            <a:r>
              <a:t>Layer 'outcome_2': Shows feedback when btn_choice_2 clicked</a:t>
            </a:r>
          </a:p>
          <a:p/>
          <a:p>
            <a:r>
              <a:t>=== TRIGGER SETUP ===</a:t>
            </a:r>
          </a:p>
          <a:p>
            <a:r>
              <a:t>Trigger 1: Show layer 'outcome_0' when user clicks btn_choice_0 [INCORRECT]</a:t>
            </a:r>
          </a:p>
          <a:p>
            <a:r>
              <a:t>Trigger 2: Show layer 'outcome_1' when user clicks btn_choice_1 [CORRECT]</a:t>
            </a:r>
          </a:p>
          <a:p>
            <a:r>
              <a:t>Trigger 3: Show layer 'outcome_2' when user clicks btn_choice_2 [INCORRECT]</a:t>
            </a:r>
          </a:p>
          <a:p/>
          <a:p>
            <a:r>
              <a:t>=== FEEDBACK CONTENT ===</a:t>
            </a:r>
          </a:p>
          <a:p>
            <a:r>
              <a:t>outcome_1 (Correct): احسنت! هذا هو القرار الصحيح.</a:t>
            </a:r>
          </a:p>
          <a:p>
            <a:r>
              <a:t>outcome_0 (Incorrect): هذا ليس القرار الأفضل. حاول مرة أخرى.</a:t>
            </a:r>
          </a:p>
          <a:p>
            <a:r>
              <a:t>outcome_2 (Incorrect): هذا ليس القرار الأفضل. حاول مرة أخرى.</a:t>
            </a:r>
          </a:p>
          <a:p/>
          <a:p>
            <a:r>
              <a:t>=== NARRATOR SCRIPT ===</a:t>
            </a:r>
          </a:p>
          <a:p>
            <a:r>
              <a:t>أنت مصمم تعليمي وطُلب منك إنشاء محاضرة تفاعلية عن الذكاء الاصطناعي. المحتوى يحتوي على 5 مفاهيم أساسية و3 تطبيقات عملية. ما أفضل نهج للتصميم؟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10"/>
          <p:cNvGrpSpPr/>
          <p:nvPr/>
        </p:nvGrpSpPr>
        <p:grpSpPr>
          <a:xfrm flipH="1">
            <a:off x="0" y="0"/>
            <a:ext cx="12192000" cy="6857999"/>
            <a:chOff x="0" y="0"/>
            <a:chExt cx="12192000" cy="6857999"/>
          </a:xfrm>
        </p:grpSpPr>
        <p:pic>
          <p:nvPicPr>
            <p:cNvPr id="17" name="Google Shape;17;p1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92000" cy="6857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2500158" y="962015"/>
              <a:ext cx="1612381" cy="124871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" name="Google Shape;19;p10"/>
            <p:cNvCxnSpPr/>
            <p:nvPr/>
          </p:nvCxnSpPr>
          <p:spPr>
            <a:xfrm rot="10800000">
              <a:off x="2500158" y="4048125"/>
              <a:ext cx="1538442" cy="0"/>
            </a:xfrm>
            <a:prstGeom prst="straightConnector1">
              <a:avLst/>
            </a:prstGeom>
            <a:noFill/>
            <a:ln cap="rnd" cmpd="sng" w="19050">
              <a:solidFill>
                <a:srgbClr val="2D588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1"/>
          <p:cNvPicPr preferRelativeResize="0"/>
          <p:nvPr/>
        </p:nvPicPr>
        <p:blipFill rotWithShape="1">
          <a:blip r:embed="rId3">
            <a:alphaModFix/>
          </a:blip>
          <a:srcRect b="0" l="15304" r="15305" t="0"/>
          <a:stretch/>
        </p:blipFill>
        <p:spPr>
          <a:xfrm>
            <a:off x="1803400" y="0"/>
            <a:ext cx="8585200" cy="1007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0" y="6023222"/>
            <a:ext cx="12192000" cy="853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475" y="85756"/>
            <a:ext cx="709767" cy="549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.xml"/><Relationship Id="rId5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15.jpg"/><Relationship Id="rId4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المحاضرة التجريبية:</a:t>
            </a:r>
          </a:p>
        </p:txBody>
      </p:sp>
      <p:sp>
        <p:nvSpPr>
          <p:cNvPr id="3" name="txt_institution"/>
          <p:cNvSpPr txBox="1"/>
          <p:nvPr/>
        </p:nvSpPr>
        <p:spPr>
          <a:xfrm>
            <a:off x="6096000" y="3198167"/>
            <a:ext cx="5181600" cy="461665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اختبار شامل للمحرك المعياري</a:t>
            </a:r>
          </a:p>
        </p:txBody>
      </p:sp>
      <p:sp>
        <p:nvSpPr>
          <p:cNvPr id="4" name="txt_title"/>
          <p:cNvSpPr txBox="1"/>
          <p:nvPr/>
        </p:nvSpPr>
        <p:spPr>
          <a:xfrm>
            <a:off x="6096000" y="4257368"/>
            <a:ext cx="5181600" cy="1077218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المحاضرة التجريبية:</a:t>
            </a:r>
          </a:p>
          <a:p>
            <a:pPr algn="ctr" rtl="1"/>
            <a:r>
              <a:rPr sz="2000" b="0" lang="ar-JO">
                <a:solidFill>
                  <a:srgbClr val="262626"/>
                </a:solidFill>
                <a:cs typeface="Tajawal ExtraBold"/>
                <a:latin typeface="Tajawal ExtraBold"/>
                <a:ea typeface="Tajawal ExtraBold"/>
              </a:rPr>
              <a:t>اختبار شامل للمحرك المعياري الجديد</a:t>
            </a:r>
          </a:p>
        </p:txBody>
      </p:sp>
      <p:sp>
        <p:nvSpPr>
          <p:cNvPr id="5" name="btn_start">
            <a:hlinkClick action="ppaction://hlinksldjump" r:id="rId5"/>
          </p:cNvPr>
          <p:cNvSpPr/>
          <p:nvPr/>
        </p:nvSpPr>
        <p:spPr>
          <a:xfrm>
            <a:off x="7398084" y="5599525"/>
            <a:ext cx="2773680" cy="665193"/>
          </a:xfrm>
          <a:prstGeom prst="roundRect">
            <a:avLst/>
          </a:prstGeom>
          <a:solidFill>
            <a:srgbClr val="156082"/>
          </a:solidFill>
          <a:ln w="1905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46800" bIns="46800"/>
          <a:lstStyle/>
          <a:p>
            <a:pPr algn="ctr" rtl="1"/>
            <a:r>
              <a:rPr sz="20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ابدأ المحاضرة</a:t>
            </a:r>
          </a:p>
        </p:txBody>
      </p:sp>
      <p:pic>
        <p:nvPicPr>
          <p:cNvPr id="6" name="icon_play" descr="play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078" y="5599525"/>
            <a:ext cx="619211" cy="657317"/>
          </a:xfrm>
          <a:prstGeom prst="rect">
            <a:avLst/>
          </a:prstGeom>
        </p:spPr>
      </p:pic>
      <p:pic>
        <p:nvPicPr>
          <p:cNvPr id="7" name="icon_hand" descr="hand_curs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916" y="5888428"/>
            <a:ext cx="724001" cy="7525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الأهداف التعليمية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التجريبية: اختبار شامل للمحرك المعياري الجديد</a:t>
            </a:r>
          </a:p>
        </p:txBody>
      </p:sp>
      <p:pic>
        <p:nvPicPr>
          <p:cNvPr id="4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الأهداف التعليمية</a:t>
            </a:r>
          </a:p>
        </p:txBody>
      </p:sp>
      <p:sp>
        <p:nvSpPr>
          <p:cNvPr id="6" name="txt_obj_intro"/>
          <p:cNvSpPr txBox="1"/>
          <p:nvPr/>
        </p:nvSpPr>
        <p:spPr>
          <a:xfrm>
            <a:off x="6280654" y="1830945"/>
            <a:ext cx="536194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يتوقع منك في نهاية هذه المحاضرة أن تكون قادرًا على:</a:t>
            </a:r>
          </a:p>
        </p:txBody>
      </p:sp>
      <p:pic>
        <p:nvPicPr>
          <p:cNvPr id="7" name="bg_obj_1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2315612"/>
            <a:ext cx="11029824" cy="600002"/>
          </a:xfrm>
          <a:prstGeom prst="rect">
            <a:avLst/>
          </a:prstGeom>
        </p:spPr>
      </p:pic>
      <p:pic>
        <p:nvPicPr>
          <p:cNvPr id="8" name="icon_obj_1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2315612"/>
            <a:ext cx="703228" cy="600002"/>
          </a:xfrm>
          <a:prstGeom prst="rect">
            <a:avLst/>
          </a:prstGeom>
        </p:spPr>
      </p:pic>
      <p:sp>
        <p:nvSpPr>
          <p:cNvPr id="9" name="txt_obj_1"/>
          <p:cNvSpPr txBox="1"/>
          <p:nvPr/>
        </p:nvSpPr>
        <p:spPr>
          <a:xfrm>
            <a:off x="1462617" y="2446336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التعرف على مكونات المحرك المعياري الجديد.</a:t>
            </a:r>
          </a:p>
        </p:txBody>
      </p:sp>
      <p:pic>
        <p:nvPicPr>
          <p:cNvPr id="10" name="bg_obj_2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3443740"/>
            <a:ext cx="11029824" cy="600002"/>
          </a:xfrm>
          <a:prstGeom prst="rect">
            <a:avLst/>
          </a:prstGeom>
        </p:spPr>
      </p:pic>
      <p:pic>
        <p:nvPicPr>
          <p:cNvPr id="11" name="icon_obj_2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3443740"/>
            <a:ext cx="703228" cy="600002"/>
          </a:xfrm>
          <a:prstGeom prst="rect">
            <a:avLst/>
          </a:prstGeom>
        </p:spPr>
      </p:pic>
      <p:sp>
        <p:nvSpPr>
          <p:cNvPr id="12" name="txt_obj_2"/>
          <p:cNvSpPr txBox="1"/>
          <p:nvPr/>
        </p:nvSpPr>
        <p:spPr>
          <a:xfrm>
            <a:off x="1462617" y="3574464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تطبيق أنماط القواعد البصرية المختلفة.</a:t>
            </a:r>
          </a:p>
        </p:txBody>
      </p:sp>
      <p:pic>
        <p:nvPicPr>
          <p:cNvPr id="13" name="bg_obj_3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4571868"/>
            <a:ext cx="11029824" cy="600002"/>
          </a:xfrm>
          <a:prstGeom prst="rect">
            <a:avLst/>
          </a:prstGeom>
        </p:spPr>
      </p:pic>
      <p:pic>
        <p:nvPicPr>
          <p:cNvPr id="14" name="icon_obj_3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4571868"/>
            <a:ext cx="703228" cy="600002"/>
          </a:xfrm>
          <a:prstGeom prst="rect">
            <a:avLst/>
          </a:prstGeom>
        </p:spPr>
      </p:pic>
      <p:sp>
        <p:nvSpPr>
          <p:cNvPr id="15" name="txt_obj_3"/>
          <p:cNvSpPr txBox="1"/>
          <p:nvPr/>
        </p:nvSpPr>
        <p:spPr>
          <a:xfrm>
            <a:off x="1462617" y="4702592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تقييم جودة المخرجات التفاعلية.</a:t>
            </a:r>
          </a:p>
        </p:txBody>
      </p:sp>
      <p:pic>
        <p:nvPicPr>
          <p:cNvPr id="16" name="bg_obj_4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5699996"/>
            <a:ext cx="11029824" cy="600002"/>
          </a:xfrm>
          <a:prstGeom prst="rect">
            <a:avLst/>
          </a:prstGeom>
        </p:spPr>
      </p:pic>
      <p:pic>
        <p:nvPicPr>
          <p:cNvPr id="17" name="icon_obj_4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5699996"/>
            <a:ext cx="703228" cy="600002"/>
          </a:xfrm>
          <a:prstGeom prst="rect">
            <a:avLst/>
          </a:prstGeom>
        </p:spPr>
      </p:pic>
      <p:sp>
        <p:nvSpPr>
          <p:cNvPr id="18" name="txt_obj_4"/>
          <p:cNvSpPr txBox="1"/>
          <p:nvPr/>
        </p:nvSpPr>
        <p:spPr>
          <a:xfrm>
            <a:off x="1462617" y="5830720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تحليل الفروقات بين الأنماط البصرية.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أرقام المحرك الجديد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التجريبية: اختبار شامل للمحرك المعياري الجديد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أرقام المحرك الجديد</a:t>
            </a:r>
          </a:p>
        </p:txBody>
      </p:sp>
      <p:sp>
        <p:nvSpPr>
          <p:cNvPr id="6" name="bg_depth_wash"/>
          <p:cNvSpPr/>
          <p:nvPr/>
        </p:nvSpPr>
        <p:spPr>
          <a:xfrm>
            <a:off x="6432000" y="-1080000"/>
            <a:ext cx="7200000" cy="504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_stat_1"/>
          <p:cNvSpPr/>
          <p:nvPr/>
        </p:nvSpPr>
        <p:spPr>
          <a:xfrm>
            <a:off x="900000" y="1980000"/>
            <a:ext cx="3180000" cy="30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ccent_stat_1"/>
          <p:cNvSpPr/>
          <p:nvPr/>
        </p:nvSpPr>
        <p:spPr>
          <a:xfrm>
            <a:off x="900000" y="1980000"/>
            <a:ext cx="3180000" cy="180000"/>
          </a:xfrm>
          <a:prstGeom prst="rect">
            <a:avLst/>
          </a:prstGeom>
          <a:ln>
            <a:noFill/>
          </a:ln>
          <a:gradFill>
            <a:gsLst>
              <a:gs pos="0">
                <a:srgbClr val="2D588C"/>
              </a:gs>
              <a:gs pos="100000">
                <a:srgbClr val="5580B4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xt_stat_1_number"/>
          <p:cNvSpPr txBox="1"/>
          <p:nvPr/>
        </p:nvSpPr>
        <p:spPr>
          <a:xfrm>
            <a:off x="1080000" y="2448000"/>
            <a:ext cx="2820000" cy="900000"/>
          </a:xfrm>
          <a:prstGeom prst="rect">
            <a:avLst/>
          </a:prstGeom>
          <a:noFill/>
          <a:effectLst>
            <a:glow rad="76200">
              <a:srgbClr val="2D588C">
                <a:alpha val="25000"/>
              </a:srgbClr>
            </a:glow>
          </a:effectLst>
        </p:spPr>
        <p:txBody>
          <a:bodyPr wrap="none" lIns="90000" rIns="90000" tIns="46800" bIns="4680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48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28</a:t>
            </a:r>
          </a:p>
        </p:txBody>
      </p:sp>
      <p:sp>
        <p:nvSpPr>
          <p:cNvPr id="10" name="icon_trend_1"/>
          <p:cNvSpPr txBox="1"/>
          <p:nvPr/>
        </p:nvSpPr>
        <p:spPr>
          <a:xfrm>
            <a:off x="1080000" y="3348000"/>
            <a:ext cx="2820000" cy="360000"/>
          </a:xfrm>
          <a:prstGeom prst="rect">
            <a:avLst/>
          </a:prstGeom>
          <a:noFill/>
        </p:spPr>
        <p:txBody>
          <a:bodyPr wrap="none" lIns="90000" rIns="90000" tIns="46800" bIns="46800">
            <a:no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4CAF50"/>
                </a:solidFill>
                <a:cs typeface="Tajawal ExtraBold"/>
                <a:latin typeface="Tajawal ExtraBold"/>
                <a:ea typeface="Tajawal ExtraBold"/>
              </a:rPr>
              <a:t>↑</a:t>
            </a:r>
          </a:p>
        </p:txBody>
      </p:sp>
      <p:sp>
        <p:nvSpPr>
          <p:cNvPr id="11" name="txt_stat_1_label"/>
          <p:cNvSpPr txBox="1"/>
          <p:nvPr/>
        </p:nvSpPr>
        <p:spPr>
          <a:xfrm>
            <a:off x="1008000" y="3780000"/>
            <a:ext cx="2964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6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طريقة شريحة</a:t>
            </a:r>
          </a:p>
        </p:txBody>
      </p:sp>
      <p:sp>
        <p:nvSpPr>
          <p:cNvPr id="12" name="txt_stat_1_desc"/>
          <p:cNvSpPr txBox="1"/>
          <p:nvPr/>
        </p:nvSpPr>
        <p:spPr>
          <a:xfrm>
            <a:off x="1008000" y="4428000"/>
            <a:ext cx="2964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200" b="0" lang="ar-JO">
                <a:solidFill>
                  <a:srgbClr val="6B6B6B"/>
                </a:solidFill>
                <a:cs typeface="Tajawal"/>
                <a:latin typeface="Tajawal"/>
                <a:ea typeface="Tajawal"/>
              </a:rPr>
              <a:t>أساليب متنوعة</a:t>
            </a:r>
          </a:p>
        </p:txBody>
      </p:sp>
      <p:sp>
        <p:nvSpPr>
          <p:cNvPr id="13" name="card_stat_2"/>
          <p:cNvSpPr/>
          <p:nvPr/>
        </p:nvSpPr>
        <p:spPr>
          <a:xfrm>
            <a:off x="4440000" y="1980000"/>
            <a:ext cx="3180000" cy="30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ccent_stat_2"/>
          <p:cNvSpPr/>
          <p:nvPr/>
        </p:nvSpPr>
        <p:spPr>
          <a:xfrm>
            <a:off x="4440000" y="1980000"/>
            <a:ext cx="3180000" cy="180000"/>
          </a:xfrm>
          <a:prstGeom prst="rect">
            <a:avLst/>
          </a:prstGeom>
          <a:ln>
            <a:noFill/>
          </a:ln>
          <a:gradFill>
            <a:gsLst>
              <a:gs pos="0">
                <a:srgbClr val="156082"/>
              </a:gs>
              <a:gs pos="100000">
                <a:srgbClr val="3D88AA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xt_stat_2_number"/>
          <p:cNvSpPr txBox="1"/>
          <p:nvPr/>
        </p:nvSpPr>
        <p:spPr>
          <a:xfrm>
            <a:off x="4620000" y="2448000"/>
            <a:ext cx="2820000" cy="900000"/>
          </a:xfrm>
          <a:prstGeom prst="rect">
            <a:avLst/>
          </a:prstGeom>
          <a:noFill/>
          <a:effectLst>
            <a:glow rad="76200">
              <a:srgbClr val="156082">
                <a:alpha val="25000"/>
              </a:srgbClr>
            </a:glow>
          </a:effectLst>
        </p:spPr>
        <p:txBody>
          <a:bodyPr wrap="none" lIns="90000" rIns="90000" tIns="46800" bIns="4680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48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7</a:t>
            </a:r>
          </a:p>
        </p:txBody>
      </p:sp>
      <p:sp>
        <p:nvSpPr>
          <p:cNvPr id="16" name="icon_trend_2"/>
          <p:cNvSpPr txBox="1"/>
          <p:nvPr/>
        </p:nvSpPr>
        <p:spPr>
          <a:xfrm>
            <a:off x="4620000" y="3348000"/>
            <a:ext cx="2820000" cy="360000"/>
          </a:xfrm>
          <a:prstGeom prst="rect">
            <a:avLst/>
          </a:prstGeom>
          <a:noFill/>
        </p:spPr>
        <p:txBody>
          <a:bodyPr wrap="none" lIns="90000" rIns="90000" tIns="46800" bIns="46800">
            <a:no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4CAF50"/>
                </a:solidFill>
                <a:cs typeface="Tajawal ExtraBold"/>
                <a:latin typeface="Tajawal ExtraBold"/>
                <a:ea typeface="Tajawal ExtraBold"/>
              </a:rPr>
              <a:t>↑</a:t>
            </a:r>
          </a:p>
        </p:txBody>
      </p:sp>
      <p:sp>
        <p:nvSpPr>
          <p:cNvPr id="17" name="txt_stat_2_label"/>
          <p:cNvSpPr txBox="1"/>
          <p:nvPr/>
        </p:nvSpPr>
        <p:spPr>
          <a:xfrm>
            <a:off x="4548000" y="3780000"/>
            <a:ext cx="2964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6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وحدات معيارية</a:t>
            </a:r>
          </a:p>
        </p:txBody>
      </p:sp>
      <p:sp>
        <p:nvSpPr>
          <p:cNvPr id="18" name="txt_stat_2_desc"/>
          <p:cNvSpPr txBox="1"/>
          <p:nvPr/>
        </p:nvSpPr>
        <p:spPr>
          <a:xfrm>
            <a:off x="4548000" y="4428000"/>
            <a:ext cx="2964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200" b="0" lang="ar-JO">
                <a:solidFill>
                  <a:srgbClr val="6B6B6B"/>
                </a:solidFill>
                <a:cs typeface="Tajawal"/>
                <a:latin typeface="Tajawal"/>
                <a:ea typeface="Tajawal"/>
              </a:rPr>
              <a:t>بنية نظيفة</a:t>
            </a:r>
          </a:p>
        </p:txBody>
      </p:sp>
      <p:sp>
        <p:nvSpPr>
          <p:cNvPr id="19" name="card_stat_3"/>
          <p:cNvSpPr/>
          <p:nvPr/>
        </p:nvSpPr>
        <p:spPr>
          <a:xfrm>
            <a:off x="7980000" y="1980000"/>
            <a:ext cx="3180000" cy="30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ccent_stat_3"/>
          <p:cNvSpPr/>
          <p:nvPr/>
        </p:nvSpPr>
        <p:spPr>
          <a:xfrm>
            <a:off x="7980000" y="1980000"/>
            <a:ext cx="3180000" cy="180000"/>
          </a:xfrm>
          <a:prstGeom prst="rect">
            <a:avLst/>
          </a:prstGeom>
          <a:ln>
            <a:noFill/>
          </a:ln>
          <a:gradFill>
            <a:gsLst>
              <a:gs pos="0">
                <a:srgbClr val="009688"/>
              </a:gs>
              <a:gs pos="100000">
                <a:srgbClr val="28BEB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xt_stat_3_number"/>
          <p:cNvSpPr txBox="1"/>
          <p:nvPr/>
        </p:nvSpPr>
        <p:spPr>
          <a:xfrm>
            <a:off x="8160000" y="2448000"/>
            <a:ext cx="2820000" cy="900000"/>
          </a:xfrm>
          <a:prstGeom prst="rect">
            <a:avLst/>
          </a:prstGeom>
          <a:noFill/>
          <a:effectLst>
            <a:glow rad="76200">
              <a:srgbClr val="009688">
                <a:alpha val="25000"/>
              </a:srgbClr>
            </a:glow>
          </a:effectLst>
        </p:spPr>
        <p:txBody>
          <a:bodyPr wrap="none" lIns="90000" rIns="90000" tIns="46800" bIns="4680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4800" b="0" lang="ar-JO">
                <a:solidFill>
                  <a:srgbClr val="009688"/>
                </a:solidFill>
                <a:cs typeface="Tajawal ExtraBold"/>
                <a:latin typeface="Tajawal ExtraBold"/>
                <a:ea typeface="Tajawal ExtraBold"/>
              </a:rPr>
              <a:t>13</a:t>
            </a:r>
          </a:p>
        </p:txBody>
      </p:sp>
      <p:sp>
        <p:nvSpPr>
          <p:cNvPr id="22" name="icon_trend_3"/>
          <p:cNvSpPr txBox="1"/>
          <p:nvPr/>
        </p:nvSpPr>
        <p:spPr>
          <a:xfrm>
            <a:off x="8160000" y="3348000"/>
            <a:ext cx="2820000" cy="360000"/>
          </a:xfrm>
          <a:prstGeom prst="rect">
            <a:avLst/>
          </a:prstGeom>
          <a:noFill/>
        </p:spPr>
        <p:txBody>
          <a:bodyPr wrap="none" lIns="90000" rIns="90000" tIns="46800" bIns="46800">
            <a:no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4CAF50"/>
                </a:solidFill>
                <a:cs typeface="Tajawal ExtraBold"/>
                <a:latin typeface="Tajawal ExtraBold"/>
                <a:ea typeface="Tajawal ExtraBold"/>
              </a:rPr>
              <a:t>↑</a:t>
            </a:r>
          </a:p>
        </p:txBody>
      </p:sp>
      <p:sp>
        <p:nvSpPr>
          <p:cNvPr id="23" name="txt_stat_3_label"/>
          <p:cNvSpPr txBox="1"/>
          <p:nvPr/>
        </p:nvSpPr>
        <p:spPr>
          <a:xfrm>
            <a:off x="8088000" y="3780000"/>
            <a:ext cx="2964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6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مرجع تعليمي</a:t>
            </a:r>
          </a:p>
        </p:txBody>
      </p:sp>
      <p:sp>
        <p:nvSpPr>
          <p:cNvPr id="24" name="txt_stat_3_desc"/>
          <p:cNvSpPr txBox="1"/>
          <p:nvPr/>
        </p:nvSpPr>
        <p:spPr>
          <a:xfrm>
            <a:off x="8088000" y="4428000"/>
            <a:ext cx="2964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200" b="0" lang="ar-JO">
                <a:solidFill>
                  <a:srgbClr val="6B6B6B"/>
                </a:solidFill>
                <a:cs typeface="Tajawal"/>
                <a:latin typeface="Tajawal"/>
                <a:ea typeface="Tajawal"/>
              </a:rPr>
              <a:t>توثيق شامل</a:t>
            </a:r>
          </a:p>
        </p:txBody>
      </p:sp>
      <p:pic>
        <p:nvPicPr>
          <p:cNvPr id="25" name="img_stat_cards" descr="img_20260222_0901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0" y="5089091"/>
            <a:ext cx="1800000" cy="9818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المحور الأول</a:t>
            </a:r>
          </a:p>
        </p:txBody>
      </p:sp>
      <p:sp>
        <p:nvSpPr>
          <p:cNvPr id="3" name="bg_divider"/>
          <p:cNvSpPr/>
          <p:nvPr/>
        </p:nvSpPr>
        <p:spPr>
          <a:xfrm>
            <a:off x="720000" y="720000"/>
            <a:ext cx="10752000" cy="5418000"/>
          </a:xfrm>
          <a:prstGeom prst="round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g_divider_depth"/>
          <p:cNvSpPr/>
          <p:nvPr/>
        </p:nvSpPr>
        <p:spPr>
          <a:xfrm>
            <a:off x="720000" y="5418000"/>
            <a:ext cx="10752000" cy="720000"/>
          </a:xfrm>
          <a:prstGeom prst="rect">
            <a:avLst/>
          </a:prstGeom>
          <a:solidFill>
            <a:srgbClr val="1E3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ccent_right_bar"/>
          <p:cNvSpPr/>
          <p:nvPr/>
        </p:nvSpPr>
        <p:spPr>
          <a:xfrm>
            <a:off x="11292000" y="720000"/>
            <a:ext cx="108000" cy="54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mg_section_bg" descr="img_20260222_0902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" y="1734545"/>
            <a:ext cx="2880000" cy="1570909"/>
          </a:xfrm>
          <a:prstGeom prst="rect">
            <a:avLst/>
          </a:prstGeom>
        </p:spPr>
      </p:pic>
      <p:sp>
        <p:nvSpPr>
          <p:cNvPr id="7" name="deco_corner_tr_h"/>
          <p:cNvSpPr/>
          <p:nvPr/>
        </p:nvSpPr>
        <p:spPr>
          <a:xfrm>
            <a:off x="9672000" y="900000"/>
            <a:ext cx="144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_corner_tr_v"/>
          <p:cNvSpPr/>
          <p:nvPr/>
        </p:nvSpPr>
        <p:spPr>
          <a:xfrm>
            <a:off x="11112000" y="900000"/>
            <a:ext cx="254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o_corner_tr_dot"/>
          <p:cNvSpPr/>
          <p:nvPr/>
        </p:nvSpPr>
        <p:spPr>
          <a:xfrm>
            <a:off x="11040000" y="828000"/>
            <a:ext cx="144000" cy="14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co_corner_bl_h"/>
          <p:cNvSpPr/>
          <p:nvPr/>
        </p:nvSpPr>
        <p:spPr>
          <a:xfrm>
            <a:off x="1080000" y="5958000"/>
            <a:ext cx="144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co_corner_bl_v"/>
          <p:cNvSpPr/>
          <p:nvPr/>
        </p:nvSpPr>
        <p:spPr>
          <a:xfrm>
            <a:off x="1080000" y="4518000"/>
            <a:ext cx="254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eco_corner_bl_dot"/>
          <p:cNvSpPr/>
          <p:nvPr/>
        </p:nvSpPr>
        <p:spPr>
          <a:xfrm>
            <a:off x="1008000" y="5886000"/>
            <a:ext cx="144000" cy="14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xt_section_title"/>
          <p:cNvSpPr txBox="1"/>
          <p:nvPr/>
        </p:nvSpPr>
        <p:spPr>
          <a:xfrm>
            <a:off x="1440000" y="1800000"/>
            <a:ext cx="9360000" cy="1260000"/>
          </a:xfrm>
          <a:prstGeom prst="rect">
            <a:avLst/>
          </a:prstGeom>
          <a:noFill/>
        </p:spPr>
        <p:txBody>
          <a:bodyPr wrap="square" lIns="90000" rIns="90000" tIns="46800" bIns="4680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40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المحور الأول</a:t>
            </a:r>
          </a:p>
        </p:txBody>
      </p:sp>
      <p:sp>
        <p:nvSpPr>
          <p:cNvPr id="14" name="divider_line"/>
          <p:cNvSpPr/>
          <p:nvPr/>
        </p:nvSpPr>
        <p:spPr>
          <a:xfrm>
            <a:off x="3240000" y="3131999"/>
            <a:ext cx="540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xt_section_subtitle"/>
          <p:cNvSpPr txBox="1"/>
          <p:nvPr/>
        </p:nvSpPr>
        <p:spPr>
          <a:xfrm>
            <a:off x="1440000" y="3348000"/>
            <a:ext cx="936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FFFFFF"/>
                </a:solidFill>
                <a:cs typeface="Tajawal Medium"/>
                <a:latin typeface="Tajawal Medium"/>
                <a:ea typeface="Tajawal Medium"/>
              </a:rPr>
              <a:t>القواعد البصرية والتصميم</a:t>
            </a:r>
          </a:p>
        </p:txBody>
      </p:sp>
      <p:sp>
        <p:nvSpPr>
          <p:cNvPr id="16" name="dot_section_1"/>
          <p:cNvSpPr/>
          <p:nvPr/>
        </p:nvSpPr>
        <p:spPr>
          <a:xfrm>
            <a:off x="5376000" y="5742000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t_section_2"/>
          <p:cNvSpPr/>
          <p:nvPr/>
        </p:nvSpPr>
        <p:spPr>
          <a:xfrm>
            <a:off x="5988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t_section_3"/>
          <p:cNvSpPr/>
          <p:nvPr/>
        </p:nvSpPr>
        <p:spPr>
          <a:xfrm>
            <a:off x="6564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فلسفة التصميم البصري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التجريبية: اختبار شامل للمحرك المعياري الجديد</a:t>
            </a:r>
          </a:p>
        </p:txBody>
      </p:sp>
      <p:pic>
        <p:nvPicPr>
          <p:cNvPr id="4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فلسفة التصميم البصري</a:t>
            </a:r>
          </a:p>
        </p:txBody>
      </p:sp>
      <p:pic>
        <p:nvPicPr>
          <p:cNvPr id="6" name="img_content" descr="img_20260222_0902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000" y="2716364"/>
            <a:ext cx="3240000" cy="1767272"/>
          </a:xfrm>
          <a:prstGeom prst="rect">
            <a:avLst/>
          </a:prstGeom>
        </p:spPr>
      </p:pic>
      <p:sp>
        <p:nvSpPr>
          <p:cNvPr id="7" name="bg_content_card"/>
          <p:cNvSpPr/>
          <p:nvPr/>
        </p:nvSpPr>
        <p:spPr>
          <a:xfrm>
            <a:off x="4500000" y="1692000"/>
            <a:ext cx="6840000" cy="4356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_body"/>
          <p:cNvSpPr txBox="1"/>
          <p:nvPr/>
        </p:nvSpPr>
        <p:spPr>
          <a:xfrm>
            <a:off x="4680000" y="1800000"/>
            <a:ext cx="6480000" cy="41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الشرائح النصية تستخدم أشكال PowerPoint الأصلية للنص العربي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تأثيرات OOXML تضيف التدرجات والتوهج والحواف الناعمة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SVG يُستخدم فقط للرسوم البيانية المعقدة مثل الدورات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الصور المولّدة بالذكاء الاصطناعي توضح المفاهيم المجردة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مراحل بناء المحاضرة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التجريبية: اختبار شامل للمحرك المعياري الجديد</a:t>
            </a:r>
          </a:p>
        </p:txBody>
      </p:sp>
      <p:pic>
        <p:nvPicPr>
          <p:cNvPr id="4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مراحل بناء المحاضرة</a:t>
            </a:r>
          </a:p>
        </p:txBody>
      </p:sp>
      <p:sp>
        <p:nvSpPr>
          <p:cNvPr id="6" name="bg_depth_wash"/>
          <p:cNvSpPr/>
          <p:nvPr/>
        </p:nvSpPr>
        <p:spPr>
          <a:xfrm>
            <a:off x="6432000" y="-1080000"/>
            <a:ext cx="7200000" cy="504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_step_1"/>
          <p:cNvSpPr/>
          <p:nvPr/>
        </p:nvSpPr>
        <p:spPr>
          <a:xfrm>
            <a:off x="9009000" y="1980000"/>
            <a:ext cx="2331000" cy="1800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ccent_step_1"/>
          <p:cNvSpPr/>
          <p:nvPr/>
        </p:nvSpPr>
        <p:spPr>
          <a:xfrm>
            <a:off x="9009000" y="1980000"/>
            <a:ext cx="2331000" cy="180000"/>
          </a:xfrm>
          <a:prstGeom prst="rect">
            <a:avLst/>
          </a:prstGeom>
          <a:ln>
            <a:noFill/>
          </a:ln>
          <a:gradFill>
            <a:gsLst>
              <a:gs pos="0">
                <a:srgbClr val="FF9800"/>
              </a:gs>
              <a:gs pos="100000">
                <a:srgbClr val="FFC02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um_step_1"/>
          <p:cNvSpPr/>
          <p:nvPr/>
        </p:nvSpPr>
        <p:spPr>
          <a:xfrm>
            <a:off x="9922500" y="2268000"/>
            <a:ext cx="503999" cy="503999"/>
          </a:xfrm>
          <a:prstGeom prst="ellipse">
            <a:avLst/>
          </a:prstGeom>
          <a:solidFill>
            <a:srgbClr val="FF9800"/>
          </a:solidFill>
          <a:ln>
            <a:noFill/>
          </a:ln>
          <a:effectLst>
            <a:glow rad="76200">
              <a:srgbClr val="FF9800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1</a:t>
            </a:r>
          </a:p>
        </p:txBody>
      </p:sp>
      <p:sp>
        <p:nvSpPr>
          <p:cNvPr id="10" name="txt_step_1_label"/>
          <p:cNvSpPr txBox="1"/>
          <p:nvPr/>
        </p:nvSpPr>
        <p:spPr>
          <a:xfrm>
            <a:off x="9117000" y="2843999"/>
            <a:ext cx="2115000" cy="43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4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تحليل المحتوى</a:t>
            </a:r>
          </a:p>
        </p:txBody>
      </p:sp>
      <p:sp>
        <p:nvSpPr>
          <p:cNvPr id="11" name="txt_step_1_desc"/>
          <p:cNvSpPr txBox="1"/>
          <p:nvPr/>
        </p:nvSpPr>
        <p:spPr>
          <a:xfrm>
            <a:off x="9117000" y="3275999"/>
            <a:ext cx="2115000" cy="468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100" b="0" lang="ar-JO">
                <a:solidFill>
                  <a:srgbClr val="6B6B6B"/>
                </a:solidFill>
                <a:cs typeface="Tajawal"/>
                <a:latin typeface="Tajawal"/>
                <a:ea typeface="Tajawal"/>
              </a:rPr>
              <a:t>قراءة المادة الخام</a:t>
            </a:r>
          </a:p>
        </p:txBody>
      </p:sp>
      <p:sp>
        <p:nvSpPr>
          <p:cNvPr id="12" name="arrow_1_2"/>
          <p:cNvSpPr/>
          <p:nvPr/>
        </p:nvSpPr>
        <p:spPr>
          <a:xfrm rot="10800000">
            <a:off x="8577000" y="2736000"/>
            <a:ext cx="432000" cy="288000"/>
          </a:xfrm>
          <a:prstGeom prst="notchedRightArrow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_step_2"/>
          <p:cNvSpPr/>
          <p:nvPr/>
        </p:nvSpPr>
        <p:spPr>
          <a:xfrm>
            <a:off x="6246000" y="1980000"/>
            <a:ext cx="2331000" cy="1800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ccent_step_2"/>
          <p:cNvSpPr/>
          <p:nvPr/>
        </p:nvSpPr>
        <p:spPr>
          <a:xfrm>
            <a:off x="6246000" y="1980000"/>
            <a:ext cx="2331000" cy="180000"/>
          </a:xfrm>
          <a:prstGeom prst="rect">
            <a:avLst/>
          </a:prstGeom>
          <a:ln>
            <a:noFill/>
          </a:ln>
          <a:gradFill>
            <a:gsLst>
              <a:gs pos="0">
                <a:srgbClr val="4A7AAE"/>
              </a:gs>
              <a:gs pos="100000">
                <a:srgbClr val="72A2D6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um_step_2"/>
          <p:cNvSpPr/>
          <p:nvPr/>
        </p:nvSpPr>
        <p:spPr>
          <a:xfrm>
            <a:off x="7159500" y="2268000"/>
            <a:ext cx="503999" cy="503999"/>
          </a:xfrm>
          <a:prstGeom prst="ellipse">
            <a:avLst/>
          </a:prstGeom>
          <a:solidFill>
            <a:srgbClr val="4A7AAE"/>
          </a:solidFill>
          <a:ln>
            <a:noFill/>
          </a:ln>
          <a:effectLst>
            <a:glow rad="76200">
              <a:srgbClr val="4A7AAE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2</a:t>
            </a:r>
          </a:p>
        </p:txBody>
      </p:sp>
      <p:sp>
        <p:nvSpPr>
          <p:cNvPr id="16" name="txt_step_2_label"/>
          <p:cNvSpPr txBox="1"/>
          <p:nvPr/>
        </p:nvSpPr>
        <p:spPr>
          <a:xfrm>
            <a:off x="6354000" y="2843999"/>
            <a:ext cx="2115000" cy="43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4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صياغة الأهداف</a:t>
            </a:r>
          </a:p>
        </p:txBody>
      </p:sp>
      <p:sp>
        <p:nvSpPr>
          <p:cNvPr id="17" name="txt_step_2_desc"/>
          <p:cNvSpPr txBox="1"/>
          <p:nvPr/>
        </p:nvSpPr>
        <p:spPr>
          <a:xfrm>
            <a:off x="6354000" y="3275999"/>
            <a:ext cx="2115000" cy="468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100" b="0" lang="ar-JO">
                <a:solidFill>
                  <a:srgbClr val="6B6B6B"/>
                </a:solidFill>
                <a:cs typeface="Tajawal"/>
                <a:latin typeface="Tajawal"/>
                <a:ea typeface="Tajawal"/>
              </a:rPr>
              <a:t>تصنيف بلوم</a:t>
            </a:r>
          </a:p>
        </p:txBody>
      </p:sp>
      <p:sp>
        <p:nvSpPr>
          <p:cNvPr id="18" name="arrow_2_3"/>
          <p:cNvSpPr/>
          <p:nvPr/>
        </p:nvSpPr>
        <p:spPr>
          <a:xfrm rot="10800000">
            <a:off x="5814000" y="2736000"/>
            <a:ext cx="432000" cy="288000"/>
          </a:xfrm>
          <a:prstGeom prst="notchedRightArrow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_step_3"/>
          <p:cNvSpPr/>
          <p:nvPr/>
        </p:nvSpPr>
        <p:spPr>
          <a:xfrm>
            <a:off x="3483000" y="1980000"/>
            <a:ext cx="2331000" cy="1800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ccent_step_3"/>
          <p:cNvSpPr/>
          <p:nvPr/>
        </p:nvSpPr>
        <p:spPr>
          <a:xfrm>
            <a:off x="3483000" y="1980000"/>
            <a:ext cx="2331000" cy="180000"/>
          </a:xfrm>
          <a:prstGeom prst="rect">
            <a:avLst/>
          </a:prstGeom>
          <a:ln>
            <a:noFill/>
          </a:ln>
          <a:gradFill>
            <a:gsLst>
              <a:gs pos="0">
                <a:srgbClr val="2D588C"/>
              </a:gs>
              <a:gs pos="100000">
                <a:srgbClr val="5580B4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um_step_3"/>
          <p:cNvSpPr/>
          <p:nvPr/>
        </p:nvSpPr>
        <p:spPr>
          <a:xfrm>
            <a:off x="4396500" y="2268000"/>
            <a:ext cx="503999" cy="503999"/>
          </a:xfrm>
          <a:prstGeom prst="ellipse">
            <a:avLst/>
          </a:prstGeom>
          <a:solidFill>
            <a:srgbClr val="2D588C"/>
          </a:solidFill>
          <a:ln>
            <a:noFill/>
          </a:ln>
          <a:effectLst>
            <a:glow rad="76200">
              <a:srgbClr val="2D588C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3</a:t>
            </a:r>
          </a:p>
        </p:txBody>
      </p:sp>
      <p:sp>
        <p:nvSpPr>
          <p:cNvPr id="22" name="txt_step_3_label"/>
          <p:cNvSpPr txBox="1"/>
          <p:nvPr/>
        </p:nvSpPr>
        <p:spPr>
          <a:xfrm>
            <a:off x="3591000" y="2843999"/>
            <a:ext cx="2115000" cy="43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4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تصميم الشرائح</a:t>
            </a:r>
          </a:p>
        </p:txBody>
      </p:sp>
      <p:sp>
        <p:nvSpPr>
          <p:cNvPr id="23" name="txt_step_3_desc"/>
          <p:cNvSpPr txBox="1"/>
          <p:nvPr/>
        </p:nvSpPr>
        <p:spPr>
          <a:xfrm>
            <a:off x="3591000" y="3275999"/>
            <a:ext cx="2115000" cy="468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100" b="0" lang="ar-JO">
                <a:solidFill>
                  <a:srgbClr val="6B6B6B"/>
                </a:solidFill>
                <a:cs typeface="Tajawal"/>
                <a:latin typeface="Tajawal"/>
                <a:ea typeface="Tajawal"/>
              </a:rPr>
              <a:t>القواعد البصرية</a:t>
            </a:r>
          </a:p>
        </p:txBody>
      </p:sp>
      <p:sp>
        <p:nvSpPr>
          <p:cNvPr id="24" name="arrow_3_4"/>
          <p:cNvSpPr/>
          <p:nvPr/>
        </p:nvSpPr>
        <p:spPr>
          <a:xfrm rot="10800000">
            <a:off x="3051000" y="2736000"/>
            <a:ext cx="432000" cy="288000"/>
          </a:xfrm>
          <a:prstGeom prst="notchedRightArrow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_step_4"/>
          <p:cNvSpPr/>
          <p:nvPr/>
        </p:nvSpPr>
        <p:spPr>
          <a:xfrm>
            <a:off x="720000" y="1980000"/>
            <a:ext cx="2331000" cy="1800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ccent_step_4"/>
          <p:cNvSpPr/>
          <p:nvPr/>
        </p:nvSpPr>
        <p:spPr>
          <a:xfrm>
            <a:off x="720000" y="1980000"/>
            <a:ext cx="2331000" cy="180000"/>
          </a:xfrm>
          <a:prstGeom prst="rect">
            <a:avLst/>
          </a:prstGeom>
          <a:ln>
            <a:noFill/>
          </a:ln>
          <a:gradFill>
            <a:gsLst>
              <a:gs pos="0">
                <a:srgbClr val="156082"/>
              </a:gs>
              <a:gs pos="100000">
                <a:srgbClr val="3D88AA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um_step_4"/>
          <p:cNvSpPr/>
          <p:nvPr/>
        </p:nvSpPr>
        <p:spPr>
          <a:xfrm>
            <a:off x="1633500" y="2268000"/>
            <a:ext cx="503999" cy="503999"/>
          </a:xfrm>
          <a:prstGeom prst="ellipse">
            <a:avLst/>
          </a:prstGeom>
          <a:solidFill>
            <a:srgbClr val="156082"/>
          </a:solidFill>
          <a:ln>
            <a:noFill/>
          </a:ln>
          <a:effectLst>
            <a:glow rad="76200">
              <a:srgbClr val="156082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4</a:t>
            </a:r>
          </a:p>
        </p:txBody>
      </p:sp>
      <p:sp>
        <p:nvSpPr>
          <p:cNvPr id="28" name="txt_step_4_label"/>
          <p:cNvSpPr txBox="1"/>
          <p:nvPr/>
        </p:nvSpPr>
        <p:spPr>
          <a:xfrm>
            <a:off x="828000" y="2843999"/>
            <a:ext cx="2115000" cy="43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4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المراجعة</a:t>
            </a:r>
          </a:p>
        </p:txBody>
      </p:sp>
      <p:sp>
        <p:nvSpPr>
          <p:cNvPr id="29" name="txt_step_4_desc"/>
          <p:cNvSpPr txBox="1"/>
          <p:nvPr/>
        </p:nvSpPr>
        <p:spPr>
          <a:xfrm>
            <a:off x="828000" y="3275999"/>
            <a:ext cx="2115000" cy="468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100" b="0" lang="ar-JO">
                <a:solidFill>
                  <a:srgbClr val="6B6B6B"/>
                </a:solidFill>
                <a:cs typeface="Tajawal"/>
                <a:latin typeface="Tajawal"/>
                <a:ea typeface="Tajawal"/>
              </a:rPr>
              <a:t>ضمان الجودة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مقارنة: النهج التقليدي والجديد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التجريبية: اختبار شامل للمحرك المعياري الجديد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مقارنة: النهج التقليدي والجديد</a:t>
            </a:r>
          </a:p>
        </p:txBody>
      </p:sp>
      <p:sp>
        <p:nvSpPr>
          <p:cNvPr id="6" name="bg_depth_wash"/>
          <p:cNvSpPr/>
          <p:nvPr/>
        </p:nvSpPr>
        <p:spPr>
          <a:xfrm>
            <a:off x="6432000" y="-1080000"/>
            <a:ext cx="7200000" cy="504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_col_1"/>
          <p:cNvSpPr/>
          <p:nvPr/>
        </p:nvSpPr>
        <p:spPr>
          <a:xfrm>
            <a:off x="6210000" y="1800000"/>
            <a:ext cx="4950000" cy="39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ccent_col_1"/>
          <p:cNvSpPr/>
          <p:nvPr/>
        </p:nvSpPr>
        <p:spPr>
          <a:xfrm>
            <a:off x="6210000" y="1800000"/>
            <a:ext cx="4950000" cy="144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g_col_1_header"/>
          <p:cNvSpPr/>
          <p:nvPr/>
        </p:nvSpPr>
        <p:spPr>
          <a:xfrm>
            <a:off x="6210000" y="1944000"/>
            <a:ext cx="4950000" cy="576000"/>
          </a:xfrm>
          <a:prstGeom prst="rect">
            <a:avLst/>
          </a:prstGeom>
          <a:ln>
            <a:noFill/>
          </a:ln>
          <a:gradFill>
            <a:gsLst>
              <a:gs pos="0">
                <a:srgbClr val="2D588C"/>
              </a:gs>
              <a:gs pos="100000">
                <a:srgbClr val="507BAF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xt_col_1_title"/>
          <p:cNvSpPr txBox="1"/>
          <p:nvPr/>
        </p:nvSpPr>
        <p:spPr>
          <a:xfrm>
            <a:off x="6390000" y="1944000"/>
            <a:ext cx="4590000" cy="576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النهج التقليدي</a:t>
            </a:r>
          </a:p>
        </p:txBody>
      </p:sp>
      <p:sp>
        <p:nvSpPr>
          <p:cNvPr id="11" name="txt_col_1_body"/>
          <p:cNvSpPr txBox="1"/>
          <p:nvPr/>
        </p:nvSpPr>
        <p:spPr>
          <a:xfrm>
            <a:off x="6318000" y="2628000"/>
            <a:ext cx="4734000" cy="306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شرائح نصية متكررة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تصميم موحد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بدون تفاعل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قوالب جاهزة</a:t>
            </a:r>
          </a:p>
        </p:txBody>
      </p:sp>
      <p:sp>
        <p:nvSpPr>
          <p:cNvPr id="12" name="card_col_2"/>
          <p:cNvSpPr/>
          <p:nvPr/>
        </p:nvSpPr>
        <p:spPr>
          <a:xfrm>
            <a:off x="900000" y="1800000"/>
            <a:ext cx="4950000" cy="39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76200" dist="38100" dir="2700000" rotWithShape="0">
              <a:srgbClr val="000000">
                <a:alpha val="8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ccent_col_2"/>
          <p:cNvSpPr/>
          <p:nvPr/>
        </p:nvSpPr>
        <p:spPr>
          <a:xfrm>
            <a:off x="900000" y="1800000"/>
            <a:ext cx="4950000" cy="144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g_col_2_header"/>
          <p:cNvSpPr/>
          <p:nvPr/>
        </p:nvSpPr>
        <p:spPr>
          <a:xfrm>
            <a:off x="900000" y="1944000"/>
            <a:ext cx="4950000" cy="576000"/>
          </a:xfrm>
          <a:prstGeom prst="rect">
            <a:avLst/>
          </a:prstGeom>
          <a:ln>
            <a:noFill/>
          </a:ln>
          <a:gradFill>
            <a:gsLst>
              <a:gs pos="0">
                <a:srgbClr val="009688"/>
              </a:gs>
              <a:gs pos="100000">
                <a:srgbClr val="23B9AB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xt_col_2_title"/>
          <p:cNvSpPr txBox="1"/>
          <p:nvPr/>
        </p:nvSpPr>
        <p:spPr>
          <a:xfrm>
            <a:off x="1080000" y="1944000"/>
            <a:ext cx="4590000" cy="576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النهج الجديد</a:t>
            </a:r>
          </a:p>
        </p:txBody>
      </p:sp>
      <p:sp>
        <p:nvSpPr>
          <p:cNvPr id="16" name="txt_col_2_body"/>
          <p:cNvSpPr txBox="1"/>
          <p:nvPr/>
        </p:nvSpPr>
        <p:spPr>
          <a:xfrm>
            <a:off x="1008000" y="2628000"/>
            <a:ext cx="4734000" cy="306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أنماط بصرية متنوعة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تأثيرات OOXML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تفاعلات Storyline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ذكاء اصطناعي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رؤية التصميم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التجريبية: اختبار شامل للمحرك المعياري الجديد</a:t>
            </a:r>
          </a:p>
        </p:txBody>
      </p:sp>
      <p:pic>
        <p:nvPicPr>
          <p:cNvPr id="4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رؤية التصميم</a:t>
            </a:r>
          </a:p>
        </p:txBody>
      </p:sp>
      <p:sp>
        <p:nvSpPr>
          <p:cNvPr id="6" name="bg_depth_wash"/>
          <p:cNvSpPr/>
          <p:nvPr/>
        </p:nvSpPr>
        <p:spPr>
          <a:xfrm>
            <a:off x="2856000" y="1269000"/>
            <a:ext cx="6480000" cy="4320000"/>
          </a:xfrm>
          <a:prstGeom prst="ellipse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_quote_mark_right"/>
          <p:cNvSpPr txBox="1"/>
          <p:nvPr/>
        </p:nvSpPr>
        <p:spPr>
          <a:xfrm>
            <a:off x="7200000" y="1620000"/>
            <a:ext cx="2160000" cy="1440000"/>
          </a:xfrm>
          <a:prstGeom prst="rect">
            <a:avLst/>
          </a:prstGeom>
          <a:noFill/>
          <a:effectLst>
            <a:softEdge rad="101600"/>
          </a:effectLst>
        </p:spPr>
        <p:txBody>
          <a:bodyPr wrap="none" lIns="90000" rIns="90000" tIns="46800" bIns="46800">
            <a:noAutofit/>
          </a:bodyPr>
          <a:lstStyle/>
          <a:p>
            <a:pPr algn="ctr" rtl="1">
              <a:lnSpc>
                <a:spcPct val="130000"/>
              </a:lnSpc>
            </a:pPr>
            <a:r>
              <a:rPr sz="12000" b="0" lang="ar-JO">
                <a:solidFill>
                  <a:srgbClr val="E0E8F0"/>
                </a:solidFill>
                <a:cs typeface="Tajawal ExtraBold"/>
                <a:latin typeface="Tajawal ExtraBold"/>
                <a:ea typeface="Tajawal ExtraBold"/>
              </a:rPr>
              <a:t>»</a:t>
            </a:r>
          </a:p>
        </p:txBody>
      </p:sp>
      <p:sp>
        <p:nvSpPr>
          <p:cNvPr id="8" name="deco_quote_mark_left"/>
          <p:cNvSpPr txBox="1"/>
          <p:nvPr/>
        </p:nvSpPr>
        <p:spPr>
          <a:xfrm>
            <a:off x="2520000" y="3240000"/>
            <a:ext cx="2160000" cy="1440000"/>
          </a:xfrm>
          <a:prstGeom prst="rect">
            <a:avLst/>
          </a:prstGeom>
          <a:noFill/>
          <a:effectLst>
            <a:softEdge rad="101600"/>
          </a:effectLst>
        </p:spPr>
        <p:txBody>
          <a:bodyPr wrap="none" lIns="90000" rIns="90000" tIns="46800" bIns="46800">
            <a:noAutofit/>
          </a:bodyPr>
          <a:lstStyle/>
          <a:p>
            <a:pPr algn="ctr" rtl="1">
              <a:lnSpc>
                <a:spcPct val="130000"/>
              </a:lnSpc>
            </a:pPr>
            <a:r>
              <a:rPr sz="12000" b="0" lang="ar-JO">
                <a:solidFill>
                  <a:srgbClr val="E0E8F0"/>
                </a:solidFill>
                <a:cs typeface="Tajawal ExtraBold"/>
                <a:latin typeface="Tajawal ExtraBold"/>
                <a:ea typeface="Tajawal ExtraBold"/>
              </a:rPr>
              <a:t>«</a:t>
            </a:r>
          </a:p>
        </p:txBody>
      </p:sp>
      <p:sp>
        <p:nvSpPr>
          <p:cNvPr id="9" name="txt_quote"/>
          <p:cNvSpPr txBox="1"/>
          <p:nvPr/>
        </p:nvSpPr>
        <p:spPr>
          <a:xfrm>
            <a:off x="2136000" y="2160000"/>
            <a:ext cx="7920000" cy="180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sz="2600" b="0" lang="ar-JO">
                <a:solidFill>
                  <a:srgbClr val="1E3D63"/>
                </a:solidFill>
                <a:cs typeface="Tajawal Medium"/>
                <a:latin typeface="Tajawal Medium"/>
                <a:ea typeface="Tajawal Medium"/>
              </a:rPr>
              <a:t>المحرك الجيد لا يُنتج شرائح — بل يُنتج تجربة تعلم متكاملة</a:t>
            </a:r>
          </a:p>
        </p:txBody>
      </p:sp>
      <p:sp>
        <p:nvSpPr>
          <p:cNvPr id="10" name="txt_attribution"/>
          <p:cNvSpPr txBox="1"/>
          <p:nvPr/>
        </p:nvSpPr>
        <p:spPr>
          <a:xfrm>
            <a:off x="2136000" y="4140000"/>
            <a:ext cx="7920000" cy="540000"/>
          </a:xfrm>
          <a:prstGeom prst="rect">
            <a:avLst/>
          </a:prstGeom>
          <a:noFill/>
        </p:spPr>
        <p:txBody>
          <a:bodyPr wrap="none" lIns="90000" rIns="90000" tIns="46800" bIns="46800">
            <a:noAutofit/>
          </a:bodyPr>
          <a:lstStyle/>
          <a:p>
            <a:pPr algn="ctr" rtl="1"/>
            <a:r>
              <a:rPr sz="1400" b="0" lang="ar-JO">
                <a:solidFill>
                  <a:srgbClr val="6B6B6B"/>
                </a:solidFill>
                <a:cs typeface="Tajawal"/>
                <a:latin typeface="Tajawal"/>
                <a:ea typeface="Tajawal"/>
              </a:rPr>
              <a:t>— فلسفة المحرك المعياري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أنواع الشرائح التفاعلية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التجريبية: اختبار شامل للمحرك المعياري الجديد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أنواع الشرائح التفاعلية</a:t>
            </a:r>
          </a:p>
        </p:txBody>
      </p:sp>
      <p:sp>
        <p:nvSpPr>
          <p:cNvPr id="6" name="card_1"/>
          <p:cNvSpPr/>
          <p:nvPr/>
        </p:nvSpPr>
        <p:spPr>
          <a:xfrm>
            <a:off x="900000" y="1980000"/>
            <a:ext cx="3228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2D588C"/>
            </a:solidFill>
          </a:ln>
          <a:effectLst>
            <a:outerShdw blurRad="76200" dist="38100" dir="2700000" rotWithShape="0">
              <a:srgbClr val="00000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000" y="1980000"/>
            <a:ext cx="3228000" cy="432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img_card_1" descr="img_20260222_0902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2520000"/>
            <a:ext cx="1980000" cy="1080000"/>
          </a:xfrm>
          <a:prstGeom prst="rect">
            <a:avLst/>
          </a:prstGeom>
        </p:spPr>
      </p:pic>
      <p:sp>
        <p:nvSpPr>
          <p:cNvPr id="9" name="txt_card_1_title"/>
          <p:cNvSpPr txBox="1"/>
          <p:nvPr/>
        </p:nvSpPr>
        <p:spPr>
          <a:xfrm>
            <a:off x="1080000" y="3708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اختيار من متعدد</a:t>
            </a:r>
          </a:p>
        </p:txBody>
      </p:sp>
      <p:sp>
        <p:nvSpPr>
          <p:cNvPr id="10" name="txt_card_1_body"/>
          <p:cNvSpPr txBox="1"/>
          <p:nvPr/>
        </p:nvSpPr>
        <p:spPr>
          <a:xfrm>
            <a:off x="1080000" y="4320000"/>
            <a:ext cx="2868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أسئلة مع شارات حروف عربية</a:t>
            </a:r>
          </a:p>
        </p:txBody>
      </p:sp>
      <p:sp>
        <p:nvSpPr>
          <p:cNvPr id="11" name="card_2"/>
          <p:cNvSpPr/>
          <p:nvPr/>
        </p:nvSpPr>
        <p:spPr>
          <a:xfrm>
            <a:off x="4416000" y="1980000"/>
            <a:ext cx="3228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156082"/>
            </a:solidFill>
          </a:ln>
          <a:effectLst>
            <a:outerShdw blurRad="76200" dist="38100" dir="2700000" rotWithShape="0">
              <a:srgbClr val="00000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000" y="1980000"/>
            <a:ext cx="3228000" cy="432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img_card_2" descr="img_20260222_0902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0000" y="2520000"/>
            <a:ext cx="1980000" cy="1080000"/>
          </a:xfrm>
          <a:prstGeom prst="rect">
            <a:avLst/>
          </a:prstGeom>
        </p:spPr>
      </p:pic>
      <p:sp>
        <p:nvSpPr>
          <p:cNvPr id="14" name="txt_card_2_title"/>
          <p:cNvSpPr txBox="1"/>
          <p:nvPr/>
        </p:nvSpPr>
        <p:spPr>
          <a:xfrm>
            <a:off x="4596000" y="3708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اسحب وأفلت</a:t>
            </a:r>
          </a:p>
        </p:txBody>
      </p:sp>
      <p:sp>
        <p:nvSpPr>
          <p:cNvPr id="15" name="txt_card_2_body"/>
          <p:cNvSpPr txBox="1"/>
          <p:nvPr/>
        </p:nvSpPr>
        <p:spPr>
          <a:xfrm>
            <a:off x="4596000" y="4320000"/>
            <a:ext cx="2868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تصنيف العناصر في مناطق</a:t>
            </a:r>
          </a:p>
        </p:txBody>
      </p:sp>
      <p:sp>
        <p:nvSpPr>
          <p:cNvPr id="16" name="card_3"/>
          <p:cNvSpPr/>
          <p:nvPr/>
        </p:nvSpPr>
        <p:spPr>
          <a:xfrm>
            <a:off x="7932000" y="1980000"/>
            <a:ext cx="3228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009688"/>
            </a:solidFill>
          </a:ln>
          <a:effectLst>
            <a:outerShdw blurRad="76200" dist="38100" dir="2700000" rotWithShape="0">
              <a:srgbClr val="00000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32000" y="1980000"/>
            <a:ext cx="3228000" cy="432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img_card_3" descr="img_20260222_0903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6000" y="2520000"/>
            <a:ext cx="1980000" cy="1080000"/>
          </a:xfrm>
          <a:prstGeom prst="rect">
            <a:avLst/>
          </a:prstGeom>
        </p:spPr>
      </p:pic>
      <p:sp>
        <p:nvSpPr>
          <p:cNvPr id="19" name="txt_card_3_title"/>
          <p:cNvSpPr txBox="1"/>
          <p:nvPr/>
        </p:nvSpPr>
        <p:spPr>
          <a:xfrm>
            <a:off x="8112000" y="3708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009688"/>
                </a:solidFill>
                <a:cs typeface="Tajawal ExtraBold"/>
                <a:latin typeface="Tajawal ExtraBold"/>
                <a:ea typeface="Tajawal ExtraBold"/>
              </a:rPr>
              <a:t>سيناريو متفرع</a:t>
            </a:r>
          </a:p>
        </p:txBody>
      </p:sp>
      <p:sp>
        <p:nvSpPr>
          <p:cNvPr id="20" name="txt_card_3_body"/>
          <p:cNvSpPr txBox="1"/>
          <p:nvPr/>
        </p:nvSpPr>
        <p:spPr>
          <a:xfrm>
            <a:off x="8112000" y="4320000"/>
            <a:ext cx="2868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قرارات مع نتائج مختلفة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نشاط: أي من التالي يصف أفضل فلسفة ال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التجريبية: اختبار شامل للمحرك المعياري الجديد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نشاط تفاعلي: اختيار من متعدد</a:t>
            </a:r>
          </a:p>
        </p:txBody>
      </p:sp>
      <p:pic>
        <p:nvPicPr>
          <p:cNvPr id="6" name="img_quiz" descr="img_20260222_0903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652727"/>
            <a:ext cx="2520000" cy="1374545"/>
          </a:xfrm>
          <a:prstGeom prst="rect">
            <a:avLst/>
          </a:prstGeom>
        </p:spPr>
      </p:pic>
      <p:sp>
        <p:nvSpPr>
          <p:cNvPr id="7" name="txt_question"/>
          <p:cNvSpPr txBox="1"/>
          <p:nvPr/>
        </p:nvSpPr>
        <p:spPr>
          <a:xfrm>
            <a:off x="3600000" y="1800000"/>
            <a:ext cx="7560000" cy="72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4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أي من التالي يصف أفضل فلسفة المحرك الجديد؟</a:t>
            </a:r>
          </a:p>
        </p:txBody>
      </p:sp>
      <p:sp>
        <p:nvSpPr>
          <p:cNvPr id="8" name="bg_opt_a"/>
          <p:cNvSpPr/>
          <p:nvPr/>
        </p:nvSpPr>
        <p:spPr>
          <a:xfrm>
            <a:off x="900000" y="2664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pt_a"/>
          <p:cNvSpPr/>
          <p:nvPr/>
        </p:nvSpPr>
        <p:spPr>
          <a:xfrm>
            <a:off x="10260000" y="2736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أ</a:t>
            </a:r>
          </a:p>
        </p:txBody>
      </p:sp>
      <p:sp>
        <p:nvSpPr>
          <p:cNvPr id="10" name="txt_opt_a"/>
          <p:cNvSpPr txBox="1"/>
          <p:nvPr/>
        </p:nvSpPr>
        <p:spPr>
          <a:xfrm>
            <a:off x="1080000" y="2700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استخدام SVG لكل الشرائح</a:t>
            </a:r>
          </a:p>
        </p:txBody>
      </p:sp>
      <p:sp>
        <p:nvSpPr>
          <p:cNvPr id="11" name="bg_opt_b"/>
          <p:cNvSpPr/>
          <p:nvPr/>
        </p:nvSpPr>
        <p:spPr>
          <a:xfrm>
            <a:off x="900000" y="3456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pt_b"/>
          <p:cNvSpPr/>
          <p:nvPr/>
        </p:nvSpPr>
        <p:spPr>
          <a:xfrm>
            <a:off x="10260000" y="3528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ب</a:t>
            </a:r>
          </a:p>
        </p:txBody>
      </p:sp>
      <p:sp>
        <p:nvSpPr>
          <p:cNvPr id="13" name="txt_opt_b"/>
          <p:cNvSpPr txBox="1"/>
          <p:nvPr/>
        </p:nvSpPr>
        <p:spPr>
          <a:xfrm>
            <a:off x="1080000" y="3492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أشكال PowerPoint الأصلية + OOXML + SVG للرسوم المعقدة فقط</a:t>
            </a:r>
          </a:p>
        </p:txBody>
      </p:sp>
      <p:sp>
        <p:nvSpPr>
          <p:cNvPr id="14" name="bg_opt_c"/>
          <p:cNvSpPr/>
          <p:nvPr/>
        </p:nvSpPr>
        <p:spPr>
          <a:xfrm>
            <a:off x="900000" y="4248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t_c"/>
          <p:cNvSpPr/>
          <p:nvPr/>
        </p:nvSpPr>
        <p:spPr>
          <a:xfrm>
            <a:off x="10260000" y="432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ج</a:t>
            </a:r>
          </a:p>
        </p:txBody>
      </p:sp>
      <p:sp>
        <p:nvSpPr>
          <p:cNvPr id="16" name="txt_opt_c"/>
          <p:cNvSpPr txBox="1"/>
          <p:nvPr/>
        </p:nvSpPr>
        <p:spPr>
          <a:xfrm>
            <a:off x="1080000" y="4284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الاعتماد على القوالب الجاهزة</a:t>
            </a:r>
          </a:p>
        </p:txBody>
      </p:sp>
      <p:sp>
        <p:nvSpPr>
          <p:cNvPr id="17" name="bg_opt_d"/>
          <p:cNvSpPr/>
          <p:nvPr/>
        </p:nvSpPr>
        <p:spPr>
          <a:xfrm>
            <a:off x="900000" y="5040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pt_d"/>
          <p:cNvSpPr/>
          <p:nvPr/>
        </p:nvSpPr>
        <p:spPr>
          <a:xfrm>
            <a:off x="10260000" y="5112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د</a:t>
            </a:r>
          </a:p>
        </p:txBody>
      </p:sp>
      <p:sp>
        <p:nvSpPr>
          <p:cNvPr id="19" name="txt_opt_d"/>
          <p:cNvSpPr txBox="1"/>
          <p:nvPr/>
        </p:nvSpPr>
        <p:spPr>
          <a:xfrm>
            <a:off x="1080000" y="5076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استخدام الصور بدلاً من النصوص</a:t>
            </a:r>
          </a:p>
        </p:txBody>
      </p:sp>
      <p:sp>
        <p:nvSpPr>
          <p:cNvPr id="20" name="btn_check"/>
          <p:cNvSpPr/>
          <p:nvPr/>
        </p:nvSpPr>
        <p:spPr>
          <a:xfrm>
            <a:off x="3600000" y="5760000"/>
            <a:ext cx="3600000" cy="576000"/>
          </a:xfrm>
          <a:prstGeom prst="roundRect">
            <a:avLst/>
          </a:prstGeom>
          <a:solidFill>
            <a:srgbClr val="156082"/>
          </a:solidFill>
          <a:ln w="1905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22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تحقق من الإجابة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سيناريو تطبيقي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التجريبية: اختبار شامل للمحرك المعياري الجديد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سيناريو تطبيقي</a:t>
            </a:r>
          </a:p>
        </p:txBody>
      </p:sp>
      <p:sp>
        <p:nvSpPr>
          <p:cNvPr id="6" name="bg_situation"/>
          <p:cNvSpPr/>
          <p:nvPr/>
        </p:nvSpPr>
        <p:spPr>
          <a:xfrm>
            <a:off x="900000" y="1620000"/>
            <a:ext cx="10260000" cy="1800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ccent_situation_bar"/>
          <p:cNvSpPr/>
          <p:nvPr/>
        </p:nvSpPr>
        <p:spPr>
          <a:xfrm>
            <a:off x="10980000" y="1620000"/>
            <a:ext cx="144000" cy="1800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_situation"/>
          <p:cNvSpPr txBox="1"/>
          <p:nvPr/>
        </p:nvSpPr>
        <p:spPr>
          <a:xfrm>
            <a:off x="1260000" y="1800000"/>
            <a:ext cx="9540000" cy="14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أنت مصمم تعليمي وطُلب منك إنشاء محاضرة تفاعلية عن الذكاء الاصطناعي. المحتوى يحتوي على 5 مفاهيم أساسية و3 تطبيقات عملية. ما أفضل نهج للتصميم؟</a:t>
            </a:r>
          </a:p>
        </p:txBody>
      </p:sp>
      <p:sp>
        <p:nvSpPr>
          <p:cNvPr id="9" name="btn_choice_0"/>
          <p:cNvSpPr/>
          <p:nvPr/>
        </p:nvSpPr>
        <p:spPr>
          <a:xfrm>
            <a:off x="900000" y="3780000"/>
            <a:ext cx="3228000" cy="1260000"/>
          </a:xfrm>
          <a:prstGeom prst="roundRect">
            <a:avLst>
              <a:gd name="adj" fmla="val 6000"/>
            </a:avLst>
          </a:prstGeom>
          <a:solidFill>
            <a:srgbClr val="2D588C"/>
          </a:solidFill>
          <a:ln>
            <a:noFill/>
          </a:ln>
          <a:effectLst>
            <a:outerShdw blurRad="63500" dist="38100" dir="2700000" rotWithShape="0">
              <a:srgbClr val="000000">
                <a:alpha val="8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con_choice_0"/>
          <p:cNvSpPr/>
          <p:nvPr/>
        </p:nvSpPr>
        <p:spPr>
          <a:xfrm>
            <a:off x="3552000" y="3888000"/>
            <a:ext cx="468000" cy="46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1</a:t>
            </a:r>
          </a:p>
        </p:txBody>
      </p:sp>
      <p:sp>
        <p:nvSpPr>
          <p:cNvPr id="11" name="txt_choice_0"/>
          <p:cNvSpPr txBox="1"/>
          <p:nvPr/>
        </p:nvSpPr>
        <p:spPr>
          <a:xfrm>
            <a:off x="1080000" y="4068000"/>
            <a:ext cx="2868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FFFFFF"/>
                </a:solidFill>
                <a:cs typeface="Tajawal Medium"/>
                <a:latin typeface="Tajawal Medium"/>
                <a:ea typeface="Tajawal Medium"/>
              </a:rPr>
              <a:t>وضع كل المحتوى في شرائح نصية متتالية</a:t>
            </a:r>
          </a:p>
        </p:txBody>
      </p:sp>
      <p:sp>
        <p:nvSpPr>
          <p:cNvPr id="12" name="btn_choice_1"/>
          <p:cNvSpPr/>
          <p:nvPr/>
        </p:nvSpPr>
        <p:spPr>
          <a:xfrm>
            <a:off x="4416000" y="3780000"/>
            <a:ext cx="3228000" cy="1260000"/>
          </a:xfrm>
          <a:prstGeom prst="roundRect">
            <a:avLst>
              <a:gd name="adj" fmla="val 6000"/>
            </a:avLst>
          </a:prstGeom>
          <a:solidFill>
            <a:srgbClr val="156082"/>
          </a:solidFill>
          <a:ln>
            <a:noFill/>
          </a:ln>
          <a:effectLst>
            <a:outerShdw blurRad="63500" dist="38100" dir="2700000" rotWithShape="0">
              <a:srgbClr val="000000">
                <a:alpha val="8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con_choice_1"/>
          <p:cNvSpPr/>
          <p:nvPr/>
        </p:nvSpPr>
        <p:spPr>
          <a:xfrm>
            <a:off x="7068000" y="3888000"/>
            <a:ext cx="468000" cy="46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2</a:t>
            </a:r>
          </a:p>
        </p:txBody>
      </p:sp>
      <p:sp>
        <p:nvSpPr>
          <p:cNvPr id="14" name="txt_choice_1"/>
          <p:cNvSpPr txBox="1"/>
          <p:nvPr/>
        </p:nvSpPr>
        <p:spPr>
          <a:xfrm>
            <a:off x="4596000" y="4068000"/>
            <a:ext cx="2868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FFFFFF"/>
                </a:solidFill>
                <a:cs typeface="Tajawal Medium"/>
                <a:latin typeface="Tajawal Medium"/>
                <a:ea typeface="Tajawal Medium"/>
              </a:rPr>
              <a:t>استخدام أنماط بصرية متنوعة مع تفاعلات بين كل قسم</a:t>
            </a:r>
          </a:p>
        </p:txBody>
      </p:sp>
      <p:sp>
        <p:nvSpPr>
          <p:cNvPr id="15" name="btn_choice_2"/>
          <p:cNvSpPr/>
          <p:nvPr/>
        </p:nvSpPr>
        <p:spPr>
          <a:xfrm>
            <a:off x="7932000" y="3780000"/>
            <a:ext cx="3228000" cy="1260000"/>
          </a:xfrm>
          <a:prstGeom prst="roundRect">
            <a:avLst>
              <a:gd name="adj" fmla="val 6000"/>
            </a:avLst>
          </a:prstGeom>
          <a:solidFill>
            <a:srgbClr val="1E3D63"/>
          </a:solidFill>
          <a:ln>
            <a:noFill/>
          </a:ln>
          <a:effectLst>
            <a:outerShdw blurRad="63500" dist="38100" dir="2700000" rotWithShape="0">
              <a:srgbClr val="000000">
                <a:alpha val="8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con_choice_2"/>
          <p:cNvSpPr/>
          <p:nvPr/>
        </p:nvSpPr>
        <p:spPr>
          <a:xfrm>
            <a:off x="10584000" y="3888000"/>
            <a:ext cx="468000" cy="46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 lang="ar-JO">
                <a:solidFill>
                  <a:srgbClr val="1E3D63"/>
                </a:solidFill>
                <a:cs typeface="Tajawal ExtraBold"/>
                <a:latin typeface="Tajawal ExtraBold"/>
                <a:ea typeface="Tajawal ExtraBold"/>
              </a:rPr>
              <a:t>3</a:t>
            </a:r>
          </a:p>
        </p:txBody>
      </p:sp>
      <p:sp>
        <p:nvSpPr>
          <p:cNvPr id="17" name="txt_choice_2"/>
          <p:cNvSpPr txBox="1"/>
          <p:nvPr/>
        </p:nvSpPr>
        <p:spPr>
          <a:xfrm>
            <a:off x="8112000" y="4068000"/>
            <a:ext cx="2868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FFFFFF"/>
                </a:solidFill>
                <a:cs typeface="Tajawal Medium"/>
                <a:latin typeface="Tajawal Medium"/>
                <a:ea typeface="Tajawal Medium"/>
              </a:rPr>
              <a:t>الاكتفاء بفيديو واحد يشرح كل شيء</a:t>
            </a:r>
          </a:p>
        </p:txBody>
      </p:sp>
      <p:sp>
        <p:nvSpPr>
          <p:cNvPr id="18" name="txt_choose_prompt"/>
          <p:cNvSpPr txBox="1"/>
          <p:nvPr/>
        </p:nvSpPr>
        <p:spPr>
          <a:xfrm>
            <a:off x="900000" y="3420000"/>
            <a:ext cx="10260000" cy="360000"/>
          </a:xfrm>
          <a:prstGeom prst="rect">
            <a:avLst/>
          </a:prstGeom>
          <a:noFill/>
        </p:spPr>
        <p:txBody>
          <a:bodyPr wrap="none" lIns="90000" rIns="90000" tIns="46800" bIns="468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اختر القرار المناسب: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ملخص المحاضرة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التجريبية: اختبار شامل للمحرك المعياري الجديد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ملخّص الوحدة الدراسيّة</a:t>
            </a:r>
          </a:p>
        </p:txBody>
      </p:sp>
      <p:sp>
        <p:nvSpPr>
          <p:cNvPr id="6" name="bg_summary_card"/>
          <p:cNvSpPr/>
          <p:nvPr/>
        </p:nvSpPr>
        <p:spPr>
          <a:xfrm>
            <a:off x="720000" y="1512000"/>
            <a:ext cx="10800000" cy="3780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_summary"/>
          <p:cNvSpPr txBox="1"/>
          <p:nvPr/>
        </p:nvSpPr>
        <p:spPr>
          <a:xfrm>
            <a:off x="900000" y="1620000"/>
            <a:ext cx="10440000" cy="360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المحرك المعياري يدعم 28 أسلوب شريحة مختلف</a:t>
            </a:r>
          </a:p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القواعد البصرية تضمن التنوع ومنع الرتابة</a:t>
            </a:r>
          </a:p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التفاعلات تشمل اختيار وسحب وسيناريو متفرع</a:t>
            </a:r>
          </a:p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المعايير التعليمية مدمجة في سير العمل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شكراً لكم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g_card"/>
          <p:cNvSpPr/>
          <p:nvPr/>
        </p:nvSpPr>
        <p:spPr>
          <a:xfrm>
            <a:off x="1080000" y="1080000"/>
            <a:ext cx="10032000" cy="469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_corner_tr_h"/>
          <p:cNvSpPr/>
          <p:nvPr/>
        </p:nvSpPr>
        <p:spPr>
          <a:xfrm>
            <a:off x="10032000" y="900000"/>
            <a:ext cx="1080000" cy="25400"/>
          </a:xfrm>
          <a:prstGeom prst="rect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_corner_tr_v"/>
          <p:cNvSpPr/>
          <p:nvPr/>
        </p:nvSpPr>
        <p:spPr>
          <a:xfrm>
            <a:off x="11112000" y="900000"/>
            <a:ext cx="25400" cy="1080000"/>
          </a:xfrm>
          <a:prstGeom prst="rect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_corner_tr_dot"/>
          <p:cNvSpPr/>
          <p:nvPr/>
        </p:nvSpPr>
        <p:spPr>
          <a:xfrm>
            <a:off x="11040000" y="828000"/>
            <a:ext cx="144000" cy="144000"/>
          </a:xfrm>
          <a:prstGeom prst="ellipse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img_closing" descr="img_20260222_0903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0000" y="1260000"/>
            <a:ext cx="3300000" cy="1800000"/>
          </a:xfrm>
          <a:prstGeom prst="rect">
            <a:avLst/>
          </a:prstGeom>
        </p:spPr>
      </p:pic>
      <p:sp>
        <p:nvSpPr>
          <p:cNvPr id="9" name="txt_thanks"/>
          <p:cNvSpPr txBox="1"/>
          <p:nvPr/>
        </p:nvSpPr>
        <p:spPr>
          <a:xfrm>
            <a:off x="1800000" y="3240000"/>
            <a:ext cx="864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36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شكراً لكم</a:t>
            </a:r>
          </a:p>
        </p:txBody>
      </p:sp>
      <p:sp>
        <p:nvSpPr>
          <p:cNvPr id="10" name="accent_steps_line"/>
          <p:cNvSpPr/>
          <p:nvPr/>
        </p:nvSpPr>
        <p:spPr>
          <a:xfrm>
            <a:off x="3600000" y="2700000"/>
            <a:ext cx="5040000" cy="36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xt_next_steps_label"/>
          <p:cNvSpPr txBox="1"/>
          <p:nvPr/>
        </p:nvSpPr>
        <p:spPr>
          <a:xfrm>
            <a:off x="1800000" y="2880000"/>
            <a:ext cx="864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الخطوات القادمة:</a:t>
            </a:r>
          </a:p>
        </p:txBody>
      </p:sp>
      <p:sp>
        <p:nvSpPr>
          <p:cNvPr id="12" name="num_step_1"/>
          <p:cNvSpPr/>
          <p:nvPr/>
        </p:nvSpPr>
        <p:spPr>
          <a:xfrm>
            <a:off x="8640000" y="360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1</a:t>
            </a:r>
          </a:p>
        </p:txBody>
      </p:sp>
      <p:sp>
        <p:nvSpPr>
          <p:cNvPr id="13" name="txt_step_1"/>
          <p:cNvSpPr txBox="1"/>
          <p:nvPr/>
        </p:nvSpPr>
        <p:spPr>
          <a:xfrm>
            <a:off x="2160000" y="3600000"/>
            <a:ext cx="61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تجربة المحرك مع محتوى حقيقي</a:t>
            </a:r>
          </a:p>
        </p:txBody>
      </p:sp>
      <p:sp>
        <p:nvSpPr>
          <p:cNvPr id="14" name="num_step_2"/>
          <p:cNvSpPr/>
          <p:nvPr/>
        </p:nvSpPr>
        <p:spPr>
          <a:xfrm>
            <a:off x="8640000" y="432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2</a:t>
            </a:r>
          </a:p>
        </p:txBody>
      </p:sp>
      <p:sp>
        <p:nvSpPr>
          <p:cNvPr id="15" name="txt_step_2"/>
          <p:cNvSpPr txBox="1"/>
          <p:nvPr/>
        </p:nvSpPr>
        <p:spPr>
          <a:xfrm>
            <a:off x="2160000" y="4320000"/>
            <a:ext cx="61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مراجعة ملفات التوثيق الـ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2025-11-02T06:11:04Z</dcterms:created>
  <dc:creator>hadeel alserhan</dc:creator>
</cp:coreProperties>
</file>