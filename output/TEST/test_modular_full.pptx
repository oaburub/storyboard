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13"/>
    <p:sldId id="257" r:id="rId12"/>
    <p:sldId id="258" r:id="rId11"/>
    <p:sldId id="259" r:id="rId10"/>
    <p:sldId id="260" r:id="rId9"/>
    <p:sldId id="261" r:id="rId8"/>
    <p:sldId id="262" r:id="rId7"/>
    <p:sldId id="263" r:id="rId6"/>
    <p:sldId id="264" r:id="rId22"/>
    <p:sldId id="265" r:id="rId23"/>
    <p:sldId id="266" r:id="rId24"/>
    <p:sldId id="267" r:id="rId25"/>
    <p:sldId id="268" r:id="rId26"/>
    <p:sldId id="269" r:id="rId27"/>
  </p:sldIdLst>
  <p:sldSz cy="6858000" cx="12192000"/>
  <p:notesSz cx="6858000" cy="9144000"/>
  <p:embeddedFontLst>
    <p:embeddedFont>
      <p:font typeface="Play"/>
      <p:regular r:id="rId14"/>
      <p:bold r:id="rId15"/>
    </p:embeddedFont>
    <p:embeddedFont>
      <p:font typeface="Tajawal ExtraBold"/>
      <p:bold r:id="rId16"/>
    </p:embeddedFont>
    <p:embeddedFont>
      <p:font typeface="Tajawal Medium"/>
      <p:regular r:id="rId17"/>
      <p:bold r:id="rId18"/>
    </p:embeddedFont>
    <p:embeddedFont>
      <p:font typeface="Tajawal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76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936">
          <p15:clr>
            <a:srgbClr val="A4A3A4"/>
          </p15:clr>
        </p15:guide>
        <p15:guide id="4" pos="4896">
          <p15:clr>
            <a:srgbClr val="A4A3A4"/>
          </p15:clr>
        </p15:guide>
        <p15:guide id="5" pos="6912">
          <p15:clr>
            <a:srgbClr val="A4A3A4"/>
          </p15:clr>
        </p15:guide>
        <p15:guide id="6" orient="horz" pos="1224">
          <p15:clr>
            <a:srgbClr val="A4A3A4"/>
          </p15:clr>
        </p15:guide>
        <p15:guide id="7" orient="horz" pos="3264">
          <p15:clr>
            <a:srgbClr val="A4A3A4"/>
          </p15:clr>
        </p15:guide>
      </p15:sldGuideLst>
    </p:ext>
    <p:ext uri="GoogleSlidesCustomDataVersion2">
      <go:slidesCustomData xmlns:go="http://customooxmlschemas.google.com/" r:id="rId21" roundtripDataSignature="AMtx7mjdE2pY+TZRQAyXDRzz/zrrGoHQ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76" orient="horz"/>
        <p:guide pos="3840"/>
        <p:guide pos="936" orient="horz"/>
        <p:guide pos="4896"/>
        <p:guide pos="6912"/>
        <p:guide pos="1224" orient="horz"/>
        <p:guide pos="3264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8.xml"/><Relationship Id="rId7" Type="http://schemas.openxmlformats.org/officeDocument/2006/relationships/slide" Target="slides/slide7.xml"/><Relationship Id="rId8" Type="http://schemas.openxmlformats.org/officeDocument/2006/relationships/slide" Target="slides/slide6.xml"/><Relationship Id="rId9" Type="http://schemas.openxmlformats.org/officeDocument/2006/relationships/slide" Target="slides/slide5.xml"/><Relationship Id="rId10" Type="http://schemas.openxmlformats.org/officeDocument/2006/relationships/slide" Target="slides/slide4.xml"/><Relationship Id="rId11" Type="http://schemas.openxmlformats.org/officeDocument/2006/relationships/slide" Target="slides/slide3.xml"/><Relationship Id="rId12" Type="http://schemas.openxmlformats.org/officeDocument/2006/relationships/slide" Target="slides/slide2.xml"/><Relationship Id="rId13" Type="http://schemas.openxmlformats.org/officeDocument/2006/relationships/slide" Target="slides/slide1.xml"/><Relationship Id="rId14" Type="http://schemas.openxmlformats.org/officeDocument/2006/relationships/font" Target="fonts/Play-regular.fntdata"/><Relationship Id="rId15" Type="http://schemas.openxmlformats.org/officeDocument/2006/relationships/font" Target="fonts/Play-bold.fntdata"/><Relationship Id="rId16" Type="http://schemas.openxmlformats.org/officeDocument/2006/relationships/font" Target="fonts/TajawalExtraBold-bold.fntdata"/><Relationship Id="rId17" Type="http://schemas.openxmlformats.org/officeDocument/2006/relationships/font" Target="fonts/TajawalMedium-regular.fntdata"/><Relationship Id="rId18" Type="http://schemas.openxmlformats.org/officeDocument/2006/relationships/font" Target="fonts/TajawalMedium-bold.fntdata"/><Relationship Id="rId19" Type="http://schemas.openxmlformats.org/officeDocument/2006/relationships/font" Target="fonts/Tajawal-regular.fntdata"/><Relationship Id="rId20" Type="http://schemas.openxmlformats.org/officeDocument/2006/relationships/font" Target="fonts/Tajawal-bold.fntdata"/><Relationship Id="rId21" Type="http://customschemas.google.com/relationships/presentationmetadata" Target="metadata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ar-JO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=== STORYLINE 360 IMPORT INSTRUCTIONS ===</a:t>
            </a:r>
          </a:p>
          <a:p/>
          <a:p>
            <a:r>
              <a:t>Project: TEST</a:t>
            </a:r>
          </a:p>
          <a:p>
            <a:r>
              <a:t>Unit: 1</a:t>
            </a:r>
          </a:p>
          <a:p>
            <a:r>
              <a:t>Lecture: اختبار شامل:</a:t>
            </a:r>
          </a:p>
          <a:p>
            <a:r>
              <a:t>Generated: 2026-02-22</a:t>
            </a:r>
          </a:p>
          <a:p>
            <a:r>
              <a:t>Designer: </a:t>
            </a:r>
          </a:p>
          <a:p/>
          <a:p>
            <a:r>
              <a:t>--- REQUIRED FONTS ---</a:t>
            </a:r>
          </a:p>
          <a:p>
            <a:r>
              <a:t>Install BEFORE importing:</a:t>
            </a:r>
          </a:p>
          <a:p>
            <a:r>
              <a:t>  1. Tajawal ExtraBold</a:t>
            </a:r>
          </a:p>
          <a:p>
            <a:r>
              <a:t>  2. Tajawal Medium</a:t>
            </a:r>
          </a:p>
          <a:p>
            <a:r>
              <a:t>  3. Tajawal (Regular)</a:t>
            </a:r>
          </a:p>
          <a:p>
            <a:r>
              <a:t>Download: https://fonts.google.com/specimen/Tajawal</a:t>
            </a:r>
          </a:p>
          <a:p/>
          <a:p>
            <a:r>
              <a:t>--- IMPORT STEPS ---</a:t>
            </a:r>
          </a:p>
          <a:p>
            <a:r>
              <a:t>1. File &gt; Import &gt; PowerPoint</a:t>
            </a:r>
          </a:p>
          <a:p>
            <a:r>
              <a:t>2. Select THIS .pptx file</a:t>
            </a:r>
          </a:p>
          <a:p>
            <a:r>
              <a:t>3. Import ALL slides</a:t>
            </a:r>
          </a:p>
          <a:p>
            <a:r>
              <a:t>4. Story Size: 1280 x 720 pixels (must match)</a:t>
            </a:r>
          </a:p>
          <a:p/>
          <a:p>
            <a:r>
              <a:t>--- POST-IMPORT QA ---</a:t>
            </a:r>
          </a:p>
          <a:p>
            <a:r>
              <a:t>[ ] Verify TOC shows Arabic slide titles (not 'Untitled')</a:t>
            </a:r>
          </a:p>
          <a:p>
            <a:r>
              <a:t>[ ] Verify fonts render correctly (Tajawal family)</a:t>
            </a:r>
          </a:p>
          <a:p>
            <a:r>
              <a:t>[ ] Check RTL text direction on all slides</a:t>
            </a:r>
          </a:p>
          <a:p>
            <a:r>
              <a:t>[ ] Test all interactive elements (buttons, quiz, drag-drop)</a:t>
            </a:r>
          </a:p>
          <a:p>
            <a:r>
              <a:t>[ ] Verify speaker notes contain Storyline instructions per slide</a:t>
            </a:r>
          </a:p>
          <a:p/>
          <a:p>
            <a:r>
              <a:t>--- SHAPE NAMING CONVENTION ---</a:t>
            </a:r>
          </a:p>
          <a:p>
            <a:r>
              <a:t>txt_*  = Text elements</a:t>
            </a:r>
          </a:p>
          <a:p>
            <a:r>
              <a:t>btn_*  = Clickable buttons (add triggers)</a:t>
            </a:r>
          </a:p>
          <a:p>
            <a:r>
              <a:t>icon_* = Decorative icons</a:t>
            </a:r>
          </a:p>
          <a:p>
            <a:r>
              <a:t>bg_*   = Background shapes</a:t>
            </a:r>
          </a:p>
          <a:p>
            <a:r>
              <a:t>opt_*  = Quiz option shapes (add triggers)</a:t>
            </a:r>
          </a:p>
          <a:p>
            <a:r>
              <a:t>num_*  = Numbered elements</a:t>
            </a:r>
          </a:p>
          <a:p>
            <a:r>
              <a:t>title  = Hidden TOC title (do not move)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=== STORYLINE INSTRUCTIONS ===</a:t>
            </a:r>
          </a:p>
          <a:p>
            <a:r>
              <a:t>Slide Type: Quiz - Multiple Choice</a:t>
            </a:r>
          </a:p>
          <a:p>
            <a:r>
              <a:t>Correct Answer: أ (opt_a)</a:t>
            </a:r>
          </a:p>
          <a:p>
            <a:r>
              <a:t>Feedback (Correct): احسنت! الاجابة صحيحة</a:t>
            </a:r>
          </a:p>
          <a:p>
            <a:r>
              <a:t>Feedback (Incorrect): الاجابة غير صحيحة، حاول مرة اخرى</a:t>
            </a:r>
          </a:p>
          <a:p>
            <a:r>
              <a:t>Points: 10</a:t>
            </a:r>
          </a:p>
          <a:p>
            <a:r>
              <a:t>Attempts: 2</a:t>
            </a:r>
          </a:p>
          <a:p/>
          <a:p>
            <a:r>
              <a:t>=== FREEFORM SETUP ===</a:t>
            </a:r>
          </a:p>
          <a:p>
            <a:r>
              <a:t>1. Insert &gt; Convert to Freeform &gt; Pick One</a:t>
            </a:r>
          </a:p>
          <a:p>
            <a:r>
              <a:t>2. Assign opt_a, opt_b, opt_c, opt_d as choices</a:t>
            </a:r>
          </a:p>
          <a:p>
            <a:r>
              <a:t>3. Set opt_a as correct answer</a:t>
            </a:r>
          </a:p>
          <a:p>
            <a:r>
              <a:t>4. btn_check triggers submit</a:t>
            </a:r>
          </a:p>
          <a:p/>
          <a:p>
            <a:r>
              <a:t>=== NARRATOR SCRIPT ===</a:t>
            </a:r>
          </a:p>
          <a:p>
            <a:r>
              <a:t>ما هو التعلم الآلي؟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=== STORYLINE INSTRUCTIONS ===</a:t>
            </a:r>
          </a:p>
          <a:p>
            <a:r>
              <a:t>Slide Type: Drag and Drop - Ordering</a:t>
            </a:r>
          </a:p>
          <a:p>
            <a:r>
              <a:t>Correct Order:</a:t>
            </a:r>
          </a:p>
          <a:p>
            <a:r>
              <a:t>drag_item_1 → drop_zone_1: أولاً</a:t>
            </a:r>
          </a:p>
          <a:p>
            <a:r>
              <a:t>drag_item_2 → drop_zone_2: ثانياً</a:t>
            </a:r>
          </a:p>
          <a:p>
            <a:r>
              <a:t>drag_item_3 → drop_zone_3: ثالثاً</a:t>
            </a:r>
          </a:p>
          <a:p/>
          <a:p>
            <a:r>
              <a:t>=== FREEFORM SETUP ===</a:t>
            </a:r>
          </a:p>
          <a:p>
            <a:r>
              <a:t>1. Insert &gt; Convert to Freeform &gt; Drag and Drop</a:t>
            </a:r>
          </a:p>
          <a:p>
            <a:r>
              <a:t>2. Match drag_item shapes to drop_zone shapes</a:t>
            </a:r>
          </a:p>
          <a:p>
            <a:r>
              <a:t>3. Set correct order as shown above</a:t>
            </a:r>
          </a:p>
          <a:p/>
          <a:p>
            <a:r>
              <a:t>=== NARRATOR SCRIPT ===</a:t>
            </a:r>
          </a:p>
          <a:p>
            <a:r>
              <a:t>رتب المراحل التالية: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=== STORYLINE INSTRUCTIONS ===</a:t>
            </a:r>
          </a:p>
          <a:p>
            <a:r>
              <a:t>Slide Type: Click to Reveal</a:t>
            </a:r>
          </a:p>
          <a:p>
            <a:r>
              <a:t>Items: btn_reveal_1, btn_reveal_2, btn_reveal_3</a:t>
            </a:r>
          </a:p>
          <a:p/>
          <a:p>
            <a:r>
              <a:t>=== LAYER INSTRUCTIONS ===</a:t>
            </a:r>
          </a:p>
          <a:p>
            <a:r>
              <a:t>Layer 1: Show content when btn_reveal_1 clicked — التعليم</a:t>
            </a:r>
          </a:p>
          <a:p>
            <a:r>
              <a:t>Layer 2: Show content when btn_reveal_2 clicked — الصحة</a:t>
            </a:r>
          </a:p>
          <a:p>
            <a:r>
              <a:t>Layer 3: Show content when btn_reveal_3 clicked — الاقتصاد</a:t>
            </a:r>
          </a:p>
          <a:p/>
          <a:p>
            <a:r>
              <a:t>=== CONTENT ===</a:t>
            </a:r>
          </a:p>
          <a:p>
            <a:r>
              <a:t>btn_reveal_1 (التعليم): أثرت التقنية على التعليم بشكل كبير</a:t>
            </a:r>
          </a:p>
          <a:p>
            <a:r>
              <a:t>btn_reveal_2 (الصحة): ساهمت التقنية في تطوير الرعاية الصحية</a:t>
            </a:r>
          </a:p>
          <a:p>
            <a:r>
              <a:t>btn_reveal_3 (الاقتصاد): غيرت التقنية المشهد الاقتصادي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الإجابة الصحيحة:</a:t>
            </a:r>
          </a:p>
          <a:p>
            <a:r>
              <a:t>توفير بيئة محاكاة رقمية... → التعليم</a:t>
            </a:r>
          </a:p>
          <a:p>
            <a:r>
              <a:t>تحليل تفضيلات المستخدم... → الترفيه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oogle Shape;16;p10"/>
          <p:cNvGrpSpPr/>
          <p:nvPr/>
        </p:nvGrpSpPr>
        <p:grpSpPr>
          <a:xfrm flipH="1">
            <a:off x="0" y="0"/>
            <a:ext cx="12192000" cy="6857999"/>
            <a:chOff x="0" y="0"/>
            <a:chExt cx="12192000" cy="6857999"/>
          </a:xfrm>
        </p:grpSpPr>
        <p:pic>
          <p:nvPicPr>
            <p:cNvPr id="17" name="Google Shape;17;p1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0" y="0"/>
              <a:ext cx="12192000" cy="68579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" name="Google Shape;18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2500158" y="962015"/>
              <a:ext cx="1612381" cy="1248719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9" name="Google Shape;19;p10"/>
            <p:cNvCxnSpPr/>
            <p:nvPr/>
          </p:nvCxnSpPr>
          <p:spPr>
            <a:xfrm rot="10800000">
              <a:off x="2500158" y="4048125"/>
              <a:ext cx="1538442" cy="0"/>
            </a:xfrm>
            <a:prstGeom prst="straightConnector1">
              <a:avLst/>
            </a:prstGeom>
            <a:noFill/>
            <a:ln cap="rnd" cmpd="sng" w="19050">
              <a:solidFill>
                <a:srgbClr val="2D588C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11"/>
          <p:cNvPicPr preferRelativeResize="0"/>
          <p:nvPr/>
        </p:nvPicPr>
        <p:blipFill rotWithShape="1">
          <a:blip r:embed="rId3">
            <a:alphaModFix/>
          </a:blip>
          <a:srcRect b="0" l="15304" r="15305" t="0"/>
          <a:stretch/>
        </p:blipFill>
        <p:spPr>
          <a:xfrm>
            <a:off x="1803400" y="0"/>
            <a:ext cx="8585200" cy="10077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0" y="6023222"/>
            <a:ext cx="12192000" cy="853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1475" y="85756"/>
            <a:ext cx="709767" cy="5496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8" name="Google Shape;28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9" name="Google Shape;59;p1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0" name="Google Shape;60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1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7" name="Google Shape;67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.xml"/><Relationship Id="rId5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اختبار شامل:</a:t>
            </a:r>
          </a:p>
        </p:txBody>
      </p:sp>
      <p:sp>
        <p:nvSpPr>
          <p:cNvPr id="3" name="txt_institution"/>
          <p:cNvSpPr txBox="1"/>
          <p:nvPr/>
        </p:nvSpPr>
        <p:spPr>
          <a:xfrm>
            <a:off x="6096000" y="3198167"/>
            <a:ext cx="5181600" cy="461665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4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جامعة الاختبار الشاملة</a:t>
            </a:r>
          </a:p>
        </p:txBody>
      </p:sp>
      <p:sp>
        <p:nvSpPr>
          <p:cNvPr id="4" name="txt_title"/>
          <p:cNvSpPr txBox="1"/>
          <p:nvPr/>
        </p:nvSpPr>
        <p:spPr>
          <a:xfrm>
            <a:off x="6096000" y="4257368"/>
            <a:ext cx="5181600" cy="1077218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4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اختبار شامل:</a:t>
            </a:r>
          </a:p>
          <a:p>
            <a:pPr algn="ctr" rtl="1"/>
            <a:r>
              <a:rPr sz="2000" b="0" lang="ar-JO">
                <a:solidFill>
                  <a:srgbClr val="262626"/>
                </a:solidFill>
                <a:cs typeface="Tajawal ExtraBold"/>
                <a:latin typeface="Tajawal ExtraBold"/>
                <a:ea typeface="Tajawal ExtraBold"/>
              </a:rPr>
              <a:t>كل أنواع الشرائح</a:t>
            </a:r>
          </a:p>
        </p:txBody>
      </p:sp>
      <p:sp>
        <p:nvSpPr>
          <p:cNvPr id="5" name="btn_start">
            <a:hlinkClick action="ppaction://hlinksldjump" r:id="rId5"/>
          </p:cNvPr>
          <p:cNvSpPr/>
          <p:nvPr/>
        </p:nvSpPr>
        <p:spPr>
          <a:xfrm>
            <a:off x="7398084" y="5599525"/>
            <a:ext cx="2773680" cy="665193"/>
          </a:xfrm>
          <a:prstGeom prst="roundRect">
            <a:avLst/>
          </a:prstGeom>
          <a:solidFill>
            <a:srgbClr val="156082"/>
          </a:solidFill>
          <a:ln w="19050">
            <a:solidFill>
              <a:srgbClr val="08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46800" bIns="46800"/>
          <a:lstStyle/>
          <a:p>
            <a:pPr algn="ctr" rtl="1"/>
            <a:r>
              <a:rPr sz="20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ابدأ المحاضرة</a:t>
            </a:r>
          </a:p>
        </p:txBody>
      </p:sp>
      <p:pic>
        <p:nvPicPr>
          <p:cNvPr id="6" name="icon_play" descr="play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6078" y="5599525"/>
            <a:ext cx="619211" cy="657317"/>
          </a:xfrm>
          <a:prstGeom prst="rect">
            <a:avLst/>
          </a:prstGeom>
        </p:spPr>
      </p:pic>
      <p:pic>
        <p:nvPicPr>
          <p:cNvPr id="7" name="icon_hand" descr="hand_curs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0916" y="5888428"/>
            <a:ext cx="724001" cy="7525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الأهداف التعليمية</a:t>
            </a:r>
          </a:p>
        </p:txBody>
      </p:sp>
      <p:sp>
        <p:nvSpPr>
          <p:cNvPr id="3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اختبار شامل: كل أنواع الشرائح</a:t>
            </a:r>
          </a:p>
        </p:txBody>
      </p:sp>
      <p:pic>
        <p:nvPicPr>
          <p:cNvPr id="4" name="header_banner" descr="banner_nar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0969" y="898751"/>
            <a:ext cx="2610062" cy="695099"/>
          </a:xfrm>
          <a:prstGeom prst="rect">
            <a:avLst/>
          </a:prstGeom>
        </p:spPr>
      </p:pic>
      <p:sp>
        <p:nvSpPr>
          <p:cNvPr id="5" name="header_banner_text"/>
          <p:cNvSpPr txBox="1"/>
          <p:nvPr/>
        </p:nvSpPr>
        <p:spPr>
          <a:xfrm>
            <a:off x="4947367" y="1035917"/>
            <a:ext cx="2297266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الأهداف التعليمية</a:t>
            </a:r>
          </a:p>
        </p:txBody>
      </p:sp>
      <p:sp>
        <p:nvSpPr>
          <p:cNvPr id="6" name="txt_obj_intro"/>
          <p:cNvSpPr txBox="1"/>
          <p:nvPr/>
        </p:nvSpPr>
        <p:spPr>
          <a:xfrm>
            <a:off x="6280654" y="1830945"/>
            <a:ext cx="536194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Medium"/>
                <a:latin typeface="Tajawal Medium"/>
                <a:ea typeface="Tajawal Medium"/>
              </a:rPr>
              <a:t>يتوقع منك في نهاية هذه المحاضرة أن تكون قادرًا على:</a:t>
            </a:r>
          </a:p>
        </p:txBody>
      </p:sp>
      <p:pic>
        <p:nvPicPr>
          <p:cNvPr id="7" name="bg_obj_1" descr="objective_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770" y="2315612"/>
            <a:ext cx="11029824" cy="600002"/>
          </a:xfrm>
          <a:prstGeom prst="rect">
            <a:avLst/>
          </a:prstGeom>
        </p:spPr>
      </p:pic>
      <p:pic>
        <p:nvPicPr>
          <p:cNvPr id="8" name="icon_obj_1" descr="target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693" y="2315612"/>
            <a:ext cx="703228" cy="600002"/>
          </a:xfrm>
          <a:prstGeom prst="rect">
            <a:avLst/>
          </a:prstGeom>
        </p:spPr>
      </p:pic>
      <p:sp>
        <p:nvSpPr>
          <p:cNvPr id="9" name="txt_obj_1"/>
          <p:cNvSpPr txBox="1"/>
          <p:nvPr/>
        </p:nvSpPr>
        <p:spPr>
          <a:xfrm>
            <a:off x="1462617" y="2446336"/>
            <a:ext cx="9443403" cy="338554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هدف أول</a:t>
            </a:r>
          </a:p>
        </p:txBody>
      </p:sp>
      <p:pic>
        <p:nvPicPr>
          <p:cNvPr id="10" name="bg_obj_2" descr="objective_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770" y="4007805"/>
            <a:ext cx="11029824" cy="600002"/>
          </a:xfrm>
          <a:prstGeom prst="rect">
            <a:avLst/>
          </a:prstGeom>
        </p:spPr>
      </p:pic>
      <p:pic>
        <p:nvPicPr>
          <p:cNvPr id="11" name="icon_obj_2" descr="target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693" y="4007805"/>
            <a:ext cx="703228" cy="600002"/>
          </a:xfrm>
          <a:prstGeom prst="rect">
            <a:avLst/>
          </a:prstGeom>
        </p:spPr>
      </p:pic>
      <p:sp>
        <p:nvSpPr>
          <p:cNvPr id="12" name="txt_obj_2"/>
          <p:cNvSpPr txBox="1"/>
          <p:nvPr/>
        </p:nvSpPr>
        <p:spPr>
          <a:xfrm>
            <a:off x="1462617" y="4138529"/>
            <a:ext cx="9443403" cy="338554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هدف ثاني</a:t>
            </a:r>
          </a:p>
        </p:txBody>
      </p:sp>
      <p:pic>
        <p:nvPicPr>
          <p:cNvPr id="13" name="bg_obj_3" descr="objective_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770" y="5699998"/>
            <a:ext cx="11029824" cy="600002"/>
          </a:xfrm>
          <a:prstGeom prst="rect">
            <a:avLst/>
          </a:prstGeom>
        </p:spPr>
      </p:pic>
      <p:pic>
        <p:nvPicPr>
          <p:cNvPr id="14" name="icon_obj_3" descr="target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693" y="5699998"/>
            <a:ext cx="703228" cy="600002"/>
          </a:xfrm>
          <a:prstGeom prst="rect">
            <a:avLst/>
          </a:prstGeom>
        </p:spPr>
      </p:pic>
      <p:sp>
        <p:nvSpPr>
          <p:cNvPr id="15" name="txt_obj_3"/>
          <p:cNvSpPr txBox="1"/>
          <p:nvPr/>
        </p:nvSpPr>
        <p:spPr>
          <a:xfrm>
            <a:off x="1462617" y="5830722"/>
            <a:ext cx="9443403" cy="338554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هدف ثالث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القسم الأول</a:t>
            </a:r>
          </a:p>
        </p:txBody>
      </p:sp>
      <p:sp>
        <p:nvSpPr>
          <p:cNvPr id="3" name="bg_divider"/>
          <p:cNvSpPr/>
          <p:nvPr/>
        </p:nvSpPr>
        <p:spPr>
          <a:xfrm>
            <a:off x="720000" y="720000"/>
            <a:ext cx="10752000" cy="5418000"/>
          </a:xfrm>
          <a:prstGeom prst="round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g_divider_depth"/>
          <p:cNvSpPr/>
          <p:nvPr/>
        </p:nvSpPr>
        <p:spPr>
          <a:xfrm>
            <a:off x="720000" y="5418000"/>
            <a:ext cx="10752000" cy="720000"/>
          </a:xfrm>
          <a:prstGeom prst="rect">
            <a:avLst/>
          </a:prstGeom>
          <a:solidFill>
            <a:srgbClr val="1E3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ccent_right_bar"/>
          <p:cNvSpPr/>
          <p:nvPr/>
        </p:nvSpPr>
        <p:spPr>
          <a:xfrm>
            <a:off x="11292000" y="720000"/>
            <a:ext cx="108000" cy="541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co_corner_tr_h"/>
          <p:cNvSpPr/>
          <p:nvPr/>
        </p:nvSpPr>
        <p:spPr>
          <a:xfrm>
            <a:off x="9672000" y="900000"/>
            <a:ext cx="14400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eco_corner_tr_v"/>
          <p:cNvSpPr/>
          <p:nvPr/>
        </p:nvSpPr>
        <p:spPr>
          <a:xfrm>
            <a:off x="11112000" y="900000"/>
            <a:ext cx="25400" cy="14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eco_corner_tr_dot"/>
          <p:cNvSpPr/>
          <p:nvPr/>
        </p:nvSpPr>
        <p:spPr>
          <a:xfrm>
            <a:off x="11040000" y="828000"/>
            <a:ext cx="144000" cy="14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eco_corner_bl_h"/>
          <p:cNvSpPr/>
          <p:nvPr/>
        </p:nvSpPr>
        <p:spPr>
          <a:xfrm>
            <a:off x="1080000" y="5958000"/>
            <a:ext cx="14400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eco_corner_bl_v"/>
          <p:cNvSpPr/>
          <p:nvPr/>
        </p:nvSpPr>
        <p:spPr>
          <a:xfrm>
            <a:off x="1080000" y="4518000"/>
            <a:ext cx="25400" cy="14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eco_corner_bl_dot"/>
          <p:cNvSpPr/>
          <p:nvPr/>
        </p:nvSpPr>
        <p:spPr>
          <a:xfrm>
            <a:off x="1008000" y="5886000"/>
            <a:ext cx="144000" cy="14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xt_section_title"/>
          <p:cNvSpPr txBox="1"/>
          <p:nvPr/>
        </p:nvSpPr>
        <p:spPr>
          <a:xfrm>
            <a:off x="1440000" y="1800000"/>
            <a:ext cx="9360000" cy="1260000"/>
          </a:xfrm>
          <a:prstGeom prst="rect">
            <a:avLst/>
          </a:prstGeom>
          <a:noFill/>
        </p:spPr>
        <p:txBody>
          <a:bodyPr wrap="square" lIns="90000" rIns="90000" tIns="46800" bIns="46800" anchor="ctr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40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القسم الأول</a:t>
            </a:r>
          </a:p>
        </p:txBody>
      </p:sp>
      <p:sp>
        <p:nvSpPr>
          <p:cNvPr id="13" name="divider_line"/>
          <p:cNvSpPr/>
          <p:nvPr/>
        </p:nvSpPr>
        <p:spPr>
          <a:xfrm>
            <a:off x="3240000" y="3131999"/>
            <a:ext cx="5400000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xt_section_subtitle"/>
          <p:cNvSpPr txBox="1"/>
          <p:nvPr/>
        </p:nvSpPr>
        <p:spPr>
          <a:xfrm>
            <a:off x="1440000" y="3348000"/>
            <a:ext cx="9360000" cy="90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400" b="0" lang="ar-JO">
                <a:solidFill>
                  <a:srgbClr val="FFFFFF"/>
                </a:solidFill>
                <a:cs typeface="Tajawal Medium"/>
                <a:latin typeface="Tajawal Medium"/>
                <a:ea typeface="Tajawal Medium"/>
              </a:rPr>
              <a:t>المحتوى الأساسي</a:t>
            </a:r>
          </a:p>
        </p:txBody>
      </p:sp>
      <p:sp>
        <p:nvSpPr>
          <p:cNvPr id="15" name="dot_section_1"/>
          <p:cNvSpPr/>
          <p:nvPr/>
        </p:nvSpPr>
        <p:spPr>
          <a:xfrm>
            <a:off x="5088000" y="5742000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ot_section_2"/>
          <p:cNvSpPr/>
          <p:nvPr/>
        </p:nvSpPr>
        <p:spPr>
          <a:xfrm>
            <a:off x="5700000" y="5778000"/>
            <a:ext cx="216000" cy="216000"/>
          </a:xfrm>
          <a:prstGeom prst="ellipse">
            <a:avLst/>
          </a:prstGeom>
          <a:solidFill>
            <a:srgbClr val="809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ot_section_3"/>
          <p:cNvSpPr/>
          <p:nvPr/>
        </p:nvSpPr>
        <p:spPr>
          <a:xfrm>
            <a:off x="6276000" y="5778000"/>
            <a:ext cx="216000" cy="216000"/>
          </a:xfrm>
          <a:prstGeom prst="ellipse">
            <a:avLst/>
          </a:prstGeom>
          <a:solidFill>
            <a:srgbClr val="809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ot_section_4"/>
          <p:cNvSpPr/>
          <p:nvPr/>
        </p:nvSpPr>
        <p:spPr>
          <a:xfrm>
            <a:off x="6852000" y="5778000"/>
            <a:ext cx="216000" cy="216000"/>
          </a:xfrm>
          <a:prstGeom prst="ellipse">
            <a:avLst/>
          </a:prstGeom>
          <a:solidFill>
            <a:srgbClr val="809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محتوى بنقاط</a:t>
            </a:r>
          </a:p>
        </p:txBody>
      </p:sp>
      <p:sp>
        <p:nvSpPr>
          <p:cNvPr id="3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اختبار شامل: كل أنواع الشرائح</a:t>
            </a:r>
          </a:p>
        </p:txBody>
      </p:sp>
      <p:pic>
        <p:nvPicPr>
          <p:cNvPr id="4" name="header_banner" descr="banner_nar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0969" y="898751"/>
            <a:ext cx="2610062" cy="695099"/>
          </a:xfrm>
          <a:prstGeom prst="rect">
            <a:avLst/>
          </a:prstGeom>
        </p:spPr>
      </p:pic>
      <p:sp>
        <p:nvSpPr>
          <p:cNvPr id="5" name="header_banner_text"/>
          <p:cNvSpPr txBox="1"/>
          <p:nvPr/>
        </p:nvSpPr>
        <p:spPr>
          <a:xfrm>
            <a:off x="4947367" y="1035917"/>
            <a:ext cx="2297266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محتوى بنقاط</a:t>
            </a:r>
          </a:p>
        </p:txBody>
      </p:sp>
      <p:sp>
        <p:nvSpPr>
          <p:cNvPr id="6" name="bg_content_card"/>
          <p:cNvSpPr/>
          <p:nvPr/>
        </p:nvSpPr>
        <p:spPr>
          <a:xfrm>
            <a:off x="900000" y="1692000"/>
            <a:ext cx="10440000" cy="43560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E0E5EC"/>
            </a:solidFill>
          </a:ln>
          <a:effectLst>
            <a:outerShdw blurRad="50800" dist="38100" dir="2700000" rotWithShape="0">
              <a:srgbClr val="000000">
                <a:alpha val="8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xt_body"/>
          <p:cNvSpPr txBox="1"/>
          <p:nvPr/>
        </p:nvSpPr>
        <p:spPr>
          <a:xfrm>
            <a:off x="1080000" y="1800000"/>
            <a:ext cx="10080000" cy="41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نقطة أولى</a:t>
            </a:r>
          </a:p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نقطة ثانية</a:t>
            </a:r>
          </a:p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نقطة ثالثة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محتوى بفقرات</a:t>
            </a:r>
          </a:p>
        </p:txBody>
      </p:sp>
      <p:sp>
        <p:nvSpPr>
          <p:cNvPr id="3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اختبار شامل: كل أنواع الشرائح</a:t>
            </a:r>
          </a:p>
        </p:txBody>
      </p:sp>
      <p:pic>
        <p:nvPicPr>
          <p:cNvPr id="4" name="header_banner" descr="banner_nar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0969" y="898751"/>
            <a:ext cx="2610062" cy="695099"/>
          </a:xfrm>
          <a:prstGeom prst="rect">
            <a:avLst/>
          </a:prstGeom>
        </p:spPr>
      </p:pic>
      <p:sp>
        <p:nvSpPr>
          <p:cNvPr id="5" name="header_banner_text"/>
          <p:cNvSpPr txBox="1"/>
          <p:nvPr/>
        </p:nvSpPr>
        <p:spPr>
          <a:xfrm>
            <a:off x="4947367" y="1035917"/>
            <a:ext cx="2297266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محتوى بفقرات</a:t>
            </a:r>
          </a:p>
        </p:txBody>
      </p:sp>
      <p:sp>
        <p:nvSpPr>
          <p:cNvPr id="6" name="bg_accent_stripe"/>
          <p:cNvSpPr/>
          <p:nvPr/>
        </p:nvSpPr>
        <p:spPr>
          <a:xfrm>
            <a:off x="11160000" y="1440000"/>
            <a:ext cx="432000" cy="4680000"/>
          </a:xfrm>
          <a:prstGeom prst="rect">
            <a:avLst/>
          </a:prstGeom>
          <a:solidFill>
            <a:srgbClr val="4A7A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g_content_card"/>
          <p:cNvSpPr/>
          <p:nvPr/>
        </p:nvSpPr>
        <p:spPr>
          <a:xfrm>
            <a:off x="900000" y="1692000"/>
            <a:ext cx="9720000" cy="43560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E0E5EC"/>
            </a:solidFill>
          </a:ln>
          <a:effectLst>
            <a:outerShdw blurRad="50800" dist="38100" dir="2700000" rotWithShape="0">
              <a:srgbClr val="000000">
                <a:alpha val="8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xt_body"/>
          <p:cNvSpPr txBox="1"/>
          <p:nvPr/>
        </p:nvSpPr>
        <p:spPr>
          <a:xfrm>
            <a:off x="1080000" y="1800000"/>
            <a:ext cx="9360000" cy="41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هذه فقرة أولى توضح المفهوم الأساسي.
وهذه فقرة ثانية تضيف تفاصيل.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بطاقات المعرفة</a:t>
            </a:r>
          </a:p>
        </p:txBody>
      </p:sp>
      <p:sp>
        <p:nvSpPr>
          <p:cNvPr id="3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اختبار شامل: كل أنواع الشرائح</a:t>
            </a:r>
          </a:p>
        </p:txBody>
      </p:sp>
      <p:pic>
        <p:nvPicPr>
          <p:cNvPr id="4" name="header_banner" descr="banner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35" y="860142"/>
            <a:ext cx="4422731" cy="695099"/>
          </a:xfrm>
          <a:prstGeom prst="rect">
            <a:avLst/>
          </a:prstGeom>
        </p:spPr>
      </p:pic>
      <p:sp>
        <p:nvSpPr>
          <p:cNvPr id="5" name="header_banner_text"/>
          <p:cNvSpPr txBox="1"/>
          <p:nvPr/>
        </p:nvSpPr>
        <p:spPr>
          <a:xfrm>
            <a:off x="3818244" y="977750"/>
            <a:ext cx="4555512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بطاقات المعرفة</a:t>
            </a:r>
          </a:p>
        </p:txBody>
      </p:sp>
      <p:sp>
        <p:nvSpPr>
          <p:cNvPr id="6" name="card_1"/>
          <p:cNvSpPr/>
          <p:nvPr/>
        </p:nvSpPr>
        <p:spPr>
          <a:xfrm>
            <a:off x="900000" y="1980000"/>
            <a:ext cx="3228000" cy="3240000"/>
          </a:xfrm>
          <a:prstGeom prst="roundRect">
            <a:avLst/>
          </a:prstGeom>
          <a:solidFill>
            <a:srgbClr val="FAFBFC"/>
          </a:solidFill>
          <a:ln w="25400">
            <a:solidFill>
              <a:srgbClr val="2D588C"/>
            </a:solidFill>
          </a:ln>
          <a:effectLst>
            <a:outerShdw blurRad="76200" dist="38100" dir="2700000" rotWithShape="0">
              <a:srgbClr val="000000">
                <a:alpha val="7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000" y="1980000"/>
            <a:ext cx="3228000" cy="432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xt_card_1_title"/>
          <p:cNvSpPr txBox="1"/>
          <p:nvPr/>
        </p:nvSpPr>
        <p:spPr>
          <a:xfrm>
            <a:off x="1080000" y="2412000"/>
            <a:ext cx="2868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الذكاء الاصطناعي</a:t>
            </a:r>
          </a:p>
        </p:txBody>
      </p:sp>
      <p:sp>
        <p:nvSpPr>
          <p:cNvPr id="9" name="txt_card_1_body"/>
          <p:cNvSpPr txBox="1"/>
          <p:nvPr/>
        </p:nvSpPr>
        <p:spPr>
          <a:xfrm>
            <a:off x="1080000" y="3060000"/>
            <a:ext cx="2868000" cy="19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وصف مختصر للذكاء الاصطناعي</a:t>
            </a:r>
          </a:p>
        </p:txBody>
      </p:sp>
      <p:sp>
        <p:nvSpPr>
          <p:cNvPr id="10" name="card_2"/>
          <p:cNvSpPr/>
          <p:nvPr/>
        </p:nvSpPr>
        <p:spPr>
          <a:xfrm>
            <a:off x="4416000" y="1980000"/>
            <a:ext cx="3228000" cy="3240000"/>
          </a:xfrm>
          <a:prstGeom prst="roundRect">
            <a:avLst/>
          </a:prstGeom>
          <a:solidFill>
            <a:srgbClr val="FAFBFC"/>
          </a:solidFill>
          <a:ln w="25400">
            <a:solidFill>
              <a:srgbClr val="156082"/>
            </a:solidFill>
          </a:ln>
          <a:effectLst>
            <a:outerShdw blurRad="76200" dist="38100" dir="2700000" rotWithShape="0">
              <a:srgbClr val="000000">
                <a:alpha val="7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16000" y="1980000"/>
            <a:ext cx="3228000" cy="4320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xt_card_2_title"/>
          <p:cNvSpPr txBox="1"/>
          <p:nvPr/>
        </p:nvSpPr>
        <p:spPr>
          <a:xfrm>
            <a:off x="4596000" y="2412000"/>
            <a:ext cx="2868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156082"/>
                </a:solidFill>
                <a:cs typeface="Tajawal ExtraBold"/>
                <a:latin typeface="Tajawal ExtraBold"/>
                <a:ea typeface="Tajawal ExtraBold"/>
              </a:rPr>
              <a:t>إنترنت الأشياء</a:t>
            </a:r>
          </a:p>
        </p:txBody>
      </p:sp>
      <p:sp>
        <p:nvSpPr>
          <p:cNvPr id="13" name="txt_card_2_body"/>
          <p:cNvSpPr txBox="1"/>
          <p:nvPr/>
        </p:nvSpPr>
        <p:spPr>
          <a:xfrm>
            <a:off x="4596000" y="3060000"/>
            <a:ext cx="2868000" cy="19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وصف مختصر لإنترنت الأشياء</a:t>
            </a:r>
          </a:p>
        </p:txBody>
      </p:sp>
      <p:sp>
        <p:nvSpPr>
          <p:cNvPr id="14" name="card_3"/>
          <p:cNvSpPr/>
          <p:nvPr/>
        </p:nvSpPr>
        <p:spPr>
          <a:xfrm>
            <a:off x="7932000" y="1980000"/>
            <a:ext cx="3228000" cy="3240000"/>
          </a:xfrm>
          <a:prstGeom prst="roundRect">
            <a:avLst/>
          </a:prstGeom>
          <a:solidFill>
            <a:srgbClr val="FAFBFC"/>
          </a:solidFill>
          <a:ln w="25400">
            <a:solidFill>
              <a:srgbClr val="009688"/>
            </a:solidFill>
          </a:ln>
          <a:effectLst>
            <a:outerShdw blurRad="76200" dist="38100" dir="2700000" rotWithShape="0">
              <a:srgbClr val="000000">
                <a:alpha val="7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32000" y="1980000"/>
            <a:ext cx="3228000" cy="432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xt_card_3_title"/>
          <p:cNvSpPr txBox="1"/>
          <p:nvPr/>
        </p:nvSpPr>
        <p:spPr>
          <a:xfrm>
            <a:off x="8112000" y="2412000"/>
            <a:ext cx="2868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009688"/>
                </a:solidFill>
                <a:cs typeface="Tajawal ExtraBold"/>
                <a:latin typeface="Tajawal ExtraBold"/>
                <a:ea typeface="Tajawal ExtraBold"/>
              </a:rPr>
              <a:t>الحوسبة السحابية</a:t>
            </a:r>
          </a:p>
        </p:txBody>
      </p:sp>
      <p:sp>
        <p:nvSpPr>
          <p:cNvPr id="17" name="txt_card_3_body"/>
          <p:cNvSpPr txBox="1"/>
          <p:nvPr/>
        </p:nvSpPr>
        <p:spPr>
          <a:xfrm>
            <a:off x="8112000" y="3060000"/>
            <a:ext cx="2868000" cy="19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وصف مختصر للحوسبة السحابية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مقارنة</a:t>
            </a:r>
          </a:p>
        </p:txBody>
      </p:sp>
      <p:sp>
        <p:nvSpPr>
          <p:cNvPr id="3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اختبار شامل: كل أنواع الشرائح</a:t>
            </a:r>
          </a:p>
        </p:txBody>
      </p:sp>
      <p:pic>
        <p:nvPicPr>
          <p:cNvPr id="4" name="header_banner" descr="banner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35" y="860142"/>
            <a:ext cx="4422731" cy="695099"/>
          </a:xfrm>
          <a:prstGeom prst="rect">
            <a:avLst/>
          </a:prstGeom>
        </p:spPr>
      </p:pic>
      <p:sp>
        <p:nvSpPr>
          <p:cNvPr id="5" name="header_banner_text"/>
          <p:cNvSpPr txBox="1"/>
          <p:nvPr/>
        </p:nvSpPr>
        <p:spPr>
          <a:xfrm>
            <a:off x="3818244" y="977750"/>
            <a:ext cx="4555512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مقارنة</a:t>
            </a:r>
          </a:p>
        </p:txBody>
      </p:sp>
      <p:sp>
        <p:nvSpPr>
          <p:cNvPr id="6" name="bg_col1_card"/>
          <p:cNvSpPr/>
          <p:nvPr/>
        </p:nvSpPr>
        <p:spPr>
          <a:xfrm>
            <a:off x="6012000" y="1692000"/>
            <a:ext cx="5076000" cy="381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5EC"/>
            </a:solidFill>
          </a:ln>
          <a:effectLst>
            <a:outerShdw blurRad="508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xt_col1_title"/>
          <p:cNvSpPr txBox="1"/>
          <p:nvPr/>
        </p:nvSpPr>
        <p:spPr>
          <a:xfrm>
            <a:off x="6120000" y="1800000"/>
            <a:ext cx="486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الفوائد</a:t>
            </a:r>
          </a:p>
        </p:txBody>
      </p:sp>
      <p:sp>
        <p:nvSpPr>
          <p:cNvPr id="8" name="Rectangle 7"/>
          <p:cNvSpPr/>
          <p:nvPr/>
        </p:nvSpPr>
        <p:spPr>
          <a:xfrm>
            <a:off x="6840000" y="2340000"/>
            <a:ext cx="3420000" cy="54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xt_col1_body"/>
          <p:cNvSpPr txBox="1"/>
          <p:nvPr/>
        </p:nvSpPr>
        <p:spPr>
          <a:xfrm>
            <a:off x="6120000" y="2520000"/>
            <a:ext cx="4860000" cy="28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سرعة الوصول</a:t>
            </a:r>
          </a:p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زيادة الإنتاجية</a:t>
            </a:r>
          </a:p>
        </p:txBody>
      </p:sp>
      <p:sp>
        <p:nvSpPr>
          <p:cNvPr id="10" name="bg_col2_card"/>
          <p:cNvSpPr/>
          <p:nvPr/>
        </p:nvSpPr>
        <p:spPr>
          <a:xfrm>
            <a:off x="792000" y="1692000"/>
            <a:ext cx="5076000" cy="381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5EC"/>
            </a:solidFill>
          </a:ln>
          <a:effectLst>
            <a:outerShdw blurRad="508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xt_col2_title"/>
          <p:cNvSpPr txBox="1"/>
          <p:nvPr/>
        </p:nvSpPr>
        <p:spPr>
          <a:xfrm>
            <a:off x="900000" y="1800000"/>
            <a:ext cx="486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156082"/>
                </a:solidFill>
                <a:cs typeface="Tajawal ExtraBold"/>
                <a:latin typeface="Tajawal ExtraBold"/>
                <a:ea typeface="Tajawal ExtraBold"/>
              </a:rPr>
              <a:t>السلبيات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20000" y="2340000"/>
            <a:ext cx="3420000" cy="540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xt_col2_body"/>
          <p:cNvSpPr txBox="1"/>
          <p:nvPr/>
        </p:nvSpPr>
        <p:spPr>
          <a:xfrm>
            <a:off x="900000" y="2520000"/>
            <a:ext cx="4860000" cy="28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الإدمان الرقمي</a:t>
            </a:r>
          </a:p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فقدان الخصوصية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نشاط: ما هو التعلم الآلي؟</a:t>
            </a:r>
          </a:p>
        </p:txBody>
      </p:sp>
      <p:sp>
        <p:nvSpPr>
          <p:cNvPr id="3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اختبار شامل: كل أنواع الشرائح</a:t>
            </a:r>
          </a:p>
        </p:txBody>
      </p:sp>
      <p:pic>
        <p:nvPicPr>
          <p:cNvPr id="4" name="header_banner" descr="banner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35" y="860142"/>
            <a:ext cx="4422731" cy="695099"/>
          </a:xfrm>
          <a:prstGeom prst="rect">
            <a:avLst/>
          </a:prstGeom>
        </p:spPr>
      </p:pic>
      <p:sp>
        <p:nvSpPr>
          <p:cNvPr id="5" name="header_banner_text"/>
          <p:cNvSpPr txBox="1"/>
          <p:nvPr/>
        </p:nvSpPr>
        <p:spPr>
          <a:xfrm>
            <a:off x="3818244" y="977750"/>
            <a:ext cx="4555512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نشاط تفاعلي: اختيار من متعدد</a:t>
            </a:r>
          </a:p>
        </p:txBody>
      </p:sp>
      <p:sp>
        <p:nvSpPr>
          <p:cNvPr id="6" name="txt_question"/>
          <p:cNvSpPr txBox="1"/>
          <p:nvPr/>
        </p:nvSpPr>
        <p:spPr>
          <a:xfrm>
            <a:off x="900000" y="1800000"/>
            <a:ext cx="10440000" cy="72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24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ما هو التعلم الآلي؟</a:t>
            </a:r>
          </a:p>
        </p:txBody>
      </p:sp>
      <p:sp>
        <p:nvSpPr>
          <p:cNvPr id="7" name="bg_opt_a"/>
          <p:cNvSpPr/>
          <p:nvPr/>
        </p:nvSpPr>
        <p:spPr>
          <a:xfrm>
            <a:off x="900000" y="2664000"/>
            <a:ext cx="10080000" cy="684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0E5EC"/>
            </a:solidFill>
          </a:ln>
          <a:effectLst>
            <a:outerShdw blurRad="381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pt_a"/>
          <p:cNvSpPr/>
          <p:nvPr/>
        </p:nvSpPr>
        <p:spPr>
          <a:xfrm>
            <a:off x="10260000" y="2736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أ</a:t>
            </a:r>
          </a:p>
        </p:txBody>
      </p:sp>
      <p:sp>
        <p:nvSpPr>
          <p:cNvPr id="9" name="txt_opt_a"/>
          <p:cNvSpPr txBox="1"/>
          <p:nvPr/>
        </p:nvSpPr>
        <p:spPr>
          <a:xfrm>
            <a:off x="1080000" y="2700000"/>
            <a:ext cx="8820000" cy="612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فرع من الذكاء الاصطناعي</a:t>
            </a:r>
          </a:p>
        </p:txBody>
      </p:sp>
      <p:sp>
        <p:nvSpPr>
          <p:cNvPr id="10" name="bg_opt_b"/>
          <p:cNvSpPr/>
          <p:nvPr/>
        </p:nvSpPr>
        <p:spPr>
          <a:xfrm>
            <a:off x="900000" y="3456000"/>
            <a:ext cx="10080000" cy="68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0E5EC"/>
            </a:solidFill>
          </a:ln>
          <a:effectLst>
            <a:outerShdw blurRad="381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pt_b"/>
          <p:cNvSpPr/>
          <p:nvPr/>
        </p:nvSpPr>
        <p:spPr>
          <a:xfrm>
            <a:off x="10260000" y="3528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ب</a:t>
            </a:r>
          </a:p>
        </p:txBody>
      </p:sp>
      <p:sp>
        <p:nvSpPr>
          <p:cNvPr id="12" name="txt_opt_b"/>
          <p:cNvSpPr txBox="1"/>
          <p:nvPr/>
        </p:nvSpPr>
        <p:spPr>
          <a:xfrm>
            <a:off x="1080000" y="3492000"/>
            <a:ext cx="8820000" cy="612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نوع من الحاسوب</a:t>
            </a:r>
          </a:p>
        </p:txBody>
      </p:sp>
      <p:sp>
        <p:nvSpPr>
          <p:cNvPr id="13" name="bg_opt_c"/>
          <p:cNvSpPr/>
          <p:nvPr/>
        </p:nvSpPr>
        <p:spPr>
          <a:xfrm>
            <a:off x="900000" y="4248000"/>
            <a:ext cx="10080000" cy="684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0E5EC"/>
            </a:solidFill>
          </a:ln>
          <a:effectLst>
            <a:outerShdw blurRad="381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pt_c"/>
          <p:cNvSpPr/>
          <p:nvPr/>
        </p:nvSpPr>
        <p:spPr>
          <a:xfrm>
            <a:off x="10260000" y="4320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ج</a:t>
            </a:r>
          </a:p>
        </p:txBody>
      </p:sp>
      <p:sp>
        <p:nvSpPr>
          <p:cNvPr id="15" name="txt_opt_c"/>
          <p:cNvSpPr txBox="1"/>
          <p:nvPr/>
        </p:nvSpPr>
        <p:spPr>
          <a:xfrm>
            <a:off x="1080000" y="4284000"/>
            <a:ext cx="8820000" cy="612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لغة برمجة</a:t>
            </a:r>
          </a:p>
        </p:txBody>
      </p:sp>
      <p:sp>
        <p:nvSpPr>
          <p:cNvPr id="16" name="bg_opt_d"/>
          <p:cNvSpPr/>
          <p:nvPr/>
        </p:nvSpPr>
        <p:spPr>
          <a:xfrm>
            <a:off x="900000" y="5040000"/>
            <a:ext cx="10080000" cy="68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0E5EC"/>
            </a:solidFill>
          </a:ln>
          <a:effectLst>
            <a:outerShdw blurRad="381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pt_d"/>
          <p:cNvSpPr/>
          <p:nvPr/>
        </p:nvSpPr>
        <p:spPr>
          <a:xfrm>
            <a:off x="10260000" y="5112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د</a:t>
            </a:r>
          </a:p>
        </p:txBody>
      </p:sp>
      <p:sp>
        <p:nvSpPr>
          <p:cNvPr id="18" name="txt_opt_d"/>
          <p:cNvSpPr txBox="1"/>
          <p:nvPr/>
        </p:nvSpPr>
        <p:spPr>
          <a:xfrm>
            <a:off x="1080000" y="5076000"/>
            <a:ext cx="8820000" cy="612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نظام تشغيل</a:t>
            </a:r>
          </a:p>
        </p:txBody>
      </p:sp>
      <p:sp>
        <p:nvSpPr>
          <p:cNvPr id="19" name="btn_check"/>
          <p:cNvSpPr/>
          <p:nvPr/>
        </p:nvSpPr>
        <p:spPr>
          <a:xfrm>
            <a:off x="3600000" y="5760000"/>
            <a:ext cx="3600000" cy="576000"/>
          </a:xfrm>
          <a:prstGeom prst="roundRect">
            <a:avLst/>
          </a:prstGeom>
          <a:solidFill>
            <a:srgbClr val="156082"/>
          </a:solidFill>
          <a:ln w="19050">
            <a:solidFill>
              <a:srgbClr val="08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22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تحقق من الإجابة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نشاط: سحب وإفلات</a:t>
            </a:r>
          </a:p>
        </p:txBody>
      </p:sp>
      <p:sp>
        <p:nvSpPr>
          <p:cNvPr id="3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اختبار شامل: كل أنواع الشرائح</a:t>
            </a:r>
          </a:p>
        </p:txBody>
      </p:sp>
      <p:pic>
        <p:nvPicPr>
          <p:cNvPr id="4" name="header_banner" descr="banner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35" y="860142"/>
            <a:ext cx="4422731" cy="695099"/>
          </a:xfrm>
          <a:prstGeom prst="rect">
            <a:avLst/>
          </a:prstGeom>
        </p:spPr>
      </p:pic>
      <p:sp>
        <p:nvSpPr>
          <p:cNvPr id="5" name="header_banner_text"/>
          <p:cNvSpPr txBox="1"/>
          <p:nvPr/>
        </p:nvSpPr>
        <p:spPr>
          <a:xfrm>
            <a:off x="3818244" y="977750"/>
            <a:ext cx="4555512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نشاط تفاعلي: سحب وترتيب</a:t>
            </a:r>
          </a:p>
        </p:txBody>
      </p:sp>
      <p:sp>
        <p:nvSpPr>
          <p:cNvPr id="6" name="txt_question"/>
          <p:cNvSpPr txBox="1"/>
          <p:nvPr/>
        </p:nvSpPr>
        <p:spPr>
          <a:xfrm>
            <a:off x="900000" y="1800000"/>
            <a:ext cx="10440000" cy="72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رتب المراحل التالية:</a:t>
            </a:r>
          </a:p>
        </p:txBody>
      </p:sp>
      <p:sp>
        <p:nvSpPr>
          <p:cNvPr id="7" name="txt_instruction"/>
          <p:cNvSpPr txBox="1"/>
          <p:nvPr/>
        </p:nvSpPr>
        <p:spPr>
          <a:xfrm>
            <a:off x="900000" y="2520000"/>
            <a:ext cx="10440000" cy="432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156082"/>
                </a:solidFill>
                <a:cs typeface="Tajawal Medium"/>
                <a:latin typeface="Tajawal Medium"/>
                <a:ea typeface="Tajawal Medium"/>
              </a:rPr>
              <a:t>اسحب العناصر التالية إلى الترتيب الصحيح</a:t>
            </a:r>
          </a:p>
        </p:txBody>
      </p:sp>
      <p:sp>
        <p:nvSpPr>
          <p:cNvPr id="8" name="drag_item_1"/>
          <p:cNvSpPr/>
          <p:nvPr/>
        </p:nvSpPr>
        <p:spPr>
          <a:xfrm>
            <a:off x="900000" y="3060000"/>
            <a:ext cx="4320000" cy="72000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2D588C"/>
            </a:solidFill>
          </a:ln>
          <a:effectLst>
            <a:outerShdw blurRad="76200" dist="38100" dir="2700000" rotWithShape="0">
              <a:srgbClr val="000000">
                <a:alpha val="7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/>
          <a:lstStyle/>
          <a:p>
            <a:pPr algn="ctr" rtl="1"/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التحليل</a:t>
            </a:r>
          </a:p>
        </p:txBody>
      </p:sp>
      <p:sp>
        <p:nvSpPr>
          <p:cNvPr id="9" name="icon_grip_1"/>
          <p:cNvSpPr txBox="1"/>
          <p:nvPr/>
        </p:nvSpPr>
        <p:spPr>
          <a:xfrm>
            <a:off x="972000" y="3132000"/>
            <a:ext cx="360000" cy="360000"/>
          </a:xfrm>
          <a:prstGeom prst="rect">
            <a:avLst/>
          </a:prstGeom>
          <a:noFill/>
        </p:spPr>
        <p:txBody>
          <a:bodyPr wrap="none" lIns="90000" rIns="90000" tIns="46800" bIns="46800">
            <a:spAutoFit/>
          </a:bodyPr>
          <a:lstStyle/>
          <a:p>
            <a:pPr algn="l" rtl="1"/>
            <a:r>
              <a:rPr sz="1400" b="0" lang="ar-JO">
                <a:solidFill>
                  <a:srgbClr val="6B6B6B"/>
                </a:solidFill>
                <a:cs typeface="Tajawal"/>
                <a:latin typeface="Tajawal"/>
                <a:ea typeface="Tajawal"/>
              </a:rPr>
              <a:t>☰</a:t>
            </a:r>
          </a:p>
        </p:txBody>
      </p:sp>
      <p:sp>
        <p:nvSpPr>
          <p:cNvPr id="10" name="drag_item_2"/>
          <p:cNvSpPr/>
          <p:nvPr/>
        </p:nvSpPr>
        <p:spPr>
          <a:xfrm>
            <a:off x="900000" y="4320000"/>
            <a:ext cx="4320000" cy="72000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2D588C"/>
            </a:solidFill>
          </a:ln>
          <a:effectLst>
            <a:outerShdw blurRad="76200" dist="38100" dir="2700000" rotWithShape="0">
              <a:srgbClr val="000000">
                <a:alpha val="7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/>
          <a:lstStyle/>
          <a:p>
            <a:pPr algn="ctr" rtl="1"/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التصميم</a:t>
            </a:r>
          </a:p>
        </p:txBody>
      </p:sp>
      <p:sp>
        <p:nvSpPr>
          <p:cNvPr id="11" name="icon_grip_2"/>
          <p:cNvSpPr txBox="1"/>
          <p:nvPr/>
        </p:nvSpPr>
        <p:spPr>
          <a:xfrm>
            <a:off x="972000" y="4392000"/>
            <a:ext cx="360000" cy="360000"/>
          </a:xfrm>
          <a:prstGeom prst="rect">
            <a:avLst/>
          </a:prstGeom>
          <a:noFill/>
        </p:spPr>
        <p:txBody>
          <a:bodyPr wrap="none" lIns="90000" rIns="90000" tIns="46800" bIns="46800">
            <a:spAutoFit/>
          </a:bodyPr>
          <a:lstStyle/>
          <a:p>
            <a:pPr algn="l" rtl="1"/>
            <a:r>
              <a:rPr sz="1400" b="0" lang="ar-JO">
                <a:solidFill>
                  <a:srgbClr val="6B6B6B"/>
                </a:solidFill>
                <a:cs typeface="Tajawal"/>
                <a:latin typeface="Tajawal"/>
                <a:ea typeface="Tajawal"/>
              </a:rPr>
              <a:t>☰</a:t>
            </a:r>
          </a:p>
        </p:txBody>
      </p:sp>
      <p:sp>
        <p:nvSpPr>
          <p:cNvPr id="12" name="drag_item_3"/>
          <p:cNvSpPr/>
          <p:nvPr/>
        </p:nvSpPr>
        <p:spPr>
          <a:xfrm>
            <a:off x="900000" y="5580000"/>
            <a:ext cx="4320000" cy="72000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2D588C"/>
            </a:solidFill>
          </a:ln>
          <a:effectLst>
            <a:outerShdw blurRad="76200" dist="38100" dir="2700000" rotWithShape="0">
              <a:srgbClr val="000000">
                <a:alpha val="7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/>
          <a:lstStyle/>
          <a:p>
            <a:pPr algn="ctr" rtl="1"/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التنفيذ</a:t>
            </a:r>
          </a:p>
        </p:txBody>
      </p:sp>
      <p:sp>
        <p:nvSpPr>
          <p:cNvPr id="13" name="icon_grip_3"/>
          <p:cNvSpPr txBox="1"/>
          <p:nvPr/>
        </p:nvSpPr>
        <p:spPr>
          <a:xfrm>
            <a:off x="972000" y="5652000"/>
            <a:ext cx="360000" cy="360000"/>
          </a:xfrm>
          <a:prstGeom prst="rect">
            <a:avLst/>
          </a:prstGeom>
          <a:noFill/>
        </p:spPr>
        <p:txBody>
          <a:bodyPr wrap="none" lIns="90000" rIns="90000" tIns="46800" bIns="46800">
            <a:spAutoFit/>
          </a:bodyPr>
          <a:lstStyle/>
          <a:p>
            <a:pPr algn="l" rtl="1"/>
            <a:r>
              <a:rPr sz="1400" b="0" lang="ar-JO">
                <a:solidFill>
                  <a:srgbClr val="6B6B6B"/>
                </a:solidFill>
                <a:cs typeface="Tajawal"/>
                <a:latin typeface="Tajawal"/>
                <a:ea typeface="Tajawal"/>
              </a:rPr>
              <a:t>☰</a:t>
            </a:r>
          </a:p>
        </p:txBody>
      </p:sp>
      <p:sp>
        <p:nvSpPr>
          <p:cNvPr id="14" name="drop_zone_1"/>
          <p:cNvSpPr/>
          <p:nvPr/>
        </p:nvSpPr>
        <p:spPr>
          <a:xfrm>
            <a:off x="6480000" y="3060000"/>
            <a:ext cx="4320000" cy="720000"/>
          </a:xfrm>
          <a:prstGeom prst="roundRect">
            <a:avLst/>
          </a:prstGeom>
          <a:solidFill>
            <a:srgbClr val="FAFBFC"/>
          </a:solidFill>
          <a:ln w="19050">
            <a:solidFill>
              <a:srgbClr val="E0E5E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400" b="0" lang="ar-JO">
                <a:solidFill>
                  <a:srgbClr val="6B6B6B"/>
                </a:solidFill>
                <a:cs typeface="Tajawal"/>
                <a:latin typeface="Tajawal"/>
                <a:ea typeface="Tajawal"/>
              </a:rPr>
              <a:t>اسحب هنا</a:t>
            </a:r>
          </a:p>
        </p:txBody>
      </p:sp>
      <p:sp>
        <p:nvSpPr>
          <p:cNvPr id="15" name="Oval 14"/>
          <p:cNvSpPr/>
          <p:nvPr/>
        </p:nvSpPr>
        <p:spPr>
          <a:xfrm>
            <a:off x="10152000" y="3150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1</a:t>
            </a:r>
          </a:p>
        </p:txBody>
      </p:sp>
      <p:sp>
        <p:nvSpPr>
          <p:cNvPr id="16" name="drop_zone_2"/>
          <p:cNvSpPr/>
          <p:nvPr/>
        </p:nvSpPr>
        <p:spPr>
          <a:xfrm>
            <a:off x="6480000" y="4320000"/>
            <a:ext cx="4320000" cy="720000"/>
          </a:xfrm>
          <a:prstGeom prst="roundRect">
            <a:avLst/>
          </a:prstGeom>
          <a:solidFill>
            <a:srgbClr val="FAFBFC"/>
          </a:solidFill>
          <a:ln w="19050">
            <a:solidFill>
              <a:srgbClr val="E0E5E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400" b="0" lang="ar-JO">
                <a:solidFill>
                  <a:srgbClr val="6B6B6B"/>
                </a:solidFill>
                <a:cs typeface="Tajawal"/>
                <a:latin typeface="Tajawal"/>
                <a:ea typeface="Tajawal"/>
              </a:rPr>
              <a:t>اسحب هنا</a:t>
            </a:r>
          </a:p>
        </p:txBody>
      </p:sp>
      <p:sp>
        <p:nvSpPr>
          <p:cNvPr id="17" name="Oval 16"/>
          <p:cNvSpPr/>
          <p:nvPr/>
        </p:nvSpPr>
        <p:spPr>
          <a:xfrm>
            <a:off x="10152000" y="4410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2</a:t>
            </a:r>
          </a:p>
        </p:txBody>
      </p:sp>
      <p:sp>
        <p:nvSpPr>
          <p:cNvPr id="18" name="drop_zone_3"/>
          <p:cNvSpPr/>
          <p:nvPr/>
        </p:nvSpPr>
        <p:spPr>
          <a:xfrm>
            <a:off x="6480000" y="5580000"/>
            <a:ext cx="4320000" cy="720000"/>
          </a:xfrm>
          <a:prstGeom prst="roundRect">
            <a:avLst/>
          </a:prstGeom>
          <a:solidFill>
            <a:srgbClr val="FAFBFC"/>
          </a:solidFill>
          <a:ln w="19050">
            <a:solidFill>
              <a:srgbClr val="E0E5E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400" b="0" lang="ar-JO">
                <a:solidFill>
                  <a:srgbClr val="6B6B6B"/>
                </a:solidFill>
                <a:cs typeface="Tajawal"/>
                <a:latin typeface="Tajawal"/>
                <a:ea typeface="Tajawal"/>
              </a:rPr>
              <a:t>اسحب هنا</a:t>
            </a:r>
          </a:p>
        </p:txBody>
      </p:sp>
      <p:sp>
        <p:nvSpPr>
          <p:cNvPr id="19" name="Oval 18"/>
          <p:cNvSpPr/>
          <p:nvPr/>
        </p:nvSpPr>
        <p:spPr>
          <a:xfrm>
            <a:off x="10152000" y="5670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اكتشف المزيد</a:t>
            </a:r>
          </a:p>
        </p:txBody>
      </p:sp>
      <p:sp>
        <p:nvSpPr>
          <p:cNvPr id="3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اختبار شامل: كل أنواع الشرائح</a:t>
            </a:r>
          </a:p>
        </p:txBody>
      </p:sp>
      <p:pic>
        <p:nvPicPr>
          <p:cNvPr id="4" name="header_banner" descr="banner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35" y="860142"/>
            <a:ext cx="4422731" cy="695099"/>
          </a:xfrm>
          <a:prstGeom prst="rect">
            <a:avLst/>
          </a:prstGeom>
        </p:spPr>
      </p:pic>
      <p:sp>
        <p:nvSpPr>
          <p:cNvPr id="5" name="header_banner_text"/>
          <p:cNvSpPr txBox="1"/>
          <p:nvPr/>
        </p:nvSpPr>
        <p:spPr>
          <a:xfrm>
            <a:off x="3818244" y="977750"/>
            <a:ext cx="4555512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اكتشف المزيد</a:t>
            </a:r>
          </a:p>
        </p:txBody>
      </p:sp>
      <p:sp>
        <p:nvSpPr>
          <p:cNvPr id="6" name="txt_instruction"/>
          <p:cNvSpPr txBox="1"/>
          <p:nvPr/>
        </p:nvSpPr>
        <p:spPr>
          <a:xfrm>
            <a:off x="900000" y="1620000"/>
            <a:ext cx="1044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Medium"/>
                <a:latin typeface="Tajawal Medium"/>
                <a:ea typeface="Tajawal Medium"/>
              </a:rPr>
              <a:t>انقر على كل عنصر لمعرفة التفاصيل</a:t>
            </a:r>
          </a:p>
        </p:txBody>
      </p:sp>
      <p:sp>
        <p:nvSpPr>
          <p:cNvPr id="7" name="btn_reveal_1"/>
          <p:cNvSpPr/>
          <p:nvPr/>
        </p:nvSpPr>
        <p:spPr>
          <a:xfrm>
            <a:off x="900000" y="2520000"/>
            <a:ext cx="3300000" cy="900000"/>
          </a:xfrm>
          <a:prstGeom prst="roundRect">
            <a:avLst>
              <a:gd name="adj" fmla="val 8000"/>
            </a:avLst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/>
          <a:lstStyle/>
          <a:p>
            <a:pPr algn="ctr" rtl="1"/>
            <a:r>
              <a:rPr sz="18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التعليم</a:t>
            </a:r>
          </a:p>
        </p:txBody>
      </p:sp>
      <p:sp>
        <p:nvSpPr>
          <p:cNvPr id="8" name="btn_reveal_2"/>
          <p:cNvSpPr/>
          <p:nvPr/>
        </p:nvSpPr>
        <p:spPr>
          <a:xfrm>
            <a:off x="4380000" y="2520000"/>
            <a:ext cx="3300000" cy="900000"/>
          </a:xfrm>
          <a:prstGeom prst="roundRect">
            <a:avLst>
              <a:gd name="adj" fmla="val 8000"/>
            </a:avLst>
          </a:prstGeom>
          <a:solidFill>
            <a:srgbClr val="4A7A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/>
          <a:lstStyle/>
          <a:p>
            <a:pPr algn="ctr" rtl="1"/>
            <a:r>
              <a:rPr sz="18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الصحة</a:t>
            </a:r>
          </a:p>
        </p:txBody>
      </p:sp>
      <p:sp>
        <p:nvSpPr>
          <p:cNvPr id="9" name="btn_reveal_3"/>
          <p:cNvSpPr/>
          <p:nvPr/>
        </p:nvSpPr>
        <p:spPr>
          <a:xfrm>
            <a:off x="7860000" y="2520000"/>
            <a:ext cx="3300000" cy="900000"/>
          </a:xfrm>
          <a:prstGeom prst="roundRect">
            <a:avLst>
              <a:gd name="adj" fmla="val 8000"/>
            </a:avLst>
          </a:prstGeom>
          <a:solidFill>
            <a:srgbClr val="4A7A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/>
          <a:lstStyle/>
          <a:p>
            <a:pPr algn="ctr" rtl="1"/>
            <a:r>
              <a:rPr sz="18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الاقتصاد</a:t>
            </a:r>
          </a:p>
        </p:txBody>
      </p:sp>
      <p:sp>
        <p:nvSpPr>
          <p:cNvPr id="10" name="bg_reveal_desc"/>
          <p:cNvSpPr/>
          <p:nvPr/>
        </p:nvSpPr>
        <p:spPr>
          <a:xfrm>
            <a:off x="900000" y="3780000"/>
            <a:ext cx="10260000" cy="1800000"/>
          </a:xfrm>
          <a:prstGeom prst="roundRect">
            <a:avLst/>
          </a:prstGeom>
          <a:solidFill>
            <a:srgbClr val="E3F2FD"/>
          </a:solidFill>
          <a:ln>
            <a:solidFill>
              <a:srgbClr val="2D5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ccent_desc_bar"/>
          <p:cNvSpPr/>
          <p:nvPr/>
        </p:nvSpPr>
        <p:spPr>
          <a:xfrm>
            <a:off x="10980000" y="3780000"/>
            <a:ext cx="144000" cy="1800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xt_reveal_desc"/>
          <p:cNvSpPr txBox="1"/>
          <p:nvPr/>
        </p:nvSpPr>
        <p:spPr>
          <a:xfrm>
            <a:off x="1080000" y="3960000"/>
            <a:ext cx="9900000" cy="14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أثرت التقنية على التعليم بشكل كبير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اسحب المؤشر لاكتشاف الفوائد:</a:t>
            </a:r>
          </a:p>
        </p:txBody>
      </p:sp>
      <p:sp>
        <p:nvSpPr>
          <p:cNvPr id="3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اختبار شامل: كل أنواع الشرائح</a:t>
            </a:r>
          </a:p>
        </p:txBody>
      </p:sp>
      <p:sp>
        <p:nvSpPr>
          <p:cNvPr id="4" name="txt_instruction"/>
          <p:cNvSpPr txBox="1"/>
          <p:nvPr/>
        </p:nvSpPr>
        <p:spPr>
          <a:xfrm>
            <a:off x="900000" y="900000"/>
            <a:ext cx="10440000" cy="72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Medium"/>
                <a:latin typeface="Tajawal Medium"/>
                <a:ea typeface="Tajawal Medium"/>
              </a:rPr>
              <a:t>اسحب المؤشر لاكتشاف الفوائد:</a:t>
            </a:r>
          </a:p>
        </p:txBody>
      </p:sp>
      <p:sp>
        <p:nvSpPr>
          <p:cNvPr id="5" name="icon_step_1"/>
          <p:cNvSpPr/>
          <p:nvPr/>
        </p:nvSpPr>
        <p:spPr>
          <a:xfrm>
            <a:off x="10080000" y="1800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1</a:t>
            </a:r>
          </a:p>
        </p:txBody>
      </p:sp>
      <p:sp>
        <p:nvSpPr>
          <p:cNvPr id="6" name="txt_step_1"/>
          <p:cNvSpPr txBox="1"/>
          <p:nvPr/>
        </p:nvSpPr>
        <p:spPr>
          <a:xfrm>
            <a:off x="1080000" y="1800000"/>
            <a:ext cx="864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تسهيل التواصل</a:t>
            </a:r>
          </a:p>
        </p:txBody>
      </p:sp>
      <p:sp>
        <p:nvSpPr>
          <p:cNvPr id="7" name="icon_step_2"/>
          <p:cNvSpPr/>
          <p:nvPr/>
        </p:nvSpPr>
        <p:spPr>
          <a:xfrm>
            <a:off x="10080000" y="2520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2</a:t>
            </a:r>
          </a:p>
        </p:txBody>
      </p:sp>
      <p:sp>
        <p:nvSpPr>
          <p:cNvPr id="8" name="txt_step_2"/>
          <p:cNvSpPr txBox="1"/>
          <p:nvPr/>
        </p:nvSpPr>
        <p:spPr>
          <a:xfrm>
            <a:off x="1080000" y="2520000"/>
            <a:ext cx="864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تحسين الإنتاجية</a:t>
            </a:r>
          </a:p>
        </p:txBody>
      </p:sp>
      <p:sp>
        <p:nvSpPr>
          <p:cNvPr id="9" name="icon_step_3"/>
          <p:cNvSpPr/>
          <p:nvPr/>
        </p:nvSpPr>
        <p:spPr>
          <a:xfrm>
            <a:off x="10080000" y="3240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3</a:t>
            </a:r>
          </a:p>
        </p:txBody>
      </p:sp>
      <p:sp>
        <p:nvSpPr>
          <p:cNvPr id="10" name="txt_step_3"/>
          <p:cNvSpPr txBox="1"/>
          <p:nvPr/>
        </p:nvSpPr>
        <p:spPr>
          <a:xfrm>
            <a:off x="1080000" y="3240000"/>
            <a:ext cx="864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تعزيز التعلم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نشاط: صنف العبارات</a:t>
            </a:r>
          </a:p>
        </p:txBody>
      </p:sp>
      <p:sp>
        <p:nvSpPr>
          <p:cNvPr id="3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اختبار شامل: كل أنواع الشرائح</a:t>
            </a:r>
          </a:p>
        </p:txBody>
      </p:sp>
      <p:pic>
        <p:nvPicPr>
          <p:cNvPr id="4" name="header_banner" descr="banner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35" y="860142"/>
            <a:ext cx="4422731" cy="695099"/>
          </a:xfrm>
          <a:prstGeom prst="rect">
            <a:avLst/>
          </a:prstGeom>
        </p:spPr>
      </p:pic>
      <p:sp>
        <p:nvSpPr>
          <p:cNvPr id="5" name="header_banner_text"/>
          <p:cNvSpPr txBox="1"/>
          <p:nvPr/>
        </p:nvSpPr>
        <p:spPr>
          <a:xfrm>
            <a:off x="3818244" y="977750"/>
            <a:ext cx="4555512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نشاط: صنف العبارات</a:t>
            </a:r>
          </a:p>
        </p:txBody>
      </p:sp>
      <p:sp>
        <p:nvSpPr>
          <p:cNvPr id="6" name="txt_instruction"/>
          <p:cNvSpPr txBox="1"/>
          <p:nvPr/>
        </p:nvSpPr>
        <p:spPr>
          <a:xfrm>
            <a:off x="900000" y="1620000"/>
            <a:ext cx="10440000" cy="72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Medium"/>
                <a:latin typeface="Tajawal Medium"/>
                <a:ea typeface="Tajawal Medium"/>
              </a:rPr>
              <a:t>اختر من القائمة المنسدلة التصنيف المناسب</a:t>
            </a:r>
          </a:p>
        </p:txBody>
      </p:sp>
      <p:sp>
        <p:nvSpPr>
          <p:cNvPr id="7" name="txt_statement_1"/>
          <p:cNvSpPr txBox="1"/>
          <p:nvPr/>
        </p:nvSpPr>
        <p:spPr>
          <a:xfrm>
            <a:off x="2520000" y="2520000"/>
            <a:ext cx="7920000" cy="648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توفير بيئة محاكاة رقمية</a:t>
            </a:r>
          </a:p>
        </p:txBody>
      </p:sp>
      <p:sp>
        <p:nvSpPr>
          <p:cNvPr id="8" name="btn_dropdown_1"/>
          <p:cNvSpPr/>
          <p:nvPr/>
        </p:nvSpPr>
        <p:spPr>
          <a:xfrm>
            <a:off x="900000" y="2520000"/>
            <a:ext cx="1440000" cy="648000"/>
          </a:xfrm>
          <a:prstGeom prst="roundRect">
            <a:avLst/>
          </a:prstGeom>
          <a:solidFill>
            <a:srgbClr val="FFFFFF"/>
          </a:solidFill>
          <a:ln>
            <a:solidFill>
              <a:srgbClr val="2D5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▼</a:t>
            </a:r>
          </a:p>
        </p:txBody>
      </p:sp>
      <p:sp>
        <p:nvSpPr>
          <p:cNvPr id="9" name="txt_statement_2"/>
          <p:cNvSpPr txBox="1"/>
          <p:nvPr/>
        </p:nvSpPr>
        <p:spPr>
          <a:xfrm>
            <a:off x="2520000" y="5652000"/>
            <a:ext cx="7920000" cy="648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تحليل تفضيلات المستخدم</a:t>
            </a:r>
          </a:p>
        </p:txBody>
      </p:sp>
      <p:sp>
        <p:nvSpPr>
          <p:cNvPr id="10" name="btn_dropdown_2"/>
          <p:cNvSpPr/>
          <p:nvPr/>
        </p:nvSpPr>
        <p:spPr>
          <a:xfrm>
            <a:off x="900000" y="5652000"/>
            <a:ext cx="1440000" cy="648000"/>
          </a:xfrm>
          <a:prstGeom prst="roundRect">
            <a:avLst/>
          </a:prstGeom>
          <a:solidFill>
            <a:srgbClr val="FFFFFF"/>
          </a:solidFill>
          <a:ln>
            <a:solidFill>
              <a:srgbClr val="2D5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▼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ملخص المحاضرة</a:t>
            </a:r>
          </a:p>
        </p:txBody>
      </p:sp>
      <p:sp>
        <p:nvSpPr>
          <p:cNvPr id="3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اختبار شامل: كل أنواع الشرائح</a:t>
            </a:r>
          </a:p>
        </p:txBody>
      </p:sp>
      <p:pic>
        <p:nvPicPr>
          <p:cNvPr id="4" name="header_banner" descr="banner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35" y="860142"/>
            <a:ext cx="4422731" cy="695099"/>
          </a:xfrm>
          <a:prstGeom prst="rect">
            <a:avLst/>
          </a:prstGeom>
        </p:spPr>
      </p:pic>
      <p:sp>
        <p:nvSpPr>
          <p:cNvPr id="5" name="header_banner_text"/>
          <p:cNvSpPr txBox="1"/>
          <p:nvPr/>
        </p:nvSpPr>
        <p:spPr>
          <a:xfrm>
            <a:off x="3818244" y="977750"/>
            <a:ext cx="4555512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ملخّص الوحدة الدراسيّة</a:t>
            </a:r>
          </a:p>
        </p:txBody>
      </p:sp>
      <p:sp>
        <p:nvSpPr>
          <p:cNvPr id="6" name="bg_summary_card"/>
          <p:cNvSpPr/>
          <p:nvPr/>
        </p:nvSpPr>
        <p:spPr>
          <a:xfrm>
            <a:off x="720000" y="1512000"/>
            <a:ext cx="10800000" cy="3780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xt_summary"/>
          <p:cNvSpPr txBox="1"/>
          <p:nvPr/>
        </p:nvSpPr>
        <p:spPr>
          <a:xfrm>
            <a:off x="900000" y="1620000"/>
            <a:ext cx="10440000" cy="360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50000"/>
              </a:lnSpc>
              <a:spcAft>
                <a:spcPts val="800"/>
              </a:spcAft>
            </a:pP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ملخص النقطة الأولى</a:t>
            </a:r>
          </a:p>
          <a:p>
            <a:pPr algn="r" rtl="1">
              <a:lnSpc>
                <a:spcPct val="150000"/>
              </a:lnSpc>
              <a:spcAft>
                <a:spcPts val="800"/>
              </a:spcAft>
            </a:pP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ملخص النقطة الثانية</a:t>
            </a:r>
          </a:p>
          <a:p>
            <a:pPr algn="r" rtl="1">
              <a:lnSpc>
                <a:spcPct val="150000"/>
              </a:lnSpc>
              <a:spcAft>
                <a:spcPts val="800"/>
              </a:spcAft>
            </a:pPr>
            <a:r>
              <a:rPr sz="2000" b="1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النتيجة: </a:t>
            </a: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تم اختبار جميع أنواع الشرائح بنجاح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شكراً لكم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g_card"/>
          <p:cNvSpPr/>
          <p:nvPr/>
        </p:nvSpPr>
        <p:spPr>
          <a:xfrm>
            <a:off x="1080000" y="1080000"/>
            <a:ext cx="10032000" cy="4698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_corner_tr_h"/>
          <p:cNvSpPr/>
          <p:nvPr/>
        </p:nvSpPr>
        <p:spPr>
          <a:xfrm>
            <a:off x="10032000" y="900000"/>
            <a:ext cx="1080000" cy="25400"/>
          </a:xfrm>
          <a:prstGeom prst="rect">
            <a:avLst/>
          </a:prstGeom>
          <a:solidFill>
            <a:srgbClr val="4A7A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co_corner_tr_v"/>
          <p:cNvSpPr/>
          <p:nvPr/>
        </p:nvSpPr>
        <p:spPr>
          <a:xfrm>
            <a:off x="11112000" y="900000"/>
            <a:ext cx="25400" cy="1080000"/>
          </a:xfrm>
          <a:prstGeom prst="rect">
            <a:avLst/>
          </a:prstGeom>
          <a:solidFill>
            <a:srgbClr val="4A7A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eco_corner_tr_dot"/>
          <p:cNvSpPr/>
          <p:nvPr/>
        </p:nvSpPr>
        <p:spPr>
          <a:xfrm>
            <a:off x="11040000" y="828000"/>
            <a:ext cx="144000" cy="144000"/>
          </a:xfrm>
          <a:prstGeom prst="ellipse">
            <a:avLst/>
          </a:prstGeom>
          <a:solidFill>
            <a:srgbClr val="4A7A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xt_thanks"/>
          <p:cNvSpPr txBox="1"/>
          <p:nvPr/>
        </p:nvSpPr>
        <p:spPr>
          <a:xfrm>
            <a:off x="1800000" y="1800000"/>
            <a:ext cx="8640000" cy="90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36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شكراً لكم</a:t>
            </a:r>
          </a:p>
        </p:txBody>
      </p:sp>
      <p:sp>
        <p:nvSpPr>
          <p:cNvPr id="9" name="accent_steps_line"/>
          <p:cNvSpPr/>
          <p:nvPr/>
        </p:nvSpPr>
        <p:spPr>
          <a:xfrm>
            <a:off x="3600000" y="2700000"/>
            <a:ext cx="5040000" cy="36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xt_next_steps_label"/>
          <p:cNvSpPr txBox="1"/>
          <p:nvPr/>
        </p:nvSpPr>
        <p:spPr>
          <a:xfrm>
            <a:off x="1800000" y="2880000"/>
            <a:ext cx="864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الخطوات القادمة:</a:t>
            </a:r>
          </a:p>
        </p:txBody>
      </p:sp>
      <p:sp>
        <p:nvSpPr>
          <p:cNvPr id="11" name="num_step_1"/>
          <p:cNvSpPr/>
          <p:nvPr/>
        </p:nvSpPr>
        <p:spPr>
          <a:xfrm>
            <a:off x="8640000" y="3600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1</a:t>
            </a:r>
          </a:p>
        </p:txBody>
      </p:sp>
      <p:sp>
        <p:nvSpPr>
          <p:cNvPr id="12" name="txt_step_1"/>
          <p:cNvSpPr txBox="1"/>
          <p:nvPr/>
        </p:nvSpPr>
        <p:spPr>
          <a:xfrm>
            <a:off x="2160000" y="3600000"/>
            <a:ext cx="612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مراجعة المحاضرة</a:t>
            </a:r>
          </a:p>
        </p:txBody>
      </p:sp>
      <p:sp>
        <p:nvSpPr>
          <p:cNvPr id="13" name="num_step_2"/>
          <p:cNvSpPr/>
          <p:nvPr/>
        </p:nvSpPr>
        <p:spPr>
          <a:xfrm>
            <a:off x="8640000" y="4320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2</a:t>
            </a:r>
          </a:p>
        </p:txBody>
      </p:sp>
      <p:sp>
        <p:nvSpPr>
          <p:cNvPr id="14" name="txt_step_2"/>
          <p:cNvSpPr txBox="1"/>
          <p:nvPr/>
        </p:nvSpPr>
        <p:spPr>
          <a:xfrm>
            <a:off x="2160000" y="4320000"/>
            <a:ext cx="612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حل النشاط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2025-11-02T06:11:04Z</dcterms:created>
  <dc:creator>hadeel alserhan</dc:creator>
</cp:coreProperties>
</file>