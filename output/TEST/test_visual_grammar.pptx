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13"/>
    <p:sldId id="257" r:id="rId12"/>
    <p:sldId id="258" r:id="rId11"/>
    <p:sldId id="259" r:id="rId10"/>
    <p:sldId id="260" r:id="rId9"/>
    <p:sldId id="261" r:id="rId8"/>
    <p:sldId id="262" r:id="rId7"/>
    <p:sldId id="263" r:id="rId6"/>
    <p:sldId id="264" r:id="rId22"/>
    <p:sldId id="265" r:id="rId23"/>
  </p:sldIdLst>
  <p:sldSz cy="6858000" cx="12192000"/>
  <p:notesSz cx="6858000" cy="9144000"/>
  <p:embeddedFontLst>
    <p:embeddedFont>
      <p:font typeface="Play"/>
      <p:regular r:id="rId14"/>
      <p:bold r:id="rId15"/>
    </p:embeddedFont>
    <p:embeddedFont>
      <p:font typeface="Tajawal ExtraBold"/>
      <p:bold r:id="rId16"/>
    </p:embeddedFont>
    <p:embeddedFont>
      <p:font typeface="Tajawal Medium"/>
      <p:regular r:id="rId17"/>
      <p:bold r:id="rId18"/>
    </p:embeddedFont>
    <p:embeddedFont>
      <p:font typeface="Tajawal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576">
          <p15:clr>
            <a:srgbClr val="A4A3A4"/>
          </p15:clr>
        </p15:guide>
        <p15:guide id="2" pos="3840">
          <p15:clr>
            <a:srgbClr val="A4A3A4"/>
          </p15:clr>
        </p15:guide>
        <p15:guide id="3" orient="horz" pos="936">
          <p15:clr>
            <a:srgbClr val="A4A3A4"/>
          </p15:clr>
        </p15:guide>
        <p15:guide id="4" pos="4896">
          <p15:clr>
            <a:srgbClr val="A4A3A4"/>
          </p15:clr>
        </p15:guide>
        <p15:guide id="5" pos="6912">
          <p15:clr>
            <a:srgbClr val="A4A3A4"/>
          </p15:clr>
        </p15:guide>
        <p15:guide id="6" orient="horz" pos="1224">
          <p15:clr>
            <a:srgbClr val="A4A3A4"/>
          </p15:clr>
        </p15:guide>
        <p15:guide id="7" orient="horz" pos="3264">
          <p15:clr>
            <a:srgbClr val="A4A3A4"/>
          </p15:clr>
        </p15:guide>
      </p15:sldGuideLst>
    </p:ext>
    <p:ext uri="GoogleSlidesCustomDataVersion2">
      <go:slidesCustomData xmlns:go="http://customooxmlschemas.google.com/" r:id="rId21" roundtripDataSignature="AMtx7mjdE2pY+TZRQAyXDRzz/zrrGoHQd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76" orient="horz"/>
        <p:guide pos="3840"/>
        <p:guide pos="936" orient="horz"/>
        <p:guide pos="4896"/>
        <p:guide pos="6912"/>
        <p:guide pos="1224" orient="horz"/>
        <p:guide pos="3264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8.xml"/><Relationship Id="rId7" Type="http://schemas.openxmlformats.org/officeDocument/2006/relationships/slide" Target="slides/slide7.xml"/><Relationship Id="rId8" Type="http://schemas.openxmlformats.org/officeDocument/2006/relationships/slide" Target="slides/slide6.xml"/><Relationship Id="rId9" Type="http://schemas.openxmlformats.org/officeDocument/2006/relationships/slide" Target="slides/slide5.xml"/><Relationship Id="rId10" Type="http://schemas.openxmlformats.org/officeDocument/2006/relationships/slide" Target="slides/slide4.xml"/><Relationship Id="rId11" Type="http://schemas.openxmlformats.org/officeDocument/2006/relationships/slide" Target="slides/slide3.xml"/><Relationship Id="rId12" Type="http://schemas.openxmlformats.org/officeDocument/2006/relationships/slide" Target="slides/slide2.xml"/><Relationship Id="rId13" Type="http://schemas.openxmlformats.org/officeDocument/2006/relationships/slide" Target="slides/slide1.xml"/><Relationship Id="rId14" Type="http://schemas.openxmlformats.org/officeDocument/2006/relationships/font" Target="fonts/Play-regular.fntdata"/><Relationship Id="rId15" Type="http://schemas.openxmlformats.org/officeDocument/2006/relationships/font" Target="fonts/Play-bold.fntdata"/><Relationship Id="rId16" Type="http://schemas.openxmlformats.org/officeDocument/2006/relationships/font" Target="fonts/TajawalExtraBold-bold.fntdata"/><Relationship Id="rId17" Type="http://schemas.openxmlformats.org/officeDocument/2006/relationships/font" Target="fonts/TajawalMedium-regular.fntdata"/><Relationship Id="rId18" Type="http://schemas.openxmlformats.org/officeDocument/2006/relationships/font" Target="fonts/TajawalMedium-bold.fntdata"/><Relationship Id="rId19" Type="http://schemas.openxmlformats.org/officeDocument/2006/relationships/font" Target="fonts/Tajawal-regular.fntdata"/><Relationship Id="rId20" Type="http://schemas.openxmlformats.org/officeDocument/2006/relationships/font" Target="fonts/Tajawal-bold.fntdata"/><Relationship Id="rId21" Type="http://customschemas.google.com/relationships/presentationmetadata" Target="metadata"/><Relationship Id="rId22" Type="http://schemas.openxmlformats.org/officeDocument/2006/relationships/slide" Target="slides/slide9.xml"/><Relationship Id="rId23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ar-JO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=== STORYLINE 360 IMPORT INSTRUCTIONS ===</a:t>
            </a:r>
          </a:p>
          <a:p/>
          <a:p>
            <a:r>
              <a:t>Project: TEST</a:t>
            </a:r>
          </a:p>
          <a:p>
            <a:r>
              <a:t>Unit: 1</a:t>
            </a:r>
          </a:p>
          <a:p>
            <a:r>
              <a:t>Lecture: اختبار القواعد البصرية:</a:t>
            </a:r>
          </a:p>
          <a:p>
            <a:r>
              <a:t>Generated: 2026-02-22</a:t>
            </a:r>
          </a:p>
          <a:p>
            <a:r>
              <a:t>Designer: </a:t>
            </a:r>
          </a:p>
          <a:p/>
          <a:p>
            <a:r>
              <a:t>--- REQUIRED FONTS ---</a:t>
            </a:r>
          </a:p>
          <a:p>
            <a:r>
              <a:t>Install BEFORE importing:</a:t>
            </a:r>
          </a:p>
          <a:p>
            <a:r>
              <a:t>  1. Tajawal ExtraBold</a:t>
            </a:r>
          </a:p>
          <a:p>
            <a:r>
              <a:t>  2. Tajawal Medium</a:t>
            </a:r>
          </a:p>
          <a:p>
            <a:r>
              <a:t>  3. Tajawal (Regular)</a:t>
            </a:r>
          </a:p>
          <a:p>
            <a:r>
              <a:t>Download: https://fonts.google.com/specimen/Tajawal</a:t>
            </a:r>
          </a:p>
          <a:p/>
          <a:p>
            <a:r>
              <a:t>--- IMPORT STEPS ---</a:t>
            </a:r>
          </a:p>
          <a:p>
            <a:r>
              <a:t>1. File &gt; Import &gt; PowerPoint</a:t>
            </a:r>
          </a:p>
          <a:p>
            <a:r>
              <a:t>2. Select THIS .pptx file</a:t>
            </a:r>
          </a:p>
          <a:p>
            <a:r>
              <a:t>3. Import ALL slides</a:t>
            </a:r>
          </a:p>
          <a:p>
            <a:r>
              <a:t>4. Story Size: 1280 x 720 pixels (must match)</a:t>
            </a:r>
          </a:p>
          <a:p/>
          <a:p>
            <a:r>
              <a:t>--- POST-IMPORT QA ---</a:t>
            </a:r>
          </a:p>
          <a:p>
            <a:r>
              <a:t>[ ] Verify TOC shows Arabic slide titles (not 'Untitled')</a:t>
            </a:r>
          </a:p>
          <a:p>
            <a:r>
              <a:t>[ ] Verify fonts render correctly (Tajawal family)</a:t>
            </a:r>
          </a:p>
          <a:p>
            <a:r>
              <a:t>[ ] Check RTL text direction on all slides</a:t>
            </a:r>
          </a:p>
          <a:p>
            <a:r>
              <a:t>[ ] Test all interactive elements (buttons, quiz, drag-drop)</a:t>
            </a:r>
          </a:p>
          <a:p>
            <a:r>
              <a:t>[ ] Verify speaker notes contain Storyline instructions per slide</a:t>
            </a:r>
          </a:p>
          <a:p/>
          <a:p>
            <a:r>
              <a:t>--- SHAPE NAMING CONVENTION ---</a:t>
            </a:r>
          </a:p>
          <a:p>
            <a:r>
              <a:t>txt_*  = Text elements</a:t>
            </a:r>
          </a:p>
          <a:p>
            <a:r>
              <a:t>btn_*  = Clickable buttons (add triggers)</a:t>
            </a:r>
          </a:p>
          <a:p>
            <a:r>
              <a:t>icon_* = Decorative icons</a:t>
            </a:r>
          </a:p>
          <a:p>
            <a:r>
              <a:t>bg_*   = Background shapes</a:t>
            </a:r>
          </a:p>
          <a:p>
            <a:r>
              <a:t>opt_*  = Quiz option shapes (add triggers)</a:t>
            </a:r>
          </a:p>
          <a:p>
            <a:r>
              <a:t>num_*  = Numbered elements</a:t>
            </a:r>
          </a:p>
          <a:p>
            <a:r>
              <a:t>title  = Hidden TOC title (do not move)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oogle Shape;16;p10"/>
          <p:cNvGrpSpPr/>
          <p:nvPr/>
        </p:nvGrpSpPr>
        <p:grpSpPr>
          <a:xfrm flipH="1">
            <a:off x="0" y="0"/>
            <a:ext cx="12192000" cy="6857999"/>
            <a:chOff x="0" y="0"/>
            <a:chExt cx="12192000" cy="6857999"/>
          </a:xfrm>
        </p:grpSpPr>
        <p:pic>
          <p:nvPicPr>
            <p:cNvPr id="17" name="Google Shape;17;p10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0" y="0"/>
              <a:ext cx="12192000" cy="68579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" name="Google Shape;18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2500158" y="962015"/>
              <a:ext cx="1612381" cy="1248719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9" name="Google Shape;19;p10"/>
            <p:cNvCxnSpPr/>
            <p:nvPr/>
          </p:nvCxnSpPr>
          <p:spPr>
            <a:xfrm rot="10800000">
              <a:off x="2500158" y="4048125"/>
              <a:ext cx="1538442" cy="0"/>
            </a:xfrm>
            <a:prstGeom prst="straightConnector1">
              <a:avLst/>
            </a:prstGeom>
            <a:noFill/>
            <a:ln cap="rnd" cmpd="sng" w="19050">
              <a:solidFill>
                <a:srgbClr val="2D588C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11"/>
          <p:cNvPicPr preferRelativeResize="0"/>
          <p:nvPr/>
        </p:nvPicPr>
        <p:blipFill rotWithShape="1">
          <a:blip r:embed="rId3">
            <a:alphaModFix/>
          </a:blip>
          <a:srcRect b="0" l="15304" r="15305" t="0"/>
          <a:stretch/>
        </p:blipFill>
        <p:spPr>
          <a:xfrm>
            <a:off x="1803400" y="0"/>
            <a:ext cx="8585200" cy="10077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0" y="6023222"/>
            <a:ext cx="12192000" cy="853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1475" y="85756"/>
            <a:ext cx="709767" cy="5496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8" name="Google Shape;28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1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9" name="Google Shape;59;p1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0" name="Google Shape;60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1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7" name="Google Shape;67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1.xml"/><Relationship Id="rId5" Type="http://schemas.openxmlformats.org/officeDocument/2006/relationships/slide" Target="slide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اختبار القواعد البصرية:</a:t>
            </a:r>
          </a:p>
        </p:txBody>
      </p:sp>
      <p:sp>
        <p:nvSpPr>
          <p:cNvPr id="3" name="txt_institution"/>
          <p:cNvSpPr txBox="1"/>
          <p:nvPr/>
        </p:nvSpPr>
        <p:spPr>
          <a:xfrm>
            <a:off x="6096000" y="3198167"/>
            <a:ext cx="5181600" cy="461665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4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جامعة الاختبار</a:t>
            </a:r>
          </a:p>
        </p:txBody>
      </p:sp>
      <p:sp>
        <p:nvSpPr>
          <p:cNvPr id="4" name="txt_title"/>
          <p:cNvSpPr txBox="1"/>
          <p:nvPr/>
        </p:nvSpPr>
        <p:spPr>
          <a:xfrm>
            <a:off x="6096000" y="4257368"/>
            <a:ext cx="5181600" cy="1077218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24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اختبار القواعد البصرية:</a:t>
            </a:r>
          </a:p>
          <a:p>
            <a:pPr algn="ctr" rtl="1"/>
            <a:r>
              <a:rPr sz="2000" b="0" lang="ar-JO">
                <a:solidFill>
                  <a:srgbClr val="262626"/>
                </a:solidFill>
                <a:cs typeface="Tajawal ExtraBold"/>
                <a:latin typeface="Tajawal ExtraBold"/>
                <a:ea typeface="Tajawal ExtraBold"/>
              </a:rPr>
              <a:t>8 أنماط بصرية</a:t>
            </a:r>
          </a:p>
        </p:txBody>
      </p:sp>
      <p:sp>
        <p:nvSpPr>
          <p:cNvPr id="5" name="btn_start">
            <a:hlinkClick action="ppaction://hlinksldjump" r:id="rId5"/>
          </p:cNvPr>
          <p:cNvSpPr/>
          <p:nvPr/>
        </p:nvSpPr>
        <p:spPr>
          <a:xfrm>
            <a:off x="7398084" y="5599525"/>
            <a:ext cx="2773680" cy="665193"/>
          </a:xfrm>
          <a:prstGeom prst="roundRect">
            <a:avLst/>
          </a:prstGeom>
          <a:solidFill>
            <a:srgbClr val="156082"/>
          </a:solidFill>
          <a:ln w="19050">
            <a:solidFill>
              <a:srgbClr val="08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46800" bIns="46800"/>
          <a:lstStyle/>
          <a:p>
            <a:pPr algn="ctr" rtl="1"/>
            <a:r>
              <a:rPr sz="20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ابدأ المحاضرة</a:t>
            </a:r>
          </a:p>
        </p:txBody>
      </p:sp>
      <p:pic>
        <p:nvPicPr>
          <p:cNvPr id="6" name="icon_play" descr="play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6078" y="5599525"/>
            <a:ext cx="619211" cy="657317"/>
          </a:xfrm>
          <a:prstGeom prst="rect">
            <a:avLst/>
          </a:prstGeom>
        </p:spPr>
      </p:pic>
      <p:pic>
        <p:nvPicPr>
          <p:cNvPr id="7" name="icon_hand" descr="hand_curs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0916" y="5888428"/>
            <a:ext cx="724001" cy="7525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مراحل إدارة المشروع</a:t>
            </a:r>
          </a:p>
        </p:txBody>
      </p:sp>
      <p:sp>
        <p:nvSpPr>
          <p:cNvPr id="3" name="header_title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اختبار القواعد البصرية: 8 أنماط بصرية</a:t>
            </a:r>
          </a:p>
        </p:txBody>
      </p:sp>
      <p:pic>
        <p:nvPicPr>
          <p:cNvPr id="4" name="header_banner" descr="banner_nar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0969" y="898751"/>
            <a:ext cx="2610062" cy="695099"/>
          </a:xfrm>
          <a:prstGeom prst="rect">
            <a:avLst/>
          </a:prstGeom>
        </p:spPr>
      </p:pic>
      <p:sp>
        <p:nvSpPr>
          <p:cNvPr id="5" name="header_banner_text"/>
          <p:cNvSpPr txBox="1"/>
          <p:nvPr/>
        </p:nvSpPr>
        <p:spPr>
          <a:xfrm>
            <a:off x="4947367" y="1035917"/>
            <a:ext cx="2297266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مراحل إدارة المشروع</a:t>
            </a:r>
          </a:p>
        </p:txBody>
      </p:sp>
      <p:sp>
        <p:nvSpPr>
          <p:cNvPr id="6" name="bg_depth_wash"/>
          <p:cNvSpPr/>
          <p:nvPr/>
        </p:nvSpPr>
        <p:spPr>
          <a:xfrm>
            <a:off x="6432000" y="-1080000"/>
            <a:ext cx="7200000" cy="5040000"/>
          </a:xfrm>
          <a:prstGeom prst="ellipse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ard_step_1"/>
          <p:cNvSpPr/>
          <p:nvPr/>
        </p:nvSpPr>
        <p:spPr>
          <a:xfrm>
            <a:off x="9009000" y="1980000"/>
            <a:ext cx="2331000" cy="18000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12700">
            <a:solidFill>
              <a:srgbClr val="E0E5EC"/>
            </a:solidFill>
          </a:ln>
          <a:effectLst>
            <a:outerShdw blurRad="50800" dist="38100" dir="2700000" rotWithShape="0">
              <a:srgbClr val="000000">
                <a:alpha val="8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ccent_step_1"/>
          <p:cNvSpPr/>
          <p:nvPr/>
        </p:nvSpPr>
        <p:spPr>
          <a:xfrm>
            <a:off x="9009000" y="1980000"/>
            <a:ext cx="2331000" cy="180000"/>
          </a:xfrm>
          <a:prstGeom prst="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num_step_1"/>
          <p:cNvSpPr/>
          <p:nvPr/>
        </p:nvSpPr>
        <p:spPr>
          <a:xfrm>
            <a:off x="9922500" y="2268000"/>
            <a:ext cx="503999" cy="503999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1</a:t>
            </a:r>
          </a:p>
        </p:txBody>
      </p:sp>
      <p:sp>
        <p:nvSpPr>
          <p:cNvPr id="10" name="txt_step_1_label"/>
          <p:cNvSpPr txBox="1"/>
          <p:nvPr/>
        </p:nvSpPr>
        <p:spPr>
          <a:xfrm>
            <a:off x="9117000" y="2843999"/>
            <a:ext cx="2115000" cy="432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ctr" rtl="1"/>
            <a:r>
              <a:rPr sz="14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التخطيط</a:t>
            </a:r>
          </a:p>
        </p:txBody>
      </p:sp>
      <p:sp>
        <p:nvSpPr>
          <p:cNvPr id="11" name="txt_step_1_desc"/>
          <p:cNvSpPr txBox="1"/>
          <p:nvPr/>
        </p:nvSpPr>
        <p:spPr>
          <a:xfrm>
            <a:off x="9117000" y="3275999"/>
            <a:ext cx="2115000" cy="468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ctr" rtl="1"/>
            <a:r>
              <a:rPr sz="1100" b="0" lang="ar-JO">
                <a:solidFill>
                  <a:srgbClr val="6B6B6B"/>
                </a:solidFill>
                <a:cs typeface="Tajawal"/>
                <a:latin typeface="Tajawal"/>
                <a:ea typeface="Tajawal"/>
              </a:rPr>
              <a:t>تحديد الأهداف</a:t>
            </a:r>
          </a:p>
        </p:txBody>
      </p:sp>
      <p:sp>
        <p:nvSpPr>
          <p:cNvPr id="12" name="arrow_1_2"/>
          <p:cNvSpPr/>
          <p:nvPr/>
        </p:nvSpPr>
        <p:spPr>
          <a:xfrm rot="10800000">
            <a:off x="8577000" y="2736000"/>
            <a:ext cx="432000" cy="288000"/>
          </a:xfrm>
          <a:prstGeom prst="notchedRightArrow">
            <a:avLst/>
          </a:prstGeom>
          <a:solidFill>
            <a:srgbClr val="4A7A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ard_step_2"/>
          <p:cNvSpPr/>
          <p:nvPr/>
        </p:nvSpPr>
        <p:spPr>
          <a:xfrm>
            <a:off x="6246000" y="1980000"/>
            <a:ext cx="2331000" cy="18000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12700">
            <a:solidFill>
              <a:srgbClr val="E0E5EC"/>
            </a:solidFill>
          </a:ln>
          <a:effectLst>
            <a:outerShdw blurRad="50800" dist="38100" dir="2700000" rotWithShape="0">
              <a:srgbClr val="000000">
                <a:alpha val="8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accent_step_2"/>
          <p:cNvSpPr/>
          <p:nvPr/>
        </p:nvSpPr>
        <p:spPr>
          <a:xfrm>
            <a:off x="6246000" y="1980000"/>
            <a:ext cx="2331000" cy="1800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num_step_2"/>
          <p:cNvSpPr/>
          <p:nvPr/>
        </p:nvSpPr>
        <p:spPr>
          <a:xfrm>
            <a:off x="7159500" y="2268000"/>
            <a:ext cx="503999" cy="503999"/>
          </a:xfrm>
          <a:prstGeom prst="ellipse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2</a:t>
            </a:r>
          </a:p>
        </p:txBody>
      </p:sp>
      <p:sp>
        <p:nvSpPr>
          <p:cNvPr id="16" name="txt_step_2_label"/>
          <p:cNvSpPr txBox="1"/>
          <p:nvPr/>
        </p:nvSpPr>
        <p:spPr>
          <a:xfrm>
            <a:off x="6354000" y="2843999"/>
            <a:ext cx="2115000" cy="432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ctr" rtl="1"/>
            <a:r>
              <a:rPr sz="14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التنفيذ</a:t>
            </a:r>
          </a:p>
        </p:txBody>
      </p:sp>
      <p:sp>
        <p:nvSpPr>
          <p:cNvPr id="17" name="txt_step_2_desc"/>
          <p:cNvSpPr txBox="1"/>
          <p:nvPr/>
        </p:nvSpPr>
        <p:spPr>
          <a:xfrm>
            <a:off x="6354000" y="3275999"/>
            <a:ext cx="2115000" cy="468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ctr" rtl="1"/>
            <a:r>
              <a:rPr sz="1100" b="0" lang="ar-JO">
                <a:solidFill>
                  <a:srgbClr val="6B6B6B"/>
                </a:solidFill>
                <a:cs typeface="Tajawal"/>
                <a:latin typeface="Tajawal"/>
                <a:ea typeface="Tajawal"/>
              </a:rPr>
              <a:t>تطبيق الخطة</a:t>
            </a:r>
          </a:p>
        </p:txBody>
      </p:sp>
      <p:sp>
        <p:nvSpPr>
          <p:cNvPr id="18" name="arrow_2_3"/>
          <p:cNvSpPr/>
          <p:nvPr/>
        </p:nvSpPr>
        <p:spPr>
          <a:xfrm rot="10800000">
            <a:off x="5814000" y="2736000"/>
            <a:ext cx="432000" cy="288000"/>
          </a:xfrm>
          <a:prstGeom prst="notchedRightArrow">
            <a:avLst/>
          </a:prstGeom>
          <a:solidFill>
            <a:srgbClr val="4A7A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ard_step_3"/>
          <p:cNvSpPr/>
          <p:nvPr/>
        </p:nvSpPr>
        <p:spPr>
          <a:xfrm>
            <a:off x="3483000" y="1980000"/>
            <a:ext cx="2331000" cy="18000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12700">
            <a:solidFill>
              <a:srgbClr val="E0E5EC"/>
            </a:solidFill>
          </a:ln>
          <a:effectLst>
            <a:outerShdw blurRad="50800" dist="38100" dir="2700000" rotWithShape="0">
              <a:srgbClr val="000000">
                <a:alpha val="8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accent_step_3"/>
          <p:cNvSpPr/>
          <p:nvPr/>
        </p:nvSpPr>
        <p:spPr>
          <a:xfrm>
            <a:off x="3483000" y="1980000"/>
            <a:ext cx="2331000" cy="180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num_step_3"/>
          <p:cNvSpPr/>
          <p:nvPr/>
        </p:nvSpPr>
        <p:spPr>
          <a:xfrm>
            <a:off x="4396500" y="2268000"/>
            <a:ext cx="503999" cy="503999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3</a:t>
            </a:r>
          </a:p>
        </p:txBody>
      </p:sp>
      <p:sp>
        <p:nvSpPr>
          <p:cNvPr id="22" name="txt_step_3_label"/>
          <p:cNvSpPr txBox="1"/>
          <p:nvPr/>
        </p:nvSpPr>
        <p:spPr>
          <a:xfrm>
            <a:off x="3591000" y="2843999"/>
            <a:ext cx="2115000" cy="432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ctr" rtl="1"/>
            <a:r>
              <a:rPr sz="14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المراقبة</a:t>
            </a:r>
          </a:p>
        </p:txBody>
      </p:sp>
      <p:sp>
        <p:nvSpPr>
          <p:cNvPr id="23" name="txt_step_3_desc"/>
          <p:cNvSpPr txBox="1"/>
          <p:nvPr/>
        </p:nvSpPr>
        <p:spPr>
          <a:xfrm>
            <a:off x="3591000" y="3275999"/>
            <a:ext cx="2115000" cy="468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ctr" rtl="1"/>
            <a:r>
              <a:rPr sz="1100" b="0" lang="ar-JO">
                <a:solidFill>
                  <a:srgbClr val="6B6B6B"/>
                </a:solidFill>
                <a:cs typeface="Tajawal"/>
                <a:latin typeface="Tajawal"/>
                <a:ea typeface="Tajawal"/>
              </a:rPr>
              <a:t>متابعة التقدم</a:t>
            </a:r>
          </a:p>
        </p:txBody>
      </p:sp>
      <p:sp>
        <p:nvSpPr>
          <p:cNvPr id="24" name="arrow_3_4"/>
          <p:cNvSpPr/>
          <p:nvPr/>
        </p:nvSpPr>
        <p:spPr>
          <a:xfrm rot="10800000">
            <a:off x="3051000" y="2736000"/>
            <a:ext cx="432000" cy="288000"/>
          </a:xfrm>
          <a:prstGeom prst="notchedRightArrow">
            <a:avLst/>
          </a:prstGeom>
          <a:solidFill>
            <a:srgbClr val="4A7A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ard_step_4"/>
          <p:cNvSpPr/>
          <p:nvPr/>
        </p:nvSpPr>
        <p:spPr>
          <a:xfrm>
            <a:off x="720000" y="1980000"/>
            <a:ext cx="2331000" cy="18000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12700">
            <a:solidFill>
              <a:srgbClr val="E0E5EC"/>
            </a:solidFill>
          </a:ln>
          <a:effectLst>
            <a:outerShdw blurRad="50800" dist="38100" dir="2700000" rotWithShape="0">
              <a:srgbClr val="000000">
                <a:alpha val="8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accent_step_4"/>
          <p:cNvSpPr/>
          <p:nvPr/>
        </p:nvSpPr>
        <p:spPr>
          <a:xfrm>
            <a:off x="720000" y="1980000"/>
            <a:ext cx="2331000" cy="1800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num_step_4"/>
          <p:cNvSpPr/>
          <p:nvPr/>
        </p:nvSpPr>
        <p:spPr>
          <a:xfrm>
            <a:off x="1633500" y="2268000"/>
            <a:ext cx="503999" cy="503999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4</a:t>
            </a:r>
          </a:p>
        </p:txBody>
      </p:sp>
      <p:sp>
        <p:nvSpPr>
          <p:cNvPr id="28" name="txt_step_4_label"/>
          <p:cNvSpPr txBox="1"/>
          <p:nvPr/>
        </p:nvSpPr>
        <p:spPr>
          <a:xfrm>
            <a:off x="828000" y="2843999"/>
            <a:ext cx="2115000" cy="432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ctr" rtl="1"/>
            <a:r>
              <a:rPr sz="14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الإغلاق</a:t>
            </a:r>
          </a:p>
        </p:txBody>
      </p:sp>
      <p:sp>
        <p:nvSpPr>
          <p:cNvPr id="29" name="txt_step_4_desc"/>
          <p:cNvSpPr txBox="1"/>
          <p:nvPr/>
        </p:nvSpPr>
        <p:spPr>
          <a:xfrm>
            <a:off x="828000" y="3275999"/>
            <a:ext cx="2115000" cy="468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ctr" rtl="1"/>
            <a:r>
              <a:rPr sz="1100" b="0" lang="ar-JO">
                <a:solidFill>
                  <a:srgbClr val="6B6B6B"/>
                </a:solidFill>
                <a:cs typeface="Tajawal"/>
                <a:latin typeface="Tajawal"/>
                <a:ea typeface="Tajawal"/>
              </a:rPr>
              <a:t>تقييم النتائج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نتائج الاستطلاع</a:t>
            </a:r>
          </a:p>
        </p:txBody>
      </p:sp>
      <p:sp>
        <p:nvSpPr>
          <p:cNvPr id="3" name="header_title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اختبار القواعد البصرية: 8 أنماط بصرية</a:t>
            </a:r>
          </a:p>
        </p:txBody>
      </p:sp>
      <p:pic>
        <p:nvPicPr>
          <p:cNvPr id="4" name="header_banner" descr="banner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4635" y="860142"/>
            <a:ext cx="4422731" cy="695099"/>
          </a:xfrm>
          <a:prstGeom prst="rect">
            <a:avLst/>
          </a:prstGeom>
        </p:spPr>
      </p:pic>
      <p:sp>
        <p:nvSpPr>
          <p:cNvPr id="5" name="header_banner_text"/>
          <p:cNvSpPr txBox="1"/>
          <p:nvPr/>
        </p:nvSpPr>
        <p:spPr>
          <a:xfrm>
            <a:off x="3818244" y="977750"/>
            <a:ext cx="4555512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0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نتائج الاستطلاع</a:t>
            </a:r>
          </a:p>
        </p:txBody>
      </p:sp>
      <p:sp>
        <p:nvSpPr>
          <p:cNvPr id="6" name="bg_depth_wash"/>
          <p:cNvSpPr/>
          <p:nvPr/>
        </p:nvSpPr>
        <p:spPr>
          <a:xfrm>
            <a:off x="6432000" y="-1080000"/>
            <a:ext cx="7200000" cy="5040000"/>
          </a:xfrm>
          <a:prstGeom prst="ellipse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ard_stat_1"/>
          <p:cNvSpPr/>
          <p:nvPr/>
        </p:nvSpPr>
        <p:spPr>
          <a:xfrm>
            <a:off x="900000" y="1980000"/>
            <a:ext cx="3180000" cy="306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5EC"/>
            </a:solidFill>
          </a:ln>
          <a:effectLst>
            <a:outerShdw blurRad="38100" dist="38100" dir="27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ccent_stat_1"/>
          <p:cNvSpPr/>
          <p:nvPr/>
        </p:nvSpPr>
        <p:spPr>
          <a:xfrm>
            <a:off x="900000" y="1980000"/>
            <a:ext cx="3180000" cy="180000"/>
          </a:xfrm>
          <a:prstGeom prst="rect">
            <a:avLst/>
          </a:prstGeom>
          <a:solidFill>
            <a:srgbClr val="4A7A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xt_stat_1_number"/>
          <p:cNvSpPr txBox="1"/>
          <p:nvPr/>
        </p:nvSpPr>
        <p:spPr>
          <a:xfrm>
            <a:off x="1080000" y="2448000"/>
            <a:ext cx="2820000" cy="900000"/>
          </a:xfrm>
          <a:prstGeom prst="rect">
            <a:avLst/>
          </a:prstGeom>
          <a:noFill/>
        </p:spPr>
        <p:txBody>
          <a:bodyPr wrap="none" lIns="90000" rIns="90000" tIns="46800" bIns="46800">
            <a:noAutofit/>
          </a:bodyPr>
          <a:lstStyle/>
          <a:p>
            <a:pPr algn="ctr" rtl="1">
              <a:lnSpc>
                <a:spcPct val="110000"/>
              </a:lnSpc>
            </a:pPr>
            <a:r>
              <a:rPr sz="4800" b="0" lang="ar-JO">
                <a:solidFill>
                  <a:srgbClr val="4A7AAE"/>
                </a:solidFill>
                <a:cs typeface="Tajawal ExtraBold"/>
                <a:latin typeface="Tajawal ExtraBold"/>
                <a:ea typeface="Tajawal ExtraBold"/>
              </a:rPr>
              <a:t>92%</a:t>
            </a:r>
          </a:p>
        </p:txBody>
      </p:sp>
      <p:sp>
        <p:nvSpPr>
          <p:cNvPr id="10" name="icon_trend_1"/>
          <p:cNvSpPr txBox="1"/>
          <p:nvPr/>
        </p:nvSpPr>
        <p:spPr>
          <a:xfrm>
            <a:off x="1080000" y="3348000"/>
            <a:ext cx="2820000" cy="360000"/>
          </a:xfrm>
          <a:prstGeom prst="rect">
            <a:avLst/>
          </a:prstGeom>
          <a:noFill/>
        </p:spPr>
        <p:txBody>
          <a:bodyPr wrap="none" lIns="90000" rIns="90000" tIns="46800" bIns="46800">
            <a:noAutofit/>
          </a:bodyPr>
          <a:lstStyle/>
          <a:p>
            <a:pPr algn="ctr" rtl="1">
              <a:lnSpc>
                <a:spcPct val="130000"/>
              </a:lnSpc>
            </a:pPr>
            <a:r>
              <a:rPr sz="2400" b="0" lang="ar-JO">
                <a:solidFill>
                  <a:srgbClr val="4CAF50"/>
                </a:solidFill>
                <a:cs typeface="Tajawal ExtraBold"/>
                <a:latin typeface="Tajawal ExtraBold"/>
                <a:ea typeface="Tajawal ExtraBold"/>
              </a:rPr>
              <a:t>↑</a:t>
            </a:r>
          </a:p>
        </p:txBody>
      </p:sp>
      <p:sp>
        <p:nvSpPr>
          <p:cNvPr id="11" name="txt_stat_1_label"/>
          <p:cNvSpPr txBox="1"/>
          <p:nvPr/>
        </p:nvSpPr>
        <p:spPr>
          <a:xfrm>
            <a:off x="1008000" y="3780000"/>
            <a:ext cx="2964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ctr" rtl="1"/>
            <a:r>
              <a:rPr sz="1600" b="0" lang="ar-JO">
                <a:solidFill>
                  <a:srgbClr val="333333"/>
                </a:solidFill>
                <a:cs typeface="Tajawal Medium"/>
                <a:latin typeface="Tajawal Medium"/>
                <a:ea typeface="Tajawal Medium"/>
              </a:rPr>
              <a:t>رضا المتعلمين</a:t>
            </a:r>
          </a:p>
        </p:txBody>
      </p:sp>
      <p:sp>
        <p:nvSpPr>
          <p:cNvPr id="12" name="card_stat_2"/>
          <p:cNvSpPr/>
          <p:nvPr/>
        </p:nvSpPr>
        <p:spPr>
          <a:xfrm>
            <a:off x="4440000" y="1980000"/>
            <a:ext cx="3180000" cy="306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5EC"/>
            </a:solidFill>
          </a:ln>
          <a:effectLst>
            <a:outerShdw blurRad="38100" dist="38100" dir="27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accent_stat_2"/>
          <p:cNvSpPr/>
          <p:nvPr/>
        </p:nvSpPr>
        <p:spPr>
          <a:xfrm>
            <a:off x="4440000" y="1980000"/>
            <a:ext cx="3180000" cy="180000"/>
          </a:xfrm>
          <a:prstGeom prst="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xt_stat_2_number"/>
          <p:cNvSpPr txBox="1"/>
          <p:nvPr/>
        </p:nvSpPr>
        <p:spPr>
          <a:xfrm>
            <a:off x="4620000" y="2448000"/>
            <a:ext cx="2820000" cy="900000"/>
          </a:xfrm>
          <a:prstGeom prst="rect">
            <a:avLst/>
          </a:prstGeom>
          <a:noFill/>
        </p:spPr>
        <p:txBody>
          <a:bodyPr wrap="none" lIns="90000" rIns="90000" tIns="46800" bIns="46800">
            <a:noAutofit/>
          </a:bodyPr>
          <a:lstStyle/>
          <a:p>
            <a:pPr algn="ctr" rtl="1">
              <a:lnSpc>
                <a:spcPct val="110000"/>
              </a:lnSpc>
            </a:pPr>
            <a:r>
              <a:rPr sz="48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4.7</a:t>
            </a:r>
          </a:p>
        </p:txBody>
      </p:sp>
      <p:sp>
        <p:nvSpPr>
          <p:cNvPr id="15" name="icon_trend_2"/>
          <p:cNvSpPr txBox="1"/>
          <p:nvPr/>
        </p:nvSpPr>
        <p:spPr>
          <a:xfrm>
            <a:off x="4620000" y="3348000"/>
            <a:ext cx="2820000" cy="360000"/>
          </a:xfrm>
          <a:prstGeom prst="rect">
            <a:avLst/>
          </a:prstGeom>
          <a:noFill/>
        </p:spPr>
        <p:txBody>
          <a:bodyPr wrap="none" lIns="90000" rIns="90000" tIns="46800" bIns="46800">
            <a:noAutofit/>
          </a:bodyPr>
          <a:lstStyle/>
          <a:p>
            <a:pPr algn="ctr" rtl="1">
              <a:lnSpc>
                <a:spcPct val="130000"/>
              </a:lnSpc>
            </a:pPr>
            <a:r>
              <a:rPr sz="2400" b="0" lang="ar-JO">
                <a:solidFill>
                  <a:srgbClr val="4CAF50"/>
                </a:solidFill>
                <a:cs typeface="Tajawal ExtraBold"/>
                <a:latin typeface="Tajawal ExtraBold"/>
                <a:ea typeface="Tajawal ExtraBold"/>
              </a:rPr>
              <a:t>↑</a:t>
            </a:r>
          </a:p>
        </p:txBody>
      </p:sp>
      <p:sp>
        <p:nvSpPr>
          <p:cNvPr id="16" name="txt_stat_2_label"/>
          <p:cNvSpPr txBox="1"/>
          <p:nvPr/>
        </p:nvSpPr>
        <p:spPr>
          <a:xfrm>
            <a:off x="4548000" y="3780000"/>
            <a:ext cx="2964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ctr" rtl="1"/>
            <a:r>
              <a:rPr sz="1600" b="0" lang="ar-JO">
                <a:solidFill>
                  <a:srgbClr val="333333"/>
                </a:solidFill>
                <a:cs typeface="Tajawal Medium"/>
                <a:latin typeface="Tajawal Medium"/>
                <a:ea typeface="Tajawal Medium"/>
              </a:rPr>
              <a:t>متوسط التقييم</a:t>
            </a:r>
          </a:p>
        </p:txBody>
      </p:sp>
      <p:sp>
        <p:nvSpPr>
          <p:cNvPr id="17" name="card_stat_3"/>
          <p:cNvSpPr/>
          <p:nvPr/>
        </p:nvSpPr>
        <p:spPr>
          <a:xfrm>
            <a:off x="7980000" y="1980000"/>
            <a:ext cx="3180000" cy="306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5EC"/>
            </a:solidFill>
          </a:ln>
          <a:effectLst>
            <a:outerShdw blurRad="38100" dist="38100" dir="27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accent_stat_3"/>
          <p:cNvSpPr/>
          <p:nvPr/>
        </p:nvSpPr>
        <p:spPr>
          <a:xfrm>
            <a:off x="7980000" y="1980000"/>
            <a:ext cx="3180000" cy="1800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xt_stat_3_number"/>
          <p:cNvSpPr txBox="1"/>
          <p:nvPr/>
        </p:nvSpPr>
        <p:spPr>
          <a:xfrm>
            <a:off x="8160000" y="2448000"/>
            <a:ext cx="2820000" cy="900000"/>
          </a:xfrm>
          <a:prstGeom prst="rect">
            <a:avLst/>
          </a:prstGeom>
          <a:noFill/>
        </p:spPr>
        <p:txBody>
          <a:bodyPr wrap="none" lIns="90000" rIns="90000" tIns="46800" bIns="46800">
            <a:noAutofit/>
          </a:bodyPr>
          <a:lstStyle/>
          <a:p>
            <a:pPr algn="ctr" rtl="1">
              <a:lnSpc>
                <a:spcPct val="110000"/>
              </a:lnSpc>
            </a:pPr>
            <a:r>
              <a:rPr sz="4800" b="0" lang="ar-JO">
                <a:solidFill>
                  <a:srgbClr val="156082"/>
                </a:solidFill>
                <a:cs typeface="Tajawal ExtraBold"/>
                <a:latin typeface="Tajawal ExtraBold"/>
                <a:ea typeface="Tajawal ExtraBold"/>
              </a:rPr>
              <a:t>15</a:t>
            </a:r>
          </a:p>
        </p:txBody>
      </p:sp>
      <p:sp>
        <p:nvSpPr>
          <p:cNvPr id="20" name="icon_trend_3"/>
          <p:cNvSpPr txBox="1"/>
          <p:nvPr/>
        </p:nvSpPr>
        <p:spPr>
          <a:xfrm>
            <a:off x="8160000" y="3348000"/>
            <a:ext cx="2820000" cy="360000"/>
          </a:xfrm>
          <a:prstGeom prst="rect">
            <a:avLst/>
          </a:prstGeom>
          <a:noFill/>
        </p:spPr>
        <p:txBody>
          <a:bodyPr wrap="none" lIns="90000" rIns="90000" tIns="46800" bIns="46800">
            <a:noAutofit/>
          </a:bodyPr>
          <a:lstStyle/>
          <a:p>
            <a:pPr algn="ctr" rtl="1">
              <a:lnSpc>
                <a:spcPct val="130000"/>
              </a:lnSpc>
            </a:pPr>
            <a:r>
              <a:rPr sz="2400" b="0" lang="ar-JO">
                <a:solidFill>
                  <a:srgbClr val="F44336"/>
                </a:solidFill>
                <a:cs typeface="Tajawal ExtraBold"/>
                <a:latin typeface="Tajawal ExtraBold"/>
                <a:ea typeface="Tajawal ExtraBold"/>
              </a:rPr>
              <a:t>↓</a:t>
            </a:r>
          </a:p>
        </p:txBody>
      </p:sp>
      <p:sp>
        <p:nvSpPr>
          <p:cNvPr id="21" name="txt_stat_3_label"/>
          <p:cNvSpPr txBox="1"/>
          <p:nvPr/>
        </p:nvSpPr>
        <p:spPr>
          <a:xfrm>
            <a:off x="8088000" y="3780000"/>
            <a:ext cx="2964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ctr" rtl="1"/>
            <a:r>
              <a:rPr sz="1600" b="0" lang="ar-JO">
                <a:solidFill>
                  <a:srgbClr val="333333"/>
                </a:solidFill>
                <a:cs typeface="Tajawal Medium"/>
                <a:latin typeface="Tajawal Medium"/>
                <a:ea typeface="Tajawal Medium"/>
              </a:rPr>
              <a:t>دقيقة متوسط الإكمال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رؤية ملهمة</a:t>
            </a:r>
          </a:p>
        </p:txBody>
      </p:sp>
      <p:sp>
        <p:nvSpPr>
          <p:cNvPr id="3" name="header_title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اختبار القواعد البصرية: 8 أنماط بصرية</a:t>
            </a:r>
          </a:p>
        </p:txBody>
      </p:sp>
      <p:pic>
        <p:nvPicPr>
          <p:cNvPr id="4" name="header_banner" descr="banner_nar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0969" y="898751"/>
            <a:ext cx="2610062" cy="695099"/>
          </a:xfrm>
          <a:prstGeom prst="rect">
            <a:avLst/>
          </a:prstGeom>
        </p:spPr>
      </p:pic>
      <p:sp>
        <p:nvSpPr>
          <p:cNvPr id="5" name="header_banner_text"/>
          <p:cNvSpPr txBox="1"/>
          <p:nvPr/>
        </p:nvSpPr>
        <p:spPr>
          <a:xfrm>
            <a:off x="4947367" y="1035917"/>
            <a:ext cx="2297266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رؤية ملهمة</a:t>
            </a:r>
          </a:p>
        </p:txBody>
      </p:sp>
      <p:sp>
        <p:nvSpPr>
          <p:cNvPr id="6" name="bg_depth_wash"/>
          <p:cNvSpPr/>
          <p:nvPr/>
        </p:nvSpPr>
        <p:spPr>
          <a:xfrm>
            <a:off x="2856000" y="1269000"/>
            <a:ext cx="6480000" cy="4320000"/>
          </a:xfrm>
          <a:prstGeom prst="ellipse">
            <a:avLst/>
          </a:prstGeom>
          <a:solidFill>
            <a:srgbClr val="F5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eco_quote_mark_right"/>
          <p:cNvSpPr txBox="1"/>
          <p:nvPr/>
        </p:nvSpPr>
        <p:spPr>
          <a:xfrm>
            <a:off x="7200000" y="1620000"/>
            <a:ext cx="2160000" cy="1440000"/>
          </a:xfrm>
          <a:prstGeom prst="rect">
            <a:avLst/>
          </a:prstGeom>
          <a:noFill/>
        </p:spPr>
        <p:txBody>
          <a:bodyPr wrap="none" lIns="90000" rIns="90000" tIns="46800" bIns="46800">
            <a:noAutofit/>
          </a:bodyPr>
          <a:lstStyle/>
          <a:p>
            <a:pPr algn="ctr" rtl="1">
              <a:lnSpc>
                <a:spcPct val="130000"/>
              </a:lnSpc>
            </a:pPr>
            <a:r>
              <a:rPr sz="12000" b="0" lang="ar-JO">
                <a:solidFill>
                  <a:srgbClr val="E0E8F0"/>
                </a:solidFill>
                <a:cs typeface="Tajawal ExtraBold"/>
                <a:latin typeface="Tajawal ExtraBold"/>
                <a:ea typeface="Tajawal ExtraBold"/>
              </a:rPr>
              <a:t>»</a:t>
            </a:r>
          </a:p>
        </p:txBody>
      </p:sp>
      <p:sp>
        <p:nvSpPr>
          <p:cNvPr id="8" name="deco_quote_mark_left"/>
          <p:cNvSpPr txBox="1"/>
          <p:nvPr/>
        </p:nvSpPr>
        <p:spPr>
          <a:xfrm>
            <a:off x="2520000" y="3240000"/>
            <a:ext cx="2160000" cy="1440000"/>
          </a:xfrm>
          <a:prstGeom prst="rect">
            <a:avLst/>
          </a:prstGeom>
          <a:noFill/>
        </p:spPr>
        <p:txBody>
          <a:bodyPr wrap="none" lIns="90000" rIns="90000" tIns="46800" bIns="46800">
            <a:noAutofit/>
          </a:bodyPr>
          <a:lstStyle/>
          <a:p>
            <a:pPr algn="ctr" rtl="1">
              <a:lnSpc>
                <a:spcPct val="130000"/>
              </a:lnSpc>
            </a:pPr>
            <a:r>
              <a:rPr sz="12000" b="0" lang="ar-JO">
                <a:solidFill>
                  <a:srgbClr val="E0E8F0"/>
                </a:solidFill>
                <a:cs typeface="Tajawal ExtraBold"/>
                <a:latin typeface="Tajawal ExtraBold"/>
                <a:ea typeface="Tajawal ExtraBold"/>
              </a:rPr>
              <a:t>«</a:t>
            </a:r>
          </a:p>
        </p:txBody>
      </p:sp>
      <p:sp>
        <p:nvSpPr>
          <p:cNvPr id="9" name="txt_quote"/>
          <p:cNvSpPr txBox="1"/>
          <p:nvPr/>
        </p:nvSpPr>
        <p:spPr>
          <a:xfrm>
            <a:off x="2136000" y="2160000"/>
            <a:ext cx="7920000" cy="180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ctr" rtl="1">
              <a:lnSpc>
                <a:spcPct val="150000"/>
              </a:lnSpc>
            </a:pPr>
            <a:r>
              <a:rPr sz="2600" b="0" lang="ar-JO">
                <a:solidFill>
                  <a:srgbClr val="1E3D63"/>
                </a:solidFill>
                <a:cs typeface="Tajawal Medium"/>
                <a:latin typeface="Tajawal Medium"/>
                <a:ea typeface="Tajawal Medium"/>
              </a:rPr>
              <a:t>التعليم هو السلاح الأقوى الذي يمكنك استخدامه لتغيير العالم</a:t>
            </a:r>
          </a:p>
        </p:txBody>
      </p:sp>
      <p:sp>
        <p:nvSpPr>
          <p:cNvPr id="10" name="txt_attribution"/>
          <p:cNvSpPr txBox="1"/>
          <p:nvPr/>
        </p:nvSpPr>
        <p:spPr>
          <a:xfrm>
            <a:off x="2136000" y="4140000"/>
            <a:ext cx="7920000" cy="540000"/>
          </a:xfrm>
          <a:prstGeom prst="rect">
            <a:avLst/>
          </a:prstGeom>
          <a:noFill/>
        </p:spPr>
        <p:txBody>
          <a:bodyPr wrap="none" lIns="90000" rIns="90000" tIns="46800" bIns="46800">
            <a:noAutofit/>
          </a:bodyPr>
          <a:lstStyle/>
          <a:p>
            <a:pPr algn="ctr" rtl="1"/>
            <a:r>
              <a:rPr sz="1400" b="0" lang="ar-JO">
                <a:solidFill>
                  <a:srgbClr val="6B6B6B"/>
                </a:solidFill>
                <a:cs typeface="Tajawal"/>
                <a:latin typeface="Tajawal"/>
                <a:ea typeface="Tajawal"/>
              </a:rPr>
              <a:t>— نيلسون مانديلا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تطور الذكاء الاصطناعي</a:t>
            </a:r>
          </a:p>
        </p:txBody>
      </p:sp>
      <p:sp>
        <p:nvSpPr>
          <p:cNvPr id="3" name="header_title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اختبار القواعد البصرية: 8 أنماط بصرية</a:t>
            </a:r>
          </a:p>
        </p:txBody>
      </p:sp>
      <p:pic>
        <p:nvPicPr>
          <p:cNvPr id="4" name="header_banner" descr="banner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4635" y="860142"/>
            <a:ext cx="4422731" cy="695099"/>
          </a:xfrm>
          <a:prstGeom prst="rect">
            <a:avLst/>
          </a:prstGeom>
        </p:spPr>
      </p:pic>
      <p:sp>
        <p:nvSpPr>
          <p:cNvPr id="5" name="header_banner_text"/>
          <p:cNvSpPr txBox="1"/>
          <p:nvPr/>
        </p:nvSpPr>
        <p:spPr>
          <a:xfrm>
            <a:off x="3818244" y="977750"/>
            <a:ext cx="4555512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0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تطور الذكاء الاصطناعي</a:t>
            </a:r>
          </a:p>
        </p:txBody>
      </p:sp>
      <p:sp>
        <p:nvSpPr>
          <p:cNvPr id="6" name="bg_depth_wash"/>
          <p:cNvSpPr/>
          <p:nvPr/>
        </p:nvSpPr>
        <p:spPr>
          <a:xfrm>
            <a:off x="6432000" y="-1080000"/>
            <a:ext cx="7200000" cy="5040000"/>
          </a:xfrm>
          <a:prstGeom prst="ellipse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ine_timeline"/>
          <p:cNvSpPr/>
          <p:nvPr/>
        </p:nvSpPr>
        <p:spPr>
          <a:xfrm>
            <a:off x="1080000" y="3420000"/>
            <a:ext cx="9900000" cy="54000"/>
          </a:xfrm>
          <a:prstGeom prst="rect">
            <a:avLst/>
          </a:prstGeom>
          <a:solidFill>
            <a:srgbClr val="4A7A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ot_milestone_1"/>
          <p:cNvSpPr/>
          <p:nvPr/>
        </p:nvSpPr>
        <p:spPr>
          <a:xfrm>
            <a:off x="8325000" y="3267000"/>
            <a:ext cx="360000" cy="36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xt_milestone_1_date"/>
          <p:cNvSpPr txBox="1"/>
          <p:nvPr/>
        </p:nvSpPr>
        <p:spPr>
          <a:xfrm>
            <a:off x="7425000" y="1440000"/>
            <a:ext cx="2160000" cy="432000"/>
          </a:xfrm>
          <a:prstGeom prst="rect">
            <a:avLst/>
          </a:prstGeom>
          <a:noFill/>
        </p:spPr>
        <p:txBody>
          <a:bodyPr wrap="none" lIns="90000" rIns="90000" tIns="46800" bIns="46800">
            <a:noAutofit/>
          </a:bodyPr>
          <a:lstStyle/>
          <a:p>
            <a:pPr algn="ctr" rtl="1"/>
            <a:r>
              <a:rPr sz="14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1956</a:t>
            </a:r>
          </a:p>
        </p:txBody>
      </p:sp>
      <p:sp>
        <p:nvSpPr>
          <p:cNvPr id="10" name="txt_milestone_1_title"/>
          <p:cNvSpPr txBox="1"/>
          <p:nvPr/>
        </p:nvSpPr>
        <p:spPr>
          <a:xfrm>
            <a:off x="7425000" y="1980000"/>
            <a:ext cx="2160000" cy="432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ctr" rtl="1"/>
            <a:r>
              <a:rPr sz="1300" b="0" lang="ar-JO">
                <a:solidFill>
                  <a:srgbClr val="333333"/>
                </a:solidFill>
                <a:cs typeface="Tajawal Medium"/>
                <a:latin typeface="Tajawal Medium"/>
                <a:ea typeface="Tajawal Medium"/>
              </a:rPr>
              <a:t>مؤتمر دارتموث</a:t>
            </a:r>
          </a:p>
        </p:txBody>
      </p:sp>
      <p:sp>
        <p:nvSpPr>
          <p:cNvPr id="11" name="txt_milestone_1_desc"/>
          <p:cNvSpPr txBox="1"/>
          <p:nvPr/>
        </p:nvSpPr>
        <p:spPr>
          <a:xfrm>
            <a:off x="7425000" y="2520000"/>
            <a:ext cx="2160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ctr" rtl="1"/>
            <a:r>
              <a:rPr sz="1100" b="0" lang="ar-JO">
                <a:solidFill>
                  <a:srgbClr val="6B6B6B"/>
                </a:solidFill>
                <a:cs typeface="Tajawal"/>
                <a:latin typeface="Tajawal"/>
                <a:ea typeface="Tajawal"/>
              </a:rPr>
              <a:t>ولادة المصطلح</a:t>
            </a:r>
          </a:p>
        </p:txBody>
      </p:sp>
      <p:sp>
        <p:nvSpPr>
          <p:cNvPr id="12" name="dot_milestone_2"/>
          <p:cNvSpPr/>
          <p:nvPr/>
        </p:nvSpPr>
        <p:spPr>
          <a:xfrm>
            <a:off x="5850000" y="3267000"/>
            <a:ext cx="360000" cy="36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xt_milestone_2_date"/>
          <p:cNvSpPr txBox="1"/>
          <p:nvPr/>
        </p:nvSpPr>
        <p:spPr>
          <a:xfrm>
            <a:off x="4950000" y="3960000"/>
            <a:ext cx="2160000" cy="432000"/>
          </a:xfrm>
          <a:prstGeom prst="rect">
            <a:avLst/>
          </a:prstGeom>
          <a:noFill/>
        </p:spPr>
        <p:txBody>
          <a:bodyPr wrap="none" lIns="90000" rIns="90000" tIns="46800" bIns="46800">
            <a:noAutofit/>
          </a:bodyPr>
          <a:lstStyle/>
          <a:p>
            <a:pPr algn="ctr" rtl="1"/>
            <a:r>
              <a:rPr sz="14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1997</a:t>
            </a:r>
          </a:p>
        </p:txBody>
      </p:sp>
      <p:sp>
        <p:nvSpPr>
          <p:cNvPr id="14" name="txt_milestone_2_title"/>
          <p:cNvSpPr txBox="1"/>
          <p:nvPr/>
        </p:nvSpPr>
        <p:spPr>
          <a:xfrm>
            <a:off x="4950000" y="4500000"/>
            <a:ext cx="2160000" cy="432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ctr" rtl="1"/>
            <a:r>
              <a:rPr sz="1300" b="0" lang="ar-JO">
                <a:solidFill>
                  <a:srgbClr val="333333"/>
                </a:solidFill>
                <a:cs typeface="Tajawal Medium"/>
                <a:latin typeface="Tajawal Medium"/>
                <a:ea typeface="Tajawal Medium"/>
              </a:rPr>
              <a:t>ديب بلو</a:t>
            </a:r>
          </a:p>
        </p:txBody>
      </p:sp>
      <p:sp>
        <p:nvSpPr>
          <p:cNvPr id="15" name="txt_milestone_2_desc"/>
          <p:cNvSpPr txBox="1"/>
          <p:nvPr/>
        </p:nvSpPr>
        <p:spPr>
          <a:xfrm>
            <a:off x="4950000" y="5040000"/>
            <a:ext cx="2160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ctr" rtl="1"/>
            <a:r>
              <a:rPr sz="1100" b="0" lang="ar-JO">
                <a:solidFill>
                  <a:srgbClr val="6B6B6B"/>
                </a:solidFill>
                <a:cs typeface="Tajawal"/>
                <a:latin typeface="Tajawal"/>
                <a:ea typeface="Tajawal"/>
              </a:rPr>
              <a:t>هزيمة بطل الشطرنج</a:t>
            </a:r>
          </a:p>
        </p:txBody>
      </p:sp>
      <p:sp>
        <p:nvSpPr>
          <p:cNvPr id="16" name="dot_milestone_3"/>
          <p:cNvSpPr/>
          <p:nvPr/>
        </p:nvSpPr>
        <p:spPr>
          <a:xfrm>
            <a:off x="3303001" y="3195001"/>
            <a:ext cx="503999" cy="503999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xt_milestone_3_date"/>
          <p:cNvSpPr txBox="1"/>
          <p:nvPr/>
        </p:nvSpPr>
        <p:spPr>
          <a:xfrm>
            <a:off x="2475000" y="1440000"/>
            <a:ext cx="2160000" cy="432000"/>
          </a:xfrm>
          <a:prstGeom prst="rect">
            <a:avLst/>
          </a:prstGeom>
          <a:noFill/>
        </p:spPr>
        <p:txBody>
          <a:bodyPr wrap="none" lIns="90000" rIns="90000" tIns="46800" bIns="46800">
            <a:noAutofit/>
          </a:bodyPr>
          <a:lstStyle/>
          <a:p>
            <a:pPr algn="ctr" rtl="1"/>
            <a:r>
              <a:rPr sz="14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2024</a:t>
            </a:r>
          </a:p>
        </p:txBody>
      </p:sp>
      <p:sp>
        <p:nvSpPr>
          <p:cNvPr id="18" name="txt_milestone_3_title"/>
          <p:cNvSpPr txBox="1"/>
          <p:nvPr/>
        </p:nvSpPr>
        <p:spPr>
          <a:xfrm>
            <a:off x="2475000" y="1980000"/>
            <a:ext cx="2160000" cy="432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ctr" rtl="1"/>
            <a:r>
              <a:rPr sz="1300" b="0" lang="ar-JO">
                <a:solidFill>
                  <a:srgbClr val="333333"/>
                </a:solidFill>
                <a:cs typeface="Tajawal Medium"/>
                <a:latin typeface="Tajawal Medium"/>
                <a:ea typeface="Tajawal Medium"/>
              </a:rPr>
              <a:t>النماذج اللغوية</a:t>
            </a:r>
          </a:p>
        </p:txBody>
      </p:sp>
      <p:sp>
        <p:nvSpPr>
          <p:cNvPr id="19" name="txt_milestone_3_desc"/>
          <p:cNvSpPr txBox="1"/>
          <p:nvPr/>
        </p:nvSpPr>
        <p:spPr>
          <a:xfrm>
            <a:off x="2475000" y="2520000"/>
            <a:ext cx="2160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ctr" rtl="1"/>
            <a:r>
              <a:rPr sz="1100" b="0" lang="ar-JO">
                <a:solidFill>
                  <a:srgbClr val="6B6B6B"/>
                </a:solidFill>
                <a:cs typeface="Tajawal"/>
                <a:latin typeface="Tajawal"/>
                <a:ea typeface="Tajawal"/>
              </a:rPr>
              <a:t>ثورة الذكاء التوليدي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التعلم التقليدي مقابل الإلكتروني</a:t>
            </a:r>
          </a:p>
        </p:txBody>
      </p:sp>
      <p:sp>
        <p:nvSpPr>
          <p:cNvPr id="3" name="header_title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اختبار القواعد البصرية: 8 أنماط بصرية</a:t>
            </a:r>
          </a:p>
        </p:txBody>
      </p:sp>
      <p:pic>
        <p:nvPicPr>
          <p:cNvPr id="4" name="header_banner" descr="banner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4635" y="860142"/>
            <a:ext cx="4422731" cy="695099"/>
          </a:xfrm>
          <a:prstGeom prst="rect">
            <a:avLst/>
          </a:prstGeom>
        </p:spPr>
      </p:pic>
      <p:sp>
        <p:nvSpPr>
          <p:cNvPr id="5" name="header_banner_text"/>
          <p:cNvSpPr txBox="1"/>
          <p:nvPr/>
        </p:nvSpPr>
        <p:spPr>
          <a:xfrm>
            <a:off x="3818244" y="977750"/>
            <a:ext cx="4555512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0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التعلم التقليدي مقابل الإلكتروني</a:t>
            </a:r>
          </a:p>
        </p:txBody>
      </p:sp>
      <p:sp>
        <p:nvSpPr>
          <p:cNvPr id="6" name="bg_depth_wash"/>
          <p:cNvSpPr/>
          <p:nvPr/>
        </p:nvSpPr>
        <p:spPr>
          <a:xfrm>
            <a:off x="6432000" y="-1080000"/>
            <a:ext cx="7200000" cy="5040000"/>
          </a:xfrm>
          <a:prstGeom prst="ellipse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ard_col_1"/>
          <p:cNvSpPr/>
          <p:nvPr/>
        </p:nvSpPr>
        <p:spPr>
          <a:xfrm>
            <a:off x="6210000" y="1800000"/>
            <a:ext cx="4950000" cy="396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5EC"/>
            </a:solidFill>
          </a:ln>
          <a:effectLst>
            <a:outerShdw blurRad="38100" dist="38100" dir="27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ccent_col_1"/>
          <p:cNvSpPr/>
          <p:nvPr/>
        </p:nvSpPr>
        <p:spPr>
          <a:xfrm>
            <a:off x="6210000" y="1800000"/>
            <a:ext cx="4950000" cy="144000"/>
          </a:xfrm>
          <a:prstGeom prst="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g_col_1_header"/>
          <p:cNvSpPr/>
          <p:nvPr/>
        </p:nvSpPr>
        <p:spPr>
          <a:xfrm>
            <a:off x="6210000" y="1944000"/>
            <a:ext cx="4950000" cy="576000"/>
          </a:xfrm>
          <a:prstGeom prst="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xt_col_1_title"/>
          <p:cNvSpPr txBox="1"/>
          <p:nvPr/>
        </p:nvSpPr>
        <p:spPr>
          <a:xfrm>
            <a:off x="6390000" y="1944000"/>
            <a:ext cx="4590000" cy="576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التعلم التقليدي</a:t>
            </a:r>
          </a:p>
        </p:txBody>
      </p:sp>
      <p:sp>
        <p:nvSpPr>
          <p:cNvPr id="11" name="txt_col_1_body"/>
          <p:cNvSpPr txBox="1"/>
          <p:nvPr/>
        </p:nvSpPr>
        <p:spPr>
          <a:xfrm>
            <a:off x="6318000" y="2628000"/>
            <a:ext cx="4734000" cy="306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16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حضوري</a:t>
            </a:r>
          </a:p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16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وقت محدد</a:t>
            </a:r>
          </a:p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16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تفاعل مباشر</a:t>
            </a:r>
          </a:p>
        </p:txBody>
      </p:sp>
      <p:sp>
        <p:nvSpPr>
          <p:cNvPr id="12" name="card_col_2"/>
          <p:cNvSpPr/>
          <p:nvPr/>
        </p:nvSpPr>
        <p:spPr>
          <a:xfrm>
            <a:off x="900000" y="1800000"/>
            <a:ext cx="4950000" cy="396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5EC"/>
            </a:solidFill>
          </a:ln>
          <a:effectLst>
            <a:outerShdw blurRad="76200" dist="38100" dir="2700000" rotWithShape="0">
              <a:srgbClr val="000000">
                <a:alpha val="8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accent_col_2"/>
          <p:cNvSpPr/>
          <p:nvPr/>
        </p:nvSpPr>
        <p:spPr>
          <a:xfrm>
            <a:off x="900000" y="1800000"/>
            <a:ext cx="4950000" cy="144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g_col_2_header"/>
          <p:cNvSpPr/>
          <p:nvPr/>
        </p:nvSpPr>
        <p:spPr>
          <a:xfrm>
            <a:off x="900000" y="1944000"/>
            <a:ext cx="4950000" cy="576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xt_col_2_title"/>
          <p:cNvSpPr txBox="1"/>
          <p:nvPr/>
        </p:nvSpPr>
        <p:spPr>
          <a:xfrm>
            <a:off x="1080000" y="1944000"/>
            <a:ext cx="4590000" cy="576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التعلم الإلكتروني</a:t>
            </a:r>
          </a:p>
        </p:txBody>
      </p:sp>
      <p:sp>
        <p:nvSpPr>
          <p:cNvPr id="16" name="txt_col_2_body"/>
          <p:cNvSpPr txBox="1"/>
          <p:nvPr/>
        </p:nvSpPr>
        <p:spPr>
          <a:xfrm>
            <a:off x="1008000" y="2628000"/>
            <a:ext cx="4734000" cy="306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16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عن بُعد</a:t>
            </a:r>
          </a:p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16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مرن</a:t>
            </a:r>
          </a:p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16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تفاعل رقمي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مهارات القرن 21</a:t>
            </a:r>
          </a:p>
        </p:txBody>
      </p:sp>
      <p:sp>
        <p:nvSpPr>
          <p:cNvPr id="3" name="header_title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اختبار القواعد البصرية: 8 أنماط بصرية</a:t>
            </a:r>
          </a:p>
        </p:txBody>
      </p:sp>
      <p:pic>
        <p:nvPicPr>
          <p:cNvPr id="4" name="header_banner" descr="banner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4635" y="860142"/>
            <a:ext cx="4422731" cy="695099"/>
          </a:xfrm>
          <a:prstGeom prst="rect">
            <a:avLst/>
          </a:prstGeom>
        </p:spPr>
      </p:pic>
      <p:sp>
        <p:nvSpPr>
          <p:cNvPr id="5" name="header_banner_text"/>
          <p:cNvSpPr txBox="1"/>
          <p:nvPr/>
        </p:nvSpPr>
        <p:spPr>
          <a:xfrm>
            <a:off x="3818244" y="977750"/>
            <a:ext cx="4555512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0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مهارات القرن 21</a:t>
            </a:r>
          </a:p>
        </p:txBody>
      </p:sp>
      <p:sp>
        <p:nvSpPr>
          <p:cNvPr id="6" name="bg_depth_wash"/>
          <p:cNvSpPr/>
          <p:nvPr/>
        </p:nvSpPr>
        <p:spPr>
          <a:xfrm>
            <a:off x="6432000" y="-1080000"/>
            <a:ext cx="7200000" cy="5040000"/>
          </a:xfrm>
          <a:prstGeom prst="ellipse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ard_grid_1"/>
          <p:cNvSpPr/>
          <p:nvPr/>
        </p:nvSpPr>
        <p:spPr>
          <a:xfrm>
            <a:off x="6174000" y="1800000"/>
            <a:ext cx="4986000" cy="20520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6350">
            <a:solidFill>
              <a:srgbClr val="E0E5EC"/>
            </a:solidFill>
          </a:ln>
          <a:effectLst>
            <a:outerShdw blurRad="25400" dist="38100" dir="2700000" rotWithShape="0">
              <a:srgbClr val="000000">
                <a:alpha val="9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ccent_grid_1"/>
          <p:cNvSpPr/>
          <p:nvPr/>
        </p:nvSpPr>
        <p:spPr>
          <a:xfrm>
            <a:off x="6174000" y="1800000"/>
            <a:ext cx="4986000" cy="10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xt_grid_1_icon"/>
          <p:cNvSpPr txBox="1"/>
          <p:nvPr/>
        </p:nvSpPr>
        <p:spPr>
          <a:xfrm>
            <a:off x="6282000" y="2016000"/>
            <a:ext cx="4770000" cy="648000"/>
          </a:xfrm>
          <a:prstGeom prst="rect">
            <a:avLst/>
          </a:prstGeom>
          <a:noFill/>
        </p:spPr>
        <p:txBody>
          <a:bodyPr wrap="none" lIns="90000" rIns="90000" tIns="46800" bIns="46800">
            <a:noAutofit/>
          </a:bodyPr>
          <a:lstStyle/>
          <a:p>
            <a:pPr algn="ctr" rtl="1">
              <a:lnSpc>
                <a:spcPct val="130000"/>
              </a:lnSpc>
            </a:pPr>
            <a:r>
              <a:rPr sz="32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💡</a:t>
            </a:r>
          </a:p>
        </p:txBody>
      </p:sp>
      <p:sp>
        <p:nvSpPr>
          <p:cNvPr id="10" name="txt_grid_1_label"/>
          <p:cNvSpPr txBox="1"/>
          <p:nvPr/>
        </p:nvSpPr>
        <p:spPr>
          <a:xfrm>
            <a:off x="6282000" y="2664000"/>
            <a:ext cx="4770000" cy="432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ctr" rtl="1"/>
            <a:r>
              <a:rPr sz="14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التفكير النقدي</a:t>
            </a:r>
          </a:p>
        </p:txBody>
      </p:sp>
      <p:sp>
        <p:nvSpPr>
          <p:cNvPr id="11" name="txt_grid_1_desc"/>
          <p:cNvSpPr txBox="1"/>
          <p:nvPr/>
        </p:nvSpPr>
        <p:spPr>
          <a:xfrm>
            <a:off x="6282000" y="3096000"/>
            <a:ext cx="4770000" cy="648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ctr" rtl="1"/>
            <a:r>
              <a:rPr sz="1100" b="0" lang="ar-JO">
                <a:solidFill>
                  <a:srgbClr val="6B6B6B"/>
                </a:solidFill>
                <a:cs typeface="Tajawal"/>
                <a:latin typeface="Tajawal"/>
                <a:ea typeface="Tajawal"/>
              </a:rPr>
              <a:t>تحليل المعلومات</a:t>
            </a:r>
          </a:p>
        </p:txBody>
      </p:sp>
      <p:sp>
        <p:nvSpPr>
          <p:cNvPr id="12" name="card_grid_2"/>
          <p:cNvSpPr/>
          <p:nvPr/>
        </p:nvSpPr>
        <p:spPr>
          <a:xfrm>
            <a:off x="900000" y="1800000"/>
            <a:ext cx="4986000" cy="20520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6350">
            <a:solidFill>
              <a:srgbClr val="E0E5EC"/>
            </a:solidFill>
          </a:ln>
          <a:effectLst>
            <a:outerShdw blurRad="25400" dist="38100" dir="2700000" rotWithShape="0">
              <a:srgbClr val="000000">
                <a:alpha val="9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accent_grid_2"/>
          <p:cNvSpPr/>
          <p:nvPr/>
        </p:nvSpPr>
        <p:spPr>
          <a:xfrm>
            <a:off x="900000" y="1800000"/>
            <a:ext cx="4986000" cy="1080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xt_grid_2_icon"/>
          <p:cNvSpPr txBox="1"/>
          <p:nvPr/>
        </p:nvSpPr>
        <p:spPr>
          <a:xfrm>
            <a:off x="1008000" y="2016000"/>
            <a:ext cx="4770000" cy="648000"/>
          </a:xfrm>
          <a:prstGeom prst="rect">
            <a:avLst/>
          </a:prstGeom>
          <a:noFill/>
        </p:spPr>
        <p:txBody>
          <a:bodyPr wrap="none" lIns="90000" rIns="90000" tIns="46800" bIns="46800">
            <a:noAutofit/>
          </a:bodyPr>
          <a:lstStyle/>
          <a:p>
            <a:pPr algn="ctr" rtl="1">
              <a:lnSpc>
                <a:spcPct val="130000"/>
              </a:lnSpc>
            </a:pPr>
            <a:r>
              <a:rPr sz="32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🤝</a:t>
            </a:r>
          </a:p>
        </p:txBody>
      </p:sp>
      <p:sp>
        <p:nvSpPr>
          <p:cNvPr id="15" name="txt_grid_2_label"/>
          <p:cNvSpPr txBox="1"/>
          <p:nvPr/>
        </p:nvSpPr>
        <p:spPr>
          <a:xfrm>
            <a:off x="1008000" y="2664000"/>
            <a:ext cx="4770000" cy="432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ctr" rtl="1"/>
            <a:r>
              <a:rPr sz="14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التعاون</a:t>
            </a:r>
          </a:p>
        </p:txBody>
      </p:sp>
      <p:sp>
        <p:nvSpPr>
          <p:cNvPr id="16" name="txt_grid_2_desc"/>
          <p:cNvSpPr txBox="1"/>
          <p:nvPr/>
        </p:nvSpPr>
        <p:spPr>
          <a:xfrm>
            <a:off x="1008000" y="3096000"/>
            <a:ext cx="4770000" cy="648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ctr" rtl="1"/>
            <a:r>
              <a:rPr sz="1100" b="0" lang="ar-JO">
                <a:solidFill>
                  <a:srgbClr val="6B6B6B"/>
                </a:solidFill>
                <a:cs typeface="Tajawal"/>
                <a:latin typeface="Tajawal"/>
                <a:ea typeface="Tajawal"/>
              </a:rPr>
              <a:t>العمل الجماعي</a:t>
            </a:r>
          </a:p>
        </p:txBody>
      </p:sp>
      <p:sp>
        <p:nvSpPr>
          <p:cNvPr id="17" name="card_grid_3"/>
          <p:cNvSpPr/>
          <p:nvPr/>
        </p:nvSpPr>
        <p:spPr>
          <a:xfrm>
            <a:off x="6174000" y="4068000"/>
            <a:ext cx="4986000" cy="20520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6350">
            <a:solidFill>
              <a:srgbClr val="E0E5EC"/>
            </a:solidFill>
          </a:ln>
          <a:effectLst>
            <a:outerShdw blurRad="25400" dist="38100" dir="2700000" rotWithShape="0">
              <a:srgbClr val="000000">
                <a:alpha val="9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accent_grid_3"/>
          <p:cNvSpPr/>
          <p:nvPr/>
        </p:nvSpPr>
        <p:spPr>
          <a:xfrm>
            <a:off x="6174000" y="4068000"/>
            <a:ext cx="4986000" cy="108000"/>
          </a:xfrm>
          <a:prstGeom prst="rect">
            <a:avLst/>
          </a:prstGeom>
          <a:solidFill>
            <a:srgbClr val="4A7A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xt_grid_3_icon"/>
          <p:cNvSpPr txBox="1"/>
          <p:nvPr/>
        </p:nvSpPr>
        <p:spPr>
          <a:xfrm>
            <a:off x="6282000" y="4284000"/>
            <a:ext cx="4770000" cy="648000"/>
          </a:xfrm>
          <a:prstGeom prst="rect">
            <a:avLst/>
          </a:prstGeom>
          <a:noFill/>
        </p:spPr>
        <p:txBody>
          <a:bodyPr wrap="none" lIns="90000" rIns="90000" tIns="46800" bIns="46800">
            <a:noAutofit/>
          </a:bodyPr>
          <a:lstStyle/>
          <a:p>
            <a:pPr algn="ctr" rtl="1">
              <a:lnSpc>
                <a:spcPct val="130000"/>
              </a:lnSpc>
            </a:pPr>
            <a:r>
              <a:rPr sz="32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💬</a:t>
            </a:r>
          </a:p>
        </p:txBody>
      </p:sp>
      <p:sp>
        <p:nvSpPr>
          <p:cNvPr id="20" name="txt_grid_3_label"/>
          <p:cNvSpPr txBox="1"/>
          <p:nvPr/>
        </p:nvSpPr>
        <p:spPr>
          <a:xfrm>
            <a:off x="6282000" y="4932000"/>
            <a:ext cx="4770000" cy="432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ctr" rtl="1"/>
            <a:r>
              <a:rPr sz="14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التواصل</a:t>
            </a:r>
          </a:p>
        </p:txBody>
      </p:sp>
      <p:sp>
        <p:nvSpPr>
          <p:cNvPr id="21" name="txt_grid_3_desc"/>
          <p:cNvSpPr txBox="1"/>
          <p:nvPr/>
        </p:nvSpPr>
        <p:spPr>
          <a:xfrm>
            <a:off x="6282000" y="5364000"/>
            <a:ext cx="4770000" cy="648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ctr" rtl="1"/>
            <a:r>
              <a:rPr sz="1100" b="0" lang="ar-JO">
                <a:solidFill>
                  <a:srgbClr val="6B6B6B"/>
                </a:solidFill>
                <a:cs typeface="Tajawal"/>
                <a:latin typeface="Tajawal"/>
                <a:ea typeface="Tajawal"/>
              </a:rPr>
              <a:t>التعبير الفعال</a:t>
            </a:r>
          </a:p>
        </p:txBody>
      </p:sp>
      <p:sp>
        <p:nvSpPr>
          <p:cNvPr id="22" name="card_grid_4"/>
          <p:cNvSpPr/>
          <p:nvPr/>
        </p:nvSpPr>
        <p:spPr>
          <a:xfrm>
            <a:off x="900000" y="4068000"/>
            <a:ext cx="4986000" cy="20520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6350">
            <a:solidFill>
              <a:srgbClr val="E0E5EC"/>
            </a:solidFill>
          </a:ln>
          <a:effectLst>
            <a:outerShdw blurRad="25400" dist="38100" dir="2700000" rotWithShape="0">
              <a:srgbClr val="000000">
                <a:alpha val="9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accent_grid_4"/>
          <p:cNvSpPr/>
          <p:nvPr/>
        </p:nvSpPr>
        <p:spPr>
          <a:xfrm>
            <a:off x="900000" y="4068000"/>
            <a:ext cx="4986000" cy="108000"/>
          </a:xfrm>
          <a:prstGeom prst="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xt_grid_4_icon"/>
          <p:cNvSpPr txBox="1"/>
          <p:nvPr/>
        </p:nvSpPr>
        <p:spPr>
          <a:xfrm>
            <a:off x="1008000" y="4284000"/>
            <a:ext cx="4770000" cy="648000"/>
          </a:xfrm>
          <a:prstGeom prst="rect">
            <a:avLst/>
          </a:prstGeom>
          <a:noFill/>
        </p:spPr>
        <p:txBody>
          <a:bodyPr wrap="none" lIns="90000" rIns="90000" tIns="46800" bIns="46800">
            <a:noAutofit/>
          </a:bodyPr>
          <a:lstStyle/>
          <a:p>
            <a:pPr algn="ctr" rtl="1">
              <a:lnSpc>
                <a:spcPct val="130000"/>
              </a:lnSpc>
            </a:pPr>
            <a:r>
              <a:rPr sz="32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🎨</a:t>
            </a:r>
          </a:p>
        </p:txBody>
      </p:sp>
      <p:sp>
        <p:nvSpPr>
          <p:cNvPr id="25" name="txt_grid_4_label"/>
          <p:cNvSpPr txBox="1"/>
          <p:nvPr/>
        </p:nvSpPr>
        <p:spPr>
          <a:xfrm>
            <a:off x="1008000" y="4932000"/>
            <a:ext cx="4770000" cy="432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ctr" rtl="1"/>
            <a:r>
              <a:rPr sz="14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الإبداع</a:t>
            </a:r>
          </a:p>
        </p:txBody>
      </p:sp>
      <p:sp>
        <p:nvSpPr>
          <p:cNvPr id="26" name="txt_grid_4_desc"/>
          <p:cNvSpPr txBox="1"/>
          <p:nvPr/>
        </p:nvSpPr>
        <p:spPr>
          <a:xfrm>
            <a:off x="1008000" y="5364000"/>
            <a:ext cx="4770000" cy="648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ctr" rtl="1"/>
            <a:r>
              <a:rPr sz="1100" b="0" lang="ar-JO">
                <a:solidFill>
                  <a:srgbClr val="6B6B6B"/>
                </a:solidFill>
                <a:cs typeface="Tajawal"/>
                <a:latin typeface="Tajawal"/>
                <a:ea typeface="Tajawal"/>
              </a:rPr>
              <a:t>حل المشكلات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دورة التعلم المستمر</a:t>
            </a:r>
          </a:p>
        </p:txBody>
      </p:sp>
      <p:sp>
        <p:nvSpPr>
          <p:cNvPr id="3" name="header_title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اختبار القواعد البصرية: 8 أنماط بصرية</a:t>
            </a:r>
          </a:p>
        </p:txBody>
      </p:sp>
      <p:pic>
        <p:nvPicPr>
          <p:cNvPr id="4" name="header_banner" descr="banner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4635" y="860142"/>
            <a:ext cx="4422731" cy="695099"/>
          </a:xfrm>
          <a:prstGeom prst="rect">
            <a:avLst/>
          </a:prstGeom>
        </p:spPr>
      </p:pic>
      <p:sp>
        <p:nvSpPr>
          <p:cNvPr id="5" name="header_banner_text"/>
          <p:cNvSpPr txBox="1"/>
          <p:nvPr/>
        </p:nvSpPr>
        <p:spPr>
          <a:xfrm>
            <a:off x="3818244" y="977750"/>
            <a:ext cx="4555512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0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دورة التعلم المستمر</a:t>
            </a:r>
          </a:p>
        </p:txBody>
      </p:sp>
      <p:sp>
        <p:nvSpPr>
          <p:cNvPr id="6" name="bg_depth_wash"/>
          <p:cNvSpPr/>
          <p:nvPr/>
        </p:nvSpPr>
        <p:spPr>
          <a:xfrm>
            <a:off x="6432000" y="-1080000"/>
            <a:ext cx="7200000" cy="5040000"/>
          </a:xfrm>
          <a:prstGeom prst="ellipse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tage_1"/>
          <p:cNvSpPr/>
          <p:nvPr/>
        </p:nvSpPr>
        <p:spPr>
          <a:xfrm>
            <a:off x="5196000" y="1170000"/>
            <a:ext cx="1800000" cy="900000"/>
          </a:xfrm>
          <a:prstGeom prst="roundRect">
            <a:avLst>
              <a:gd name="adj" fmla="val 6000"/>
            </a:avLst>
          </a:prstGeom>
          <a:solidFill>
            <a:srgbClr val="156082"/>
          </a:solidFill>
          <a:ln>
            <a:noFill/>
          </a:ln>
          <a:effectLst>
            <a:outerShdw blurRad="50800" dist="38100" dir="2700000" rotWithShape="0">
              <a:srgbClr val="000000">
                <a:alpha val="8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xt_stage_1"/>
          <p:cNvSpPr txBox="1"/>
          <p:nvPr/>
        </p:nvSpPr>
        <p:spPr>
          <a:xfrm>
            <a:off x="5304000" y="1242000"/>
            <a:ext cx="1584000" cy="432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ctr" rtl="1"/>
            <a:r>
              <a:rPr sz="14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تخطيط</a:t>
            </a:r>
          </a:p>
        </p:txBody>
      </p:sp>
      <p:sp>
        <p:nvSpPr>
          <p:cNvPr id="9" name="txt_stage_1_desc"/>
          <p:cNvSpPr txBox="1"/>
          <p:nvPr/>
        </p:nvSpPr>
        <p:spPr>
          <a:xfrm>
            <a:off x="5304000" y="1638000"/>
            <a:ext cx="1584000" cy="36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ctr" rtl="1"/>
            <a:r>
              <a:rPr sz="10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تحديد الأهداف</a:t>
            </a:r>
          </a:p>
        </p:txBody>
      </p:sp>
      <p:sp>
        <p:nvSpPr>
          <p:cNvPr id="10" name="arrow_1_2"/>
          <p:cNvSpPr/>
          <p:nvPr/>
        </p:nvSpPr>
        <p:spPr>
          <a:xfrm rot="2699999">
            <a:off x="6906000" y="2429999"/>
            <a:ext cx="360000" cy="216000"/>
          </a:xfrm>
          <a:prstGeom prst="notchedRightArrow">
            <a:avLst/>
          </a:prstGeom>
          <a:solidFill>
            <a:srgbClr val="4A7A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tage_2"/>
          <p:cNvSpPr/>
          <p:nvPr/>
        </p:nvSpPr>
        <p:spPr>
          <a:xfrm>
            <a:off x="7176000" y="3149999"/>
            <a:ext cx="1800000" cy="900000"/>
          </a:xfrm>
          <a:prstGeom prst="roundRect">
            <a:avLst>
              <a:gd name="adj" fmla="val 6000"/>
            </a:avLst>
          </a:prstGeom>
          <a:solidFill>
            <a:srgbClr val="009688"/>
          </a:solidFill>
          <a:ln>
            <a:noFill/>
          </a:ln>
          <a:effectLst>
            <a:outerShdw blurRad="50800" dist="38100" dir="2700000" rotWithShape="0">
              <a:srgbClr val="000000">
                <a:alpha val="8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xt_stage_2"/>
          <p:cNvSpPr txBox="1"/>
          <p:nvPr/>
        </p:nvSpPr>
        <p:spPr>
          <a:xfrm>
            <a:off x="7284000" y="3221999"/>
            <a:ext cx="1584000" cy="432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ctr" rtl="1"/>
            <a:r>
              <a:rPr sz="14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تنفيذ</a:t>
            </a:r>
          </a:p>
        </p:txBody>
      </p:sp>
      <p:sp>
        <p:nvSpPr>
          <p:cNvPr id="13" name="txt_stage_2_desc"/>
          <p:cNvSpPr txBox="1"/>
          <p:nvPr/>
        </p:nvSpPr>
        <p:spPr>
          <a:xfrm>
            <a:off x="7284000" y="3617999"/>
            <a:ext cx="1584000" cy="36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ctr" rtl="1"/>
            <a:r>
              <a:rPr sz="10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تطبيق الخطة</a:t>
            </a:r>
          </a:p>
        </p:txBody>
      </p:sp>
      <p:sp>
        <p:nvSpPr>
          <p:cNvPr id="14" name="arrow_2_3"/>
          <p:cNvSpPr/>
          <p:nvPr/>
        </p:nvSpPr>
        <p:spPr>
          <a:xfrm rot="8099999">
            <a:off x="6906000" y="4409999"/>
            <a:ext cx="360000" cy="216000"/>
          </a:xfrm>
          <a:prstGeom prst="notchedRightArrow">
            <a:avLst/>
          </a:prstGeom>
          <a:solidFill>
            <a:srgbClr val="4A7A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ge_3"/>
          <p:cNvSpPr/>
          <p:nvPr/>
        </p:nvSpPr>
        <p:spPr>
          <a:xfrm>
            <a:off x="5196000" y="5130000"/>
            <a:ext cx="1800000" cy="900000"/>
          </a:xfrm>
          <a:prstGeom prst="roundRect">
            <a:avLst>
              <a:gd name="adj" fmla="val 6000"/>
            </a:avLst>
          </a:prstGeom>
          <a:solidFill>
            <a:srgbClr val="FF9800"/>
          </a:solidFill>
          <a:ln>
            <a:noFill/>
          </a:ln>
          <a:effectLst>
            <a:outerShdw blurRad="50800" dist="38100" dir="2700000" rotWithShape="0">
              <a:srgbClr val="000000">
                <a:alpha val="8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xt_stage_3"/>
          <p:cNvSpPr txBox="1"/>
          <p:nvPr/>
        </p:nvSpPr>
        <p:spPr>
          <a:xfrm>
            <a:off x="5304000" y="5202000"/>
            <a:ext cx="1584000" cy="432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ctr" rtl="1"/>
            <a:r>
              <a:rPr sz="14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تقييم</a:t>
            </a:r>
          </a:p>
        </p:txBody>
      </p:sp>
      <p:sp>
        <p:nvSpPr>
          <p:cNvPr id="17" name="txt_stage_3_desc"/>
          <p:cNvSpPr txBox="1"/>
          <p:nvPr/>
        </p:nvSpPr>
        <p:spPr>
          <a:xfrm>
            <a:off x="5304000" y="5598000"/>
            <a:ext cx="1584000" cy="36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ctr" rtl="1"/>
            <a:r>
              <a:rPr sz="10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قياس النتائج</a:t>
            </a:r>
          </a:p>
        </p:txBody>
      </p:sp>
      <p:sp>
        <p:nvSpPr>
          <p:cNvPr id="18" name="arrow_3_4"/>
          <p:cNvSpPr/>
          <p:nvPr/>
        </p:nvSpPr>
        <p:spPr>
          <a:xfrm rot="13500000">
            <a:off x="4926000" y="4410000"/>
            <a:ext cx="360000" cy="216000"/>
          </a:xfrm>
          <a:prstGeom prst="notchedRightArrow">
            <a:avLst/>
          </a:prstGeom>
          <a:solidFill>
            <a:srgbClr val="4A7A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ge_4"/>
          <p:cNvSpPr/>
          <p:nvPr/>
        </p:nvSpPr>
        <p:spPr>
          <a:xfrm>
            <a:off x="3216000" y="3150000"/>
            <a:ext cx="1800000" cy="900000"/>
          </a:xfrm>
          <a:prstGeom prst="roundRect">
            <a:avLst>
              <a:gd name="adj" fmla="val 6000"/>
            </a:avLst>
          </a:prstGeom>
          <a:solidFill>
            <a:srgbClr val="4A7AAE"/>
          </a:solidFill>
          <a:ln>
            <a:noFill/>
          </a:ln>
          <a:effectLst>
            <a:outerShdw blurRad="50800" dist="38100" dir="2700000" rotWithShape="0">
              <a:srgbClr val="000000">
                <a:alpha val="8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xt_stage_4"/>
          <p:cNvSpPr txBox="1"/>
          <p:nvPr/>
        </p:nvSpPr>
        <p:spPr>
          <a:xfrm>
            <a:off x="3324000" y="3222000"/>
            <a:ext cx="1584000" cy="432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ctr" rtl="1"/>
            <a:r>
              <a:rPr sz="14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تحسين</a:t>
            </a:r>
          </a:p>
        </p:txBody>
      </p:sp>
      <p:sp>
        <p:nvSpPr>
          <p:cNvPr id="21" name="txt_stage_4_desc"/>
          <p:cNvSpPr txBox="1"/>
          <p:nvPr/>
        </p:nvSpPr>
        <p:spPr>
          <a:xfrm>
            <a:off x="3324000" y="3618000"/>
            <a:ext cx="1584000" cy="36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ctr" rtl="1"/>
            <a:r>
              <a:rPr sz="10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تطوير الأداء</a:t>
            </a:r>
          </a:p>
        </p:txBody>
      </p:sp>
      <p:sp>
        <p:nvSpPr>
          <p:cNvPr id="22" name="arrow_4_1"/>
          <p:cNvSpPr/>
          <p:nvPr/>
        </p:nvSpPr>
        <p:spPr>
          <a:xfrm rot="18900000">
            <a:off x="4926000" y="2430000"/>
            <a:ext cx="360000" cy="216000"/>
          </a:xfrm>
          <a:prstGeom prst="notchedRightArrow">
            <a:avLst/>
          </a:prstGeom>
          <a:solidFill>
            <a:srgbClr val="4A7A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اختبار الموجه</a:t>
            </a:r>
          </a:p>
        </p:txBody>
      </p:sp>
      <p:sp>
        <p:nvSpPr>
          <p:cNvPr id="3" name="header_title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اختبار القواعد البصرية: 8 أنماط بصرية</a:t>
            </a:r>
          </a:p>
        </p:txBody>
      </p:sp>
      <p:pic>
        <p:nvPicPr>
          <p:cNvPr id="4" name="header_banner" descr="banner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4635" y="860142"/>
            <a:ext cx="4422731" cy="695099"/>
          </a:xfrm>
          <a:prstGeom prst="rect">
            <a:avLst/>
          </a:prstGeom>
        </p:spPr>
      </p:pic>
      <p:sp>
        <p:nvSpPr>
          <p:cNvPr id="5" name="header_banner_text"/>
          <p:cNvSpPr txBox="1"/>
          <p:nvPr/>
        </p:nvSpPr>
        <p:spPr>
          <a:xfrm>
            <a:off x="3818244" y="977750"/>
            <a:ext cx="4555512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0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اختبار الموجه</a:t>
            </a:r>
          </a:p>
        </p:txBody>
      </p:sp>
      <p:sp>
        <p:nvSpPr>
          <p:cNvPr id="6" name="bg_depth_wash"/>
          <p:cNvSpPr/>
          <p:nvPr/>
        </p:nvSpPr>
        <p:spPr>
          <a:xfrm>
            <a:off x="6432000" y="-1080000"/>
            <a:ext cx="7200000" cy="5040000"/>
          </a:xfrm>
          <a:prstGeom prst="ellipse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ard_stat_1"/>
          <p:cNvSpPr/>
          <p:nvPr/>
        </p:nvSpPr>
        <p:spPr>
          <a:xfrm>
            <a:off x="900000" y="1980000"/>
            <a:ext cx="10260000" cy="306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5EC"/>
            </a:solidFill>
          </a:ln>
          <a:effectLst>
            <a:outerShdw blurRad="38100" dist="38100" dir="27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ccent_stat_1"/>
          <p:cNvSpPr/>
          <p:nvPr/>
        </p:nvSpPr>
        <p:spPr>
          <a:xfrm>
            <a:off x="900000" y="1980000"/>
            <a:ext cx="10260000" cy="180000"/>
          </a:xfrm>
          <a:prstGeom prst="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xt_stat_1_number"/>
          <p:cNvSpPr txBox="1"/>
          <p:nvPr/>
        </p:nvSpPr>
        <p:spPr>
          <a:xfrm>
            <a:off x="1080000" y="2448000"/>
            <a:ext cx="9900000" cy="900000"/>
          </a:xfrm>
          <a:prstGeom prst="rect">
            <a:avLst/>
          </a:prstGeom>
          <a:noFill/>
        </p:spPr>
        <p:txBody>
          <a:bodyPr wrap="none" lIns="90000" rIns="90000" tIns="46800" bIns="46800">
            <a:noAutofit/>
          </a:bodyPr>
          <a:lstStyle/>
          <a:p>
            <a:pPr algn="ctr" rtl="1">
              <a:lnSpc>
                <a:spcPct val="110000"/>
              </a:lnSpc>
            </a:pPr>
            <a:r>
              <a:rPr sz="56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100%</a:t>
            </a:r>
          </a:p>
        </p:txBody>
      </p:sp>
      <p:sp>
        <p:nvSpPr>
          <p:cNvPr id="10" name="txt_stat_1_label"/>
          <p:cNvSpPr txBox="1"/>
          <p:nvPr/>
        </p:nvSpPr>
        <p:spPr>
          <a:xfrm>
            <a:off x="1008000" y="3780000"/>
            <a:ext cx="10044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ctr" rtl="1"/>
            <a:r>
              <a:rPr sz="1600" b="0" lang="ar-JO">
                <a:solidFill>
                  <a:srgbClr val="333333"/>
                </a:solidFill>
                <a:cs typeface="Tajawal Medium"/>
                <a:latin typeface="Tajawal Medium"/>
                <a:ea typeface="Tajawal Medium"/>
              </a:rPr>
              <a:t>نجاح الاختبار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شكراً لكم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g_card"/>
          <p:cNvSpPr/>
          <p:nvPr/>
        </p:nvSpPr>
        <p:spPr>
          <a:xfrm>
            <a:off x="1080000" y="1080000"/>
            <a:ext cx="10032000" cy="4698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o_corner_tr_h"/>
          <p:cNvSpPr/>
          <p:nvPr/>
        </p:nvSpPr>
        <p:spPr>
          <a:xfrm>
            <a:off x="10032000" y="900000"/>
            <a:ext cx="1080000" cy="25400"/>
          </a:xfrm>
          <a:prstGeom prst="rect">
            <a:avLst/>
          </a:prstGeom>
          <a:solidFill>
            <a:srgbClr val="4A7A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eco_corner_tr_v"/>
          <p:cNvSpPr/>
          <p:nvPr/>
        </p:nvSpPr>
        <p:spPr>
          <a:xfrm>
            <a:off x="11112000" y="900000"/>
            <a:ext cx="25400" cy="1080000"/>
          </a:xfrm>
          <a:prstGeom prst="rect">
            <a:avLst/>
          </a:prstGeom>
          <a:solidFill>
            <a:srgbClr val="4A7A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eco_corner_tr_dot"/>
          <p:cNvSpPr/>
          <p:nvPr/>
        </p:nvSpPr>
        <p:spPr>
          <a:xfrm>
            <a:off x="11040000" y="828000"/>
            <a:ext cx="144000" cy="144000"/>
          </a:xfrm>
          <a:prstGeom prst="ellipse">
            <a:avLst/>
          </a:prstGeom>
          <a:solidFill>
            <a:srgbClr val="4A7A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xt_thanks"/>
          <p:cNvSpPr txBox="1"/>
          <p:nvPr/>
        </p:nvSpPr>
        <p:spPr>
          <a:xfrm>
            <a:off x="1800000" y="1800000"/>
            <a:ext cx="8640000" cy="90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36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شكراً لكم</a:t>
            </a:r>
          </a:p>
        </p:txBody>
      </p:sp>
      <p:sp>
        <p:nvSpPr>
          <p:cNvPr id="9" name="accent_steps_line"/>
          <p:cNvSpPr/>
          <p:nvPr/>
        </p:nvSpPr>
        <p:spPr>
          <a:xfrm>
            <a:off x="3600000" y="2700000"/>
            <a:ext cx="5040000" cy="36000"/>
          </a:xfrm>
          <a:prstGeom prst="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xt_next_steps_label"/>
          <p:cNvSpPr txBox="1"/>
          <p:nvPr/>
        </p:nvSpPr>
        <p:spPr>
          <a:xfrm>
            <a:off x="1800000" y="2880000"/>
            <a:ext cx="8640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0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الخطوات القادمة:</a:t>
            </a:r>
          </a:p>
        </p:txBody>
      </p:sp>
      <p:sp>
        <p:nvSpPr>
          <p:cNvPr id="11" name="num_step_1"/>
          <p:cNvSpPr/>
          <p:nvPr/>
        </p:nvSpPr>
        <p:spPr>
          <a:xfrm>
            <a:off x="8640000" y="3600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1</a:t>
            </a:r>
          </a:p>
        </p:txBody>
      </p:sp>
      <p:sp>
        <p:nvSpPr>
          <p:cNvPr id="12" name="txt_step_1"/>
          <p:cNvSpPr txBox="1"/>
          <p:nvPr/>
        </p:nvSpPr>
        <p:spPr>
          <a:xfrm>
            <a:off x="2160000" y="3600000"/>
            <a:ext cx="6120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الجلسة القادمة: التفاعلات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2025-11-02T06:11:04Z</dcterms:created>
  <dc:creator>hadeel alserhan</dc:creator>
</cp:coreProperties>
</file>